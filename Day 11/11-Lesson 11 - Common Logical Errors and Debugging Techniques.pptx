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notesSlides/notesSlide42.xml" ContentType="application/vnd.openxmlformats-officedocument.presentationml.notesSlide+xml"/>
  <Override PartName="/ppt/ink/ink15.xml" ContentType="application/inkml+xml"/>
  <Override PartName="/ppt/ink/ink16.xml" ContentType="application/inkml+xml"/>
  <Override PartName="/ppt/ink/ink17.xml" ContentType="application/inkml+xml"/>
  <Override PartName="/ppt/ink/ink18.xml" ContentType="application/inkml+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5"/>
  </p:sldMasterIdLst>
  <p:notesMasterIdLst>
    <p:notesMasterId r:id="rId53"/>
  </p:notesMasterIdLst>
  <p:handoutMasterIdLst>
    <p:handoutMasterId r:id="rId54"/>
  </p:handoutMasterIdLst>
  <p:sldIdLst>
    <p:sldId id="271" r:id="rId6"/>
    <p:sldId id="364" r:id="rId7"/>
    <p:sldId id="339" r:id="rId8"/>
    <p:sldId id="436" r:id="rId9"/>
    <p:sldId id="431" r:id="rId10"/>
    <p:sldId id="479" r:id="rId11"/>
    <p:sldId id="432" r:id="rId12"/>
    <p:sldId id="480" r:id="rId13"/>
    <p:sldId id="482" r:id="rId14"/>
    <p:sldId id="483" r:id="rId15"/>
    <p:sldId id="484" r:id="rId16"/>
    <p:sldId id="485" r:id="rId17"/>
    <p:sldId id="486" r:id="rId18"/>
    <p:sldId id="434" r:id="rId19"/>
    <p:sldId id="487" r:id="rId20"/>
    <p:sldId id="435" r:id="rId21"/>
    <p:sldId id="365" r:id="rId22"/>
    <p:sldId id="488" r:id="rId23"/>
    <p:sldId id="437" r:id="rId24"/>
    <p:sldId id="505" r:id="rId25"/>
    <p:sldId id="490" r:id="rId26"/>
    <p:sldId id="438" r:id="rId27"/>
    <p:sldId id="489" r:id="rId28"/>
    <p:sldId id="491" r:id="rId29"/>
    <p:sldId id="492" r:id="rId30"/>
    <p:sldId id="506" r:id="rId31"/>
    <p:sldId id="493" r:id="rId32"/>
    <p:sldId id="494" r:id="rId33"/>
    <p:sldId id="439" r:id="rId34"/>
    <p:sldId id="495" r:id="rId35"/>
    <p:sldId id="499" r:id="rId36"/>
    <p:sldId id="496" r:id="rId37"/>
    <p:sldId id="500" r:id="rId38"/>
    <p:sldId id="497" r:id="rId39"/>
    <p:sldId id="498" r:id="rId40"/>
    <p:sldId id="501" r:id="rId41"/>
    <p:sldId id="502" r:id="rId42"/>
    <p:sldId id="503" r:id="rId43"/>
    <p:sldId id="507" r:id="rId44"/>
    <p:sldId id="504" r:id="rId45"/>
    <p:sldId id="508" r:id="rId46"/>
    <p:sldId id="509" r:id="rId47"/>
    <p:sldId id="510" r:id="rId48"/>
    <p:sldId id="512" r:id="rId49"/>
    <p:sldId id="511" r:id="rId50"/>
    <p:sldId id="363" r:id="rId51"/>
    <p:sldId id="517" r:id="rId52"/>
  </p:sldIdLst>
  <p:sldSz cx="24382413"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05B4F4-265D-C447-96A9-D3B3E44CB2E1}" v="3" dt="2026-02-10T14:32:31.3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autoAdjust="0"/>
    <p:restoredTop sz="47740" autoAdjust="0"/>
  </p:normalViewPr>
  <p:slideViewPr>
    <p:cSldViewPr snapToGrid="0" snapToObjects="1" showGuides="1">
      <p:cViewPr varScale="1">
        <p:scale>
          <a:sx n="28" d="100"/>
          <a:sy n="28" d="100"/>
        </p:scale>
        <p:origin x="2248" y="192"/>
      </p:cViewPr>
      <p:guideLst>
        <p:guide orient="horz" pos="4320"/>
        <p:guide pos="7680"/>
      </p:guideLst>
    </p:cSldViewPr>
  </p:slideViewPr>
  <p:notesTextViewPr>
    <p:cViewPr>
      <p:scale>
        <a:sx n="1" d="1"/>
        <a:sy n="1" d="1"/>
      </p:scale>
      <p:origin x="0" y="0"/>
    </p:cViewPr>
  </p:notesTextViewPr>
  <p:notesViewPr>
    <p:cSldViewPr snapToGrid="0" snapToObjects="1" showGuides="1">
      <p:cViewPr varScale="1">
        <p:scale>
          <a:sx n="97" d="100"/>
          <a:sy n="97" d="100"/>
        </p:scale>
        <p:origin x="3120"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Master" Target="slideMasters/slideMaster1.xml"/><Relationship Id="rId19"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microsoft.com/office/2015/10/relationships/revisionInfo" Target="revisionInfo.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theme" Target="theme/theme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B3F030-25FA-A543-BFBF-761F02F6E6F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DD2FF95-1FB2-5A4B-9A6E-D20FD3F8895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0D85D7A-CA92-5443-B821-58789E6DAB76}" type="datetimeFigureOut">
              <a:rPr lang="en-US" smtClean="0"/>
              <a:t>5/12/26</a:t>
            </a:fld>
            <a:endParaRPr lang="en-US"/>
          </a:p>
        </p:txBody>
      </p:sp>
      <p:sp>
        <p:nvSpPr>
          <p:cNvPr id="4" name="Footer Placeholder 3">
            <a:extLst>
              <a:ext uri="{FF2B5EF4-FFF2-40B4-BE49-F238E27FC236}">
                <a16:creationId xmlns:a16="http://schemas.microsoft.com/office/drawing/2014/main" id="{E2E767D0-AB74-6C43-A583-F67E29C6873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C3F816A-9129-4E41-8433-93B18C20AF6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8C43503-5B3B-BC4A-B035-E280D65815FD}" type="slidenum">
              <a:rPr lang="en-US" smtClean="0"/>
              <a:t>‹#›</a:t>
            </a:fld>
            <a:endParaRPr lang="en-US"/>
          </a:p>
        </p:txBody>
      </p:sp>
    </p:spTree>
    <p:extLst>
      <p:ext uri="{BB962C8B-B14F-4D97-AF65-F5344CB8AC3E}">
        <p14:creationId xmlns:p14="http://schemas.microsoft.com/office/powerpoint/2010/main" val="232954098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26T14:36:14.17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56,'1115'0,"-1081"-2,-1-2,1-1,36-10,-31 6,70-7,388 12,-255 7,923-3,-1132 2,1 1,-1 2,38 11,-32-7,69 7,355-13,-239-5,-179 4,-1 3,68 15,-59-10,63 6,418-12,-274-7,56 3,-271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26T14:36:15.92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56,'3126'0,"-3093"-2,1-2,-1-1,38-10,-32 6,69-7,390 12,-256 7,658-3,-870 2,-1 1,1 2,56 16,-84-21,34 10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26T14:36:18.26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0 216,'585'0,"-547"-3,0-1,0-2,56-16,-33 7,11-7,20-3,35-1,-68 13,115-11,-131 19,74-16,-73 11,71-6,416 13,-269 6,1326-3,-1554 2,-1 1,0 2,38 11,-32-7,69 7,-57-10,94 24,-74-14,8 9,-46-13</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26T14:36:21.68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2,'14'0,"20"-1,1 1,-1 3,0 0,53 13,81 36,-143-44,1-1,48 6,-55-11,-1 0,1 2,-1 0,0 1,-1 1,1 0,25 15,-24-11,0 0,1-2,0 0,0-1,1-1,-1 0,2-2,35 3,18-4,87-7,-45 0,572 4,-655-2,-1-2,0-1,38-10,-32 6,69-7,41 15,17-2,-138 0,0-3,31-8,-30 6,46-7,216 8,-219 8,-26-1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26T14:36:23.15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3,'136'-2,"150"5,-248 3,1 2,-1 2,68 26,5 1,-55-20,0-3,1-2,1-2,74 2,-94-10,1 3,52 12,-47-8,64 6,286-12,-207-5,-153 0,-1-2,1-1,36-10,-31 6,69-7,389 12,-254 7,-196-2,54-1,-94-1,-1 0,1 0,0 0,-1-1,1 0,-1 0,1-1,-1 0,0 0,0 0,8-7,9-13</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26T14:36:24.41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57,'99'-2,"115"5,-183 2,55 14,-53-11,42 6,71-5,149-10,-106-2,-166 3,11 1,1-2,-1-1,0-1,50-13,-35 6,1 2,-1 2,1 2,70 3,57-4,-149 2,0-3,31-8,-29 6,44-7,215 8,-214 8,-42 1,0 2,0 1,38 11,-33-7,73 9,97-15,-163-4</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26T14:36:27.08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1193 6,'1'1,"-1"1,0 0,1-1,0 1,-1 0,1-1,0 1,-1-1,1 0,0 1,0-1,0 0,0 1,1-1,-1 0,0 0,1 0,-1 0,0 0,1 0,-1 0,3 0,44 18,-24-10,47 29,-56-29,1 0,0-1,0 0,1-1,0-1,0-1,24 4,51-1,-57-6,-1 1,45 10,-27-2,2-2,90 4,113-14,-106-2,-13 5,146-6,-276 3,1 0,-1-1,0-1,0 1,0-1,13-7,-18 8,1 1,-1-1,1 0,-1-1,0 1,0-1,0 1,0-1,-1 0,1 0,-1 0,1 0,-1-1,0 1,3-7,-5 9,0 0,0 0,0 0,0 0,-1 0,1 0,0 0,0 0,0 0,-1 0,1 0,0 1,-1-1,1 0,-1 0,1 0,-1 0,0 1,1-1,-1 0,0 1,1-1,-1 0,0 1,0-1,-1 0,-28-14,20 10,-20-7,-1 1,-35-9,-9-2,43 13,-1 0,-1 3,1 0,-47-1,-140 9,97 1,-2-4,-120 4,217 2,-1 0,-27 9,27-5,-47 6,-21-9,-135-8,-67 4,289 0,0 0,0 1,0 0,0 0,1 1,0 0,0 1,0 0,-15 11,-8 9,-31 31,44-38,8-9,-9 10,0-2,-25 17,36-28,-1-1,0 0,0-1,0 0,0-1,0 0,-1 0,-15 1,-20 0,-92-6,101-1,1 2,-1 1,0 2,-44 9,73-10,1 1,-1 0,1 1,0 0,0 0,-11 7,16-9,0 1,0 0,0-1,0 1,0 0,0 0,1 0,-1 0,1 1,-1-1,1 0,0 1,0-1,0 0,0 1,0 0,0-1,1 1,0-1,-1 1,1 0,0 2,3 21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26T14:36:14.17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56,'1115'0,"-1081"-2,-1-2,1-1,36-10,-31 6,70-7,388 12,-255 7,923-3,-1132 2,1 1,-1 2,38 11,-32-7,69 7,355-13,-239-5,-179 4,-1 3,68 15,-59-10,63 6,418-12,-274-7,56 3,-271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26T14:36:15.92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56,'3126'0,"-3093"-2,1-2,-1-1,38-10,-32 6,69-7,390 12,-256 7,658-3,-870 2,-1 1,1 2,56 16,-84-21,34 10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26T14:36:18.26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0 216,'585'0,"-547"-3,0-1,0-2,56-16,-33 7,11-7,20-3,35-1,-68 13,115-11,-131 19,74-16,-73 11,71-6,416 13,-269 6,1326-3,-1554 2,-1 1,0 2,38 11,-32-7,69 7,-57-10,94 24,-74-14,8 9,-46-13</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26T14:36:21.68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2,'14'0,"20"-1,1 1,-1 3,0 0,53 13,81 36,-143-44,1-1,48 6,-55-11,-1 0,1 2,-1 0,0 1,-1 1,1 0,25 15,-24-11,0 0,1-2,0 0,0-1,1-1,-1 0,2-2,35 3,18-4,87-7,-45 0,572 4,-655-2,-1-2,0-1,38-10,-32 6,69-7,41 15,17-2,-138 0,0-3,31-8,-30 6,46-7,216 8,-219 8,-26-1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26T14:36:23.15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3,'136'-2,"150"5,-248 3,1 2,-1 2,68 26,5 1,-55-20,0-3,1-2,1-2,74 2,-94-10,1 3,52 12,-47-8,64 6,286-12,-207-5,-153 0,-1-2,1-1,36-10,-31 6,69-7,389 12,-254 7,-196-2,54-1,-94-1,-1 0,1 0,0 0,-1-1,1 0,-1 0,1-1,-1 0,0 0,0 0,8-7,9-13</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26T14:36:24.41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57,'99'-2,"115"5,-183 2,55 14,-53-11,42 6,71-5,149-10,-106-2,-166 3,11 1,1-2,-1-1,0-1,50-13,-35 6,1 2,-1 2,1 2,70 3,57-4,-149 2,0-3,31-8,-29 6,44-7,215 8,-214 8,-42 1,0 2,0 1,38 11,-33-7,73 9,97-15,-163-4</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26T14:36:27.08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1193 6,'1'1,"-1"1,0 0,1-1,0 1,-1 0,1-1,0 1,-1-1,1 0,0 1,0-1,0 0,0 1,1-1,-1 0,0 0,1 0,-1 0,0 0,1 0,-1 0,3 0,44 18,-24-10,47 29,-56-29,1 0,0-1,0 0,1-1,0-1,0-1,24 4,51-1,-57-6,-1 1,45 10,-27-2,2-2,90 4,113-14,-106-2,-13 5,146-6,-276 3,1 0,-1-1,0-1,0 1,0-1,13-7,-18 8,1 1,-1-1,1 0,-1-1,0 1,0-1,0 1,0-1,-1 0,1 0,-1 0,1 0,-1-1,0 1,3-7,-5 9,0 0,0 0,0 0,0 0,-1 0,1 0,0 0,0 0,0 0,-1 0,1 0,0 1,-1-1,1 0,-1 0,1 0,-1 0,0 1,1-1,-1 0,0 1,1-1,-1 0,0 1,0-1,-1 0,-28-14,20 10,-20-7,-1 1,-35-9,-9-2,43 13,-1 0,-1 3,1 0,-47-1,-140 9,97 1,-2-4,-120 4,217 2,-1 0,-27 9,27-5,-47 6,-21-9,-135-8,-67 4,289 0,0 0,0 1,0 0,0 0,1 1,0 0,0 1,0 0,-15 11,-8 9,-31 31,44-38,8-9,-9 10,0-2,-25 17,36-28,-1-1,0 0,0-1,0 0,0-1,0 0,-1 0,-15 1,-20 0,-92-6,101-1,1 2,-1 1,0 2,-44 9,73-10,1 1,-1 0,1 1,0 0,0 0,-11 7,16-9,0 1,0 0,0-1,0 1,0 0,0 0,1 0,-1 0,1 1,-1-1,1 0,0 1,0-1,0 0,0 1,0 0,0-1,1 1,0-1,-1 1,1 0,0 2,3 21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26T15:38:08.64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58,'153'-3,"171"7,-294 0,55 15,-54-10,44 5,68-5,154-10,-108-2,711 3,-866-2,-1-2,0-1,38-10,-32 6,69-7,390 12,-256 7,445-3,-654-2,-1-2,1 0,41-13,-36 8,71-8,368 13,-246 7,110-3,-307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26T15:38:11.22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2,'45'0,"-6"-2,-1 3,0 1,1 1,56 14,-47-7,0-1,1-3,76-1,0 1,-95-2,55 15,20 2,-2-15,-68-5,0 1,-1 1,49 12,-35-3,0-3,1-2,56 1,151-9,-105-2,-102 2,-12 0,1 1,-1 2,0 1,62 14,-52-7,0-1,1-4,0-1,54-2,47 3,-119-1,55 14,20 4,-78-19,11 0,0 2,42 12,-39-7,0-3,82 5,-44-6,-46-2,46 14,-47-10,44 5,53-7,-93-7,0 2,-1 2,1 1,36 10,-25-3,0-2,0-3,95 2,-97-8</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26T15:38:13.61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5,'1'1,"-1"1,0 0,1-1,-1 1,1-1,0 1,-1-1,1 1,0-1,0 1,0-1,0 0,0 0,0 1,0-1,1 0,-1 0,0 0,0 0,1 0,-1-1,1 1,-1 0,1-1,-1 1,3 0,50 12,-35-10,56 18,-44-11,0-2,50 7,204-9,-201-7,-51-2,0 0,0-2,38-11,-34 6,75-7,40 14,-96 4,-1-3,104-16,-80 4,1 3,80 0,165 13,-122 1,-86-5,135 5,-213 3,64 17,-27-5,14 2,110 18,-197-37,-5-1,-15-1,-27-7,13-4</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26T15:38:14.85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1,'27'2,"-1"1,1 2,-1 1,26 9,-6-3,-9 0,66 29,-77-29,1 0,-1-2,2-2,53 11,66 6,-81-13,88 6,447-15,-298-6,999 3,-1279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A1C7B9-A579-490D-96A9-04D5B7898F72}" type="datetimeFigureOut">
              <a:rPr lang="en-CA" smtClean="0"/>
              <a:t>2026-05-12</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E641A9-FDE3-4583-B812-65C4064188F6}" type="slidenum">
              <a:rPr lang="en-CA" smtClean="0"/>
              <a:t>‹#›</a:t>
            </a:fld>
            <a:endParaRPr lang="en-CA"/>
          </a:p>
        </p:txBody>
      </p:sp>
    </p:spTree>
    <p:extLst>
      <p:ext uri="{BB962C8B-B14F-4D97-AF65-F5344CB8AC3E}">
        <p14:creationId xmlns:p14="http://schemas.microsoft.com/office/powerpoint/2010/main" val="4123227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class, we looked at mathematical and comparison operators and translating flowcharts to pseudocode.</a:t>
            </a:r>
          </a:p>
          <a:p>
            <a:r>
              <a:rPr lang="en-US" dirty="0"/>
              <a:t>We also looked at nested constructs and identified structural relationships between flowcharts and pseudocode.</a:t>
            </a:r>
          </a:p>
          <a:p>
            <a:endParaRPr lang="en-US" dirty="0"/>
          </a:p>
          <a:p>
            <a:r>
              <a:rPr lang="en-CA" sz="1200" dirty="0"/>
              <a:t>We had a little bit of time to practice creating pseudocode from flowcharts and from problem statements.</a:t>
            </a:r>
            <a:endParaRPr lang="en-US" dirty="0"/>
          </a:p>
          <a:p>
            <a:endParaRPr lang="en-US" dirty="0"/>
          </a:p>
          <a:p>
            <a:r>
              <a:rPr lang="en-US" dirty="0"/>
              <a:t>So today, we will look at common logical errors and debugging techniques.</a:t>
            </a:r>
          </a:p>
          <a:p>
            <a:endParaRPr lang="en-US" dirty="0"/>
          </a:p>
          <a:p>
            <a:r>
              <a:rPr lang="en-US" dirty="0"/>
              <a:t>But before we start, are there any questions on what we have covered so far?</a:t>
            </a:r>
          </a:p>
          <a:p>
            <a:endParaRPr lang="en-US" dirty="0"/>
          </a:p>
          <a:p>
            <a:r>
              <a:rPr lang="en-US" dirty="0"/>
              <a:t>I do want to address a couple of things from last class:</a:t>
            </a:r>
          </a:p>
          <a:p>
            <a:pPr marL="228600" indent="-228600">
              <a:buAutoNum type="arabicParenR"/>
            </a:pPr>
            <a:r>
              <a:rPr lang="en-US" dirty="0"/>
              <a:t>Simran asked about the single equal sign vs the double equal sign. The single equal sign is for ASSIGNMENT  (</a:t>
            </a:r>
            <a:r>
              <a:rPr lang="en-US" dirty="0" err="1"/>
              <a:t>eg.</a:t>
            </a:r>
            <a:r>
              <a:rPr lang="en-US" dirty="0"/>
              <a:t> counter = counter + 1 or DECLARE total = 23), The double equal sign is used for comparison, essentially checking if 2 values are equal.</a:t>
            </a:r>
          </a:p>
          <a:p>
            <a:pPr marL="228600" indent="-228600">
              <a:buAutoNum type="arabicParenR"/>
            </a:pPr>
            <a:r>
              <a:rPr lang="en-US" dirty="0"/>
              <a:t>Simran again, asked about the IF statement being outside the DO Loop. It needs to be inside the loop.</a:t>
            </a:r>
          </a:p>
          <a:p>
            <a:endParaRPr lang="en-US" dirty="0"/>
          </a:p>
          <a:p>
            <a:r>
              <a:rPr lang="en-US" dirty="0"/>
              <a:t>Just a reminder that Quiz 3, which is going to be released after this class, is due on Friday AND that there is another in-class assignment being done on Friday.</a:t>
            </a:r>
          </a:p>
          <a:p>
            <a:r>
              <a:rPr lang="en-US" dirty="0"/>
              <a:t>So please be on time. It will be a similar format as the first one and I will talk a bit about it at the end of this PPT. Both the Quiz and the In-class assessment will cover content INCLUDING today’s lesson.</a:t>
            </a:r>
          </a:p>
          <a:p>
            <a:endParaRPr lang="en-US" dirty="0"/>
          </a:p>
          <a:p>
            <a:endParaRPr lang="en-CA" dirty="0"/>
          </a:p>
        </p:txBody>
      </p:sp>
      <p:sp>
        <p:nvSpPr>
          <p:cNvPr id="4" name="Slide Number Placeholder 3"/>
          <p:cNvSpPr>
            <a:spLocks noGrp="1"/>
          </p:cNvSpPr>
          <p:nvPr>
            <p:ph type="sldNum" sz="quarter" idx="5"/>
          </p:nvPr>
        </p:nvSpPr>
        <p:spPr/>
        <p:txBody>
          <a:bodyPr/>
          <a:lstStyle/>
          <a:p>
            <a:fld id="{CFE641A9-FDE3-4583-B812-65C4064188F6}" type="slidenum">
              <a:rPr lang="en-CA" smtClean="0"/>
              <a:t>1</a:t>
            </a:fld>
            <a:endParaRPr lang="en-CA"/>
          </a:p>
        </p:txBody>
      </p:sp>
    </p:spTree>
    <p:extLst>
      <p:ext uri="{BB962C8B-B14F-4D97-AF65-F5344CB8AC3E}">
        <p14:creationId xmlns:p14="http://schemas.microsoft.com/office/powerpoint/2010/main" val="11856031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our lesson objectives for today are……..</a:t>
            </a:r>
          </a:p>
        </p:txBody>
      </p:sp>
      <p:sp>
        <p:nvSpPr>
          <p:cNvPr id="4" name="Slide Number Placeholder 3"/>
          <p:cNvSpPr>
            <a:spLocks noGrp="1"/>
          </p:cNvSpPr>
          <p:nvPr>
            <p:ph type="sldNum" sz="quarter" idx="5"/>
          </p:nvPr>
        </p:nvSpPr>
        <p:spPr/>
        <p:txBody>
          <a:bodyPr/>
          <a:lstStyle/>
          <a:p>
            <a:fld id="{CFE641A9-FDE3-4583-B812-65C4064188F6}" type="slidenum">
              <a:rPr lang="en-CA" smtClean="0"/>
              <a:t>2</a:t>
            </a:fld>
            <a:endParaRPr lang="en-CA"/>
          </a:p>
        </p:txBody>
      </p:sp>
    </p:spTree>
    <p:extLst>
      <p:ext uri="{BB962C8B-B14F-4D97-AF65-F5344CB8AC3E}">
        <p14:creationId xmlns:p14="http://schemas.microsoft.com/office/powerpoint/2010/main" val="164282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1A9FA-7BB8-E0A0-B69A-D664F2C02F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250F60-D8C2-45E3-05C7-FA781AF97B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C1E801-F351-9E64-767E-1B534966BA33}"/>
              </a:ext>
            </a:extLst>
          </p:cNvPr>
          <p:cNvSpPr>
            <a:spLocks noGrp="1"/>
          </p:cNvSpPr>
          <p:nvPr>
            <p:ph type="body" idx="1"/>
          </p:nvPr>
        </p:nvSpPr>
        <p:spPr/>
        <p:txBody>
          <a:bodyPr/>
          <a:lstStyle/>
          <a:p>
            <a:r>
              <a:rPr lang="en-CA" sz="1200" b="0" i="0" kern="1200" dirty="0">
                <a:solidFill>
                  <a:schemeClr val="tx1"/>
                </a:solidFill>
                <a:effectLst/>
                <a:latin typeface="+mn-lt"/>
                <a:ea typeface="+mn-ea"/>
                <a:cs typeface="+mn-cs"/>
              </a:rPr>
              <a:t>It is rare that the code we write will be perfect from the very beginning.</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There will be many errors of different types. </a:t>
            </a:r>
          </a:p>
          <a:p>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Now, Because pseudocode is not specific to any programming language, the most common errors we will deal with are logical errors as opposed to errors if syntax. Logical errors are when there is something in our logic or algorithm that would cause incorrect behaviour.</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Some errors can be obvious, and others subtle. The more exposure you have to different errors, the better you will be at identifying them.</a:t>
            </a:r>
            <a:endParaRPr lang="en-CA" dirty="0"/>
          </a:p>
        </p:txBody>
      </p:sp>
      <p:sp>
        <p:nvSpPr>
          <p:cNvPr id="4" name="Slide Number Placeholder 3">
            <a:extLst>
              <a:ext uri="{FF2B5EF4-FFF2-40B4-BE49-F238E27FC236}">
                <a16:creationId xmlns:a16="http://schemas.microsoft.com/office/drawing/2014/main" id="{D7097D58-F9B9-395E-2F89-5872FE2C1C5D}"/>
              </a:ext>
            </a:extLst>
          </p:cNvPr>
          <p:cNvSpPr>
            <a:spLocks noGrp="1"/>
          </p:cNvSpPr>
          <p:nvPr>
            <p:ph type="sldNum" sz="quarter" idx="5"/>
          </p:nvPr>
        </p:nvSpPr>
        <p:spPr/>
        <p:txBody>
          <a:bodyPr/>
          <a:lstStyle/>
          <a:p>
            <a:fld id="{CFE641A9-FDE3-4583-B812-65C4064188F6}" type="slidenum">
              <a:rPr lang="en-CA" smtClean="0"/>
              <a:t>4</a:t>
            </a:fld>
            <a:endParaRPr lang="en-CA"/>
          </a:p>
        </p:txBody>
      </p:sp>
    </p:spTree>
    <p:extLst>
      <p:ext uri="{BB962C8B-B14F-4D97-AF65-F5344CB8AC3E}">
        <p14:creationId xmlns:p14="http://schemas.microsoft.com/office/powerpoint/2010/main" val="2345818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5F1D6-DBA9-35C8-2E93-BF32EA71EC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D7210F-4BA5-B130-0F39-50EA7AA0B3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854023-607E-366A-3CDC-DB41BDAE529C}"/>
              </a:ext>
            </a:extLst>
          </p:cNvPr>
          <p:cNvSpPr>
            <a:spLocks noGrp="1"/>
          </p:cNvSpPr>
          <p:nvPr>
            <p:ph type="body" idx="1"/>
          </p:nvPr>
        </p:nvSpPr>
        <p:spPr/>
        <p:txBody>
          <a:bodyPr/>
          <a:lstStyle/>
          <a:p>
            <a:r>
              <a:rPr lang="en-CA" sz="1200" b="0" i="0" kern="1200" dirty="0">
                <a:solidFill>
                  <a:schemeClr val="tx1"/>
                </a:solidFill>
                <a:effectLst/>
                <a:latin typeface="+mn-lt"/>
                <a:ea typeface="+mn-ea"/>
                <a:cs typeface="+mn-cs"/>
              </a:rPr>
              <a:t>So let's look at this first bit of pseudocode.</a:t>
            </a:r>
          </a:p>
          <a:p>
            <a:r>
              <a:rPr lang="en-CA" sz="1200" b="0" i="0" kern="1200" dirty="0">
                <a:solidFill>
                  <a:schemeClr val="tx1"/>
                </a:solidFill>
                <a:effectLst/>
                <a:latin typeface="+mn-lt"/>
                <a:ea typeface="+mn-ea"/>
                <a:cs typeface="+mn-cs"/>
              </a:rPr>
              <a:t>It is for a program that will print the numbers 1 to 10.</a:t>
            </a:r>
          </a:p>
          <a:p>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I’ll give you a few seconds to take a look at this….</a:t>
            </a:r>
          </a:p>
          <a:p>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If we examine this example closely, we can see that there is an error. This</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program almost behaves the way we want, but the number “10” will never</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be printed. Only the numbers 1 to 9 will be printed. Why?</a:t>
            </a:r>
          </a:p>
          <a:p>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The problem here is the logic in our WHILE loop. The exit condition, when the</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loop will stop, is when the number reaches 10. With every iteration of the</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loop, the value of “number” increases by 1. When the value of “number”</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reaches 10, the loop will no longer execute and the program will end.</a:t>
            </a:r>
            <a:endParaRPr lang="en-CA" dirty="0"/>
          </a:p>
        </p:txBody>
      </p:sp>
      <p:sp>
        <p:nvSpPr>
          <p:cNvPr id="4" name="Slide Number Placeholder 3">
            <a:extLst>
              <a:ext uri="{FF2B5EF4-FFF2-40B4-BE49-F238E27FC236}">
                <a16:creationId xmlns:a16="http://schemas.microsoft.com/office/drawing/2014/main" id="{7C33EE69-13D8-845F-252F-9D0045597DB6}"/>
              </a:ext>
            </a:extLst>
          </p:cNvPr>
          <p:cNvSpPr>
            <a:spLocks noGrp="1"/>
          </p:cNvSpPr>
          <p:nvPr>
            <p:ph type="sldNum" sz="quarter" idx="5"/>
          </p:nvPr>
        </p:nvSpPr>
        <p:spPr/>
        <p:txBody>
          <a:bodyPr/>
          <a:lstStyle/>
          <a:p>
            <a:fld id="{CFE641A9-FDE3-4583-B812-65C4064188F6}" type="slidenum">
              <a:rPr lang="en-CA" smtClean="0"/>
              <a:t>5</a:t>
            </a:fld>
            <a:endParaRPr lang="en-CA"/>
          </a:p>
        </p:txBody>
      </p:sp>
    </p:spTree>
    <p:extLst>
      <p:ext uri="{BB962C8B-B14F-4D97-AF65-F5344CB8AC3E}">
        <p14:creationId xmlns:p14="http://schemas.microsoft.com/office/powerpoint/2010/main" val="10221604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570B0-5E9D-1BA0-4826-11973CCBA6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C853E3-F4B3-DB17-BFD4-38CB11C5F9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4D2E19-5872-7359-9586-EBE3CA3F143A}"/>
              </a:ext>
            </a:extLst>
          </p:cNvPr>
          <p:cNvSpPr>
            <a:spLocks noGrp="1"/>
          </p:cNvSpPr>
          <p:nvPr>
            <p:ph type="body" idx="1"/>
          </p:nvPr>
        </p:nvSpPr>
        <p:spPr/>
        <p:txBody>
          <a:bodyPr/>
          <a:lstStyle/>
          <a:p>
            <a:pPr rtl="0"/>
            <a:r>
              <a:rPr lang="en-CA" sz="1200" kern="1200" dirty="0">
                <a:solidFill>
                  <a:schemeClr val="tx1"/>
                </a:solidFill>
                <a:effectLst/>
                <a:latin typeface="+mn-lt"/>
                <a:ea typeface="+mn-ea"/>
                <a:cs typeface="+mn-cs"/>
              </a:rPr>
              <a:t>Fortunately, the fix for this is quite simple. We need to change the comparison operator being used in the WHILE loop.</a:t>
            </a:r>
          </a:p>
          <a:p>
            <a:pPr rtl="0"/>
            <a:endParaRPr lang="en-CA" sz="1200" kern="1200" dirty="0">
              <a:solidFill>
                <a:schemeClr val="tx1"/>
              </a:solidFill>
              <a:effectLst/>
              <a:latin typeface="+mn-lt"/>
              <a:ea typeface="+mn-ea"/>
              <a:cs typeface="+mn-cs"/>
            </a:endParaRPr>
          </a:p>
          <a:p>
            <a:pPr rtl="0"/>
            <a:r>
              <a:rPr lang="en-CA" sz="1200" b="0" i="0" kern="1200" dirty="0">
                <a:solidFill>
                  <a:schemeClr val="tx1"/>
                </a:solidFill>
                <a:effectLst/>
                <a:latin typeface="+mn-lt"/>
                <a:ea typeface="+mn-ea"/>
                <a:cs typeface="+mn-cs"/>
              </a:rPr>
              <a:t>By changing the “less than” operator to a “less than or equal to” operator, we've included 10 as part of the loop. </a:t>
            </a:r>
          </a:p>
          <a:p>
            <a:pPr rtl="0"/>
            <a:r>
              <a:rPr lang="en-CA" sz="1200" b="0" i="0" kern="1200" dirty="0">
                <a:solidFill>
                  <a:schemeClr val="tx1"/>
                </a:solidFill>
                <a:effectLst/>
                <a:latin typeface="+mn-lt"/>
                <a:ea typeface="+mn-ea"/>
                <a:cs typeface="+mn-cs"/>
              </a:rPr>
              <a:t>So now the number 10 will print.</a:t>
            </a:r>
            <a:endParaRPr lang="en-CA" dirty="0">
              <a:effectLst/>
            </a:endParaRPr>
          </a:p>
          <a:p>
            <a:pPr rtl="0"/>
            <a:br>
              <a:rPr lang="en-CA" sz="1200" b="0" i="0" kern="1200" dirty="0">
                <a:solidFill>
                  <a:schemeClr val="tx1"/>
                </a:solidFill>
                <a:effectLst/>
                <a:latin typeface="+mn-lt"/>
                <a:ea typeface="+mn-ea"/>
                <a:cs typeface="+mn-cs"/>
              </a:rPr>
            </a:br>
            <a:endParaRPr lang="en-CA" dirty="0">
              <a:effectLst/>
            </a:endParaRPr>
          </a:p>
          <a:p>
            <a:endParaRPr lang="en-CA" dirty="0"/>
          </a:p>
        </p:txBody>
      </p:sp>
      <p:sp>
        <p:nvSpPr>
          <p:cNvPr id="4" name="Slide Number Placeholder 3">
            <a:extLst>
              <a:ext uri="{FF2B5EF4-FFF2-40B4-BE49-F238E27FC236}">
                <a16:creationId xmlns:a16="http://schemas.microsoft.com/office/drawing/2014/main" id="{8DDF508B-2D91-7B05-651E-5885D93C1EE4}"/>
              </a:ext>
            </a:extLst>
          </p:cNvPr>
          <p:cNvSpPr>
            <a:spLocks noGrp="1"/>
          </p:cNvSpPr>
          <p:nvPr>
            <p:ph type="sldNum" sz="quarter" idx="5"/>
          </p:nvPr>
        </p:nvSpPr>
        <p:spPr/>
        <p:txBody>
          <a:bodyPr/>
          <a:lstStyle/>
          <a:p>
            <a:fld id="{CFE641A9-FDE3-4583-B812-65C4064188F6}" type="slidenum">
              <a:rPr lang="en-CA" smtClean="0"/>
              <a:t>6</a:t>
            </a:fld>
            <a:endParaRPr lang="en-CA"/>
          </a:p>
        </p:txBody>
      </p:sp>
    </p:spTree>
    <p:extLst>
      <p:ext uri="{BB962C8B-B14F-4D97-AF65-F5344CB8AC3E}">
        <p14:creationId xmlns:p14="http://schemas.microsoft.com/office/powerpoint/2010/main" val="24786371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E17E1-5FF2-E9B5-1BCB-544833BED7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F9823B-B9C7-E1EB-C89B-2E82A05BD3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A36ACE-9377-934A-31B2-5F55A6440F21}"/>
              </a:ext>
            </a:extLst>
          </p:cNvPr>
          <p:cNvSpPr>
            <a:spLocks noGrp="1"/>
          </p:cNvSpPr>
          <p:nvPr>
            <p:ph type="body" idx="1"/>
          </p:nvPr>
        </p:nvSpPr>
        <p:spPr/>
        <p:txBody>
          <a:bodyPr/>
          <a:lstStyle/>
          <a:p>
            <a:r>
              <a:rPr lang="en-CA" sz="1200" b="0" i="0" kern="1200" dirty="0">
                <a:solidFill>
                  <a:schemeClr val="tx1"/>
                </a:solidFill>
                <a:effectLst/>
                <a:latin typeface="+mn-lt"/>
                <a:ea typeface="+mn-ea"/>
                <a:cs typeface="+mn-cs"/>
              </a:rPr>
              <a:t>So how about this one....Sum a series of numbers</a:t>
            </a:r>
          </a:p>
          <a:p>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Write a program that asks the user to enter a whole number. The program should then calculate the sum of all the numbers starting from 1 up to the number the user entered. </a:t>
            </a:r>
          </a:p>
          <a:p>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Finally, it should display the total sum.</a:t>
            </a:r>
            <a:br>
              <a:rPr lang="en-CA" sz="1200" b="0" i="0" kern="1200" dirty="0">
                <a:solidFill>
                  <a:schemeClr val="tx1"/>
                </a:solidFill>
                <a:effectLst/>
                <a:latin typeface="+mn-lt"/>
                <a:ea typeface="+mn-ea"/>
                <a:cs typeface="+mn-cs"/>
              </a:rPr>
            </a:b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For example, if the user enters 5, the program should calculate:</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1 + 2 + 3 + 4 + 5 = 15</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and then print 15 as the result.</a:t>
            </a:r>
            <a:endParaRPr lang="en-CA" dirty="0"/>
          </a:p>
        </p:txBody>
      </p:sp>
      <p:sp>
        <p:nvSpPr>
          <p:cNvPr id="4" name="Slide Number Placeholder 3">
            <a:extLst>
              <a:ext uri="{FF2B5EF4-FFF2-40B4-BE49-F238E27FC236}">
                <a16:creationId xmlns:a16="http://schemas.microsoft.com/office/drawing/2014/main" id="{DEC34EB8-FEB1-F9AB-9C79-C1CDCA9A9C94}"/>
              </a:ext>
            </a:extLst>
          </p:cNvPr>
          <p:cNvSpPr>
            <a:spLocks noGrp="1"/>
          </p:cNvSpPr>
          <p:nvPr>
            <p:ph type="sldNum" sz="quarter" idx="5"/>
          </p:nvPr>
        </p:nvSpPr>
        <p:spPr/>
        <p:txBody>
          <a:bodyPr/>
          <a:lstStyle/>
          <a:p>
            <a:fld id="{CFE641A9-FDE3-4583-B812-65C4064188F6}" type="slidenum">
              <a:rPr lang="en-CA" smtClean="0"/>
              <a:t>7</a:t>
            </a:fld>
            <a:endParaRPr lang="en-CA"/>
          </a:p>
        </p:txBody>
      </p:sp>
    </p:spTree>
    <p:extLst>
      <p:ext uri="{BB962C8B-B14F-4D97-AF65-F5344CB8AC3E}">
        <p14:creationId xmlns:p14="http://schemas.microsoft.com/office/powerpoint/2010/main" val="12084931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30100-8103-601B-99A5-7B5D1A33DC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EED6B0-9382-88FD-F99A-F78ACBA719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15853B-EAF9-8557-45EE-84C1E7F0BC2E}"/>
              </a:ext>
            </a:extLst>
          </p:cNvPr>
          <p:cNvSpPr>
            <a:spLocks noGrp="1"/>
          </p:cNvSpPr>
          <p:nvPr>
            <p:ph type="body" idx="1"/>
          </p:nvPr>
        </p:nvSpPr>
        <p:spPr/>
        <p:txBody>
          <a:bodyPr/>
          <a:lstStyle/>
          <a:p>
            <a:r>
              <a:rPr lang="en-CA" dirty="0"/>
              <a:t>Take a look at this logic. (Pause.)</a:t>
            </a:r>
          </a:p>
          <a:p>
            <a:endParaRPr lang="en-CA" dirty="0"/>
          </a:p>
          <a:p>
            <a:pPr rtl="0"/>
            <a:r>
              <a:rPr lang="en-CA" sz="1200" kern="1200" dirty="0">
                <a:solidFill>
                  <a:schemeClr val="tx1"/>
                </a:solidFill>
                <a:effectLst/>
                <a:latin typeface="+mn-lt"/>
                <a:ea typeface="+mn-ea"/>
                <a:cs typeface="+mn-cs"/>
              </a:rPr>
              <a:t>Once again, this program will not give us the output we want. There are actually a couple errors here preventing us from getting the expected result.</a:t>
            </a:r>
            <a:br>
              <a:rPr lang="en-CA" dirty="0">
                <a:effectLst/>
              </a:rPr>
            </a:br>
            <a:br>
              <a:rPr lang="en-CA" sz="1200" b="0" i="0" kern="1200" dirty="0">
                <a:solidFill>
                  <a:schemeClr val="tx1"/>
                </a:solidFill>
                <a:effectLst/>
                <a:latin typeface="+mn-lt"/>
                <a:ea typeface="+mn-ea"/>
                <a:cs typeface="+mn-cs"/>
              </a:rPr>
            </a:br>
            <a:endParaRPr lang="en-CA" dirty="0">
              <a:effectLst/>
            </a:endParaRPr>
          </a:p>
          <a:p>
            <a:endParaRPr lang="en-CA" dirty="0"/>
          </a:p>
        </p:txBody>
      </p:sp>
      <p:sp>
        <p:nvSpPr>
          <p:cNvPr id="4" name="Slide Number Placeholder 3">
            <a:extLst>
              <a:ext uri="{FF2B5EF4-FFF2-40B4-BE49-F238E27FC236}">
                <a16:creationId xmlns:a16="http://schemas.microsoft.com/office/drawing/2014/main" id="{FA53C062-140D-D0C6-0559-037824080E9A}"/>
              </a:ext>
            </a:extLst>
          </p:cNvPr>
          <p:cNvSpPr>
            <a:spLocks noGrp="1"/>
          </p:cNvSpPr>
          <p:nvPr>
            <p:ph type="sldNum" sz="quarter" idx="5"/>
          </p:nvPr>
        </p:nvSpPr>
        <p:spPr/>
        <p:txBody>
          <a:bodyPr/>
          <a:lstStyle/>
          <a:p>
            <a:fld id="{CFE641A9-FDE3-4583-B812-65C4064188F6}" type="slidenum">
              <a:rPr lang="en-CA" smtClean="0"/>
              <a:t>8</a:t>
            </a:fld>
            <a:endParaRPr lang="en-CA"/>
          </a:p>
        </p:txBody>
      </p:sp>
    </p:spTree>
    <p:extLst>
      <p:ext uri="{BB962C8B-B14F-4D97-AF65-F5344CB8AC3E}">
        <p14:creationId xmlns:p14="http://schemas.microsoft.com/office/powerpoint/2010/main" val="7954764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FA015-A2B0-432B-62EB-7CE28F3A50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2DA43B-18ED-EAC7-C2A1-D28376989C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E9D4B0-CA2F-D8EA-9151-BC50584D9B6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1. We never declare the variable “sum”, but we try to use it at the end of the program</a:t>
            </a:r>
            <a:br>
              <a:rPr lang="en-CA" dirty="0">
                <a:effectLst/>
              </a:rPr>
            </a:br>
            <a:r>
              <a:rPr lang="en-CA" sz="1200" kern="1200" dirty="0">
                <a:solidFill>
                  <a:schemeClr val="tx1"/>
                </a:solidFill>
                <a:effectLst/>
                <a:latin typeface="+mn-lt"/>
                <a:ea typeface="+mn-ea"/>
                <a:cs typeface="+mn-cs"/>
              </a:rPr>
              <a:t>2. We never perform the sum operation in our Do-Until loop</a:t>
            </a:r>
            <a:endParaRPr lang="en-CA" dirty="0">
              <a:effectLst/>
            </a:endParaRPr>
          </a:p>
          <a:p>
            <a:endParaRPr lang="en-CA" dirty="0"/>
          </a:p>
        </p:txBody>
      </p:sp>
      <p:sp>
        <p:nvSpPr>
          <p:cNvPr id="4" name="Slide Number Placeholder 3">
            <a:extLst>
              <a:ext uri="{FF2B5EF4-FFF2-40B4-BE49-F238E27FC236}">
                <a16:creationId xmlns:a16="http://schemas.microsoft.com/office/drawing/2014/main" id="{E74E9ECC-4305-E282-32E2-9F4A99763622}"/>
              </a:ext>
            </a:extLst>
          </p:cNvPr>
          <p:cNvSpPr>
            <a:spLocks noGrp="1"/>
          </p:cNvSpPr>
          <p:nvPr>
            <p:ph type="sldNum" sz="quarter" idx="5"/>
          </p:nvPr>
        </p:nvSpPr>
        <p:spPr/>
        <p:txBody>
          <a:bodyPr/>
          <a:lstStyle/>
          <a:p>
            <a:fld id="{CFE641A9-FDE3-4583-B812-65C4064188F6}" type="slidenum">
              <a:rPr lang="en-CA" smtClean="0"/>
              <a:t>9</a:t>
            </a:fld>
            <a:endParaRPr lang="en-CA"/>
          </a:p>
        </p:txBody>
      </p:sp>
    </p:spTree>
    <p:extLst>
      <p:ext uri="{BB962C8B-B14F-4D97-AF65-F5344CB8AC3E}">
        <p14:creationId xmlns:p14="http://schemas.microsoft.com/office/powerpoint/2010/main" val="19589045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55AC7-25D3-A066-AEDB-48A6B6AF11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6138B9-3830-5C69-88C0-7B0C088024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2F7022-98A7-6BF7-6FEE-5772EF81225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Let’s look at the fix:</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To fix the first issue, we first needed to declare the “sum” variable at the top.</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You cannot use a variable before you declare it and initialize it. We initialize it to 0 because the sum starts off at 0.</a:t>
            </a:r>
            <a:br>
              <a:rPr lang="en-CA" sz="1200" b="0" i="0" kern="1200" dirty="0">
                <a:solidFill>
                  <a:schemeClr val="tx1"/>
                </a:solidFill>
                <a:effectLst/>
                <a:latin typeface="+mn-lt"/>
                <a:ea typeface="+mn-ea"/>
                <a:cs typeface="+mn-cs"/>
              </a:rPr>
            </a:br>
            <a:endParaRPr lang="en-CA"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Secondly, we add the value of counter to the existing value of sum. Every time we go through the loop, we are adding the value of “counter”, which increments with each loop, to the existing value of “sum”.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This gives us the 1 + 2 + 3 + 4 + 5 behavior we are looking for.</a:t>
            </a:r>
            <a:endParaRPr lang="en-CA" dirty="0"/>
          </a:p>
        </p:txBody>
      </p:sp>
      <p:sp>
        <p:nvSpPr>
          <p:cNvPr id="4" name="Slide Number Placeholder 3">
            <a:extLst>
              <a:ext uri="{FF2B5EF4-FFF2-40B4-BE49-F238E27FC236}">
                <a16:creationId xmlns:a16="http://schemas.microsoft.com/office/drawing/2014/main" id="{FF705736-028E-358D-9987-39B09CE4038E}"/>
              </a:ext>
            </a:extLst>
          </p:cNvPr>
          <p:cNvSpPr>
            <a:spLocks noGrp="1"/>
          </p:cNvSpPr>
          <p:nvPr>
            <p:ph type="sldNum" sz="quarter" idx="5"/>
          </p:nvPr>
        </p:nvSpPr>
        <p:spPr/>
        <p:txBody>
          <a:bodyPr/>
          <a:lstStyle/>
          <a:p>
            <a:fld id="{CFE641A9-FDE3-4583-B812-65C4064188F6}" type="slidenum">
              <a:rPr lang="en-CA" smtClean="0"/>
              <a:t>10</a:t>
            </a:fld>
            <a:endParaRPr lang="en-CA"/>
          </a:p>
        </p:txBody>
      </p:sp>
    </p:spTree>
    <p:extLst>
      <p:ext uri="{BB962C8B-B14F-4D97-AF65-F5344CB8AC3E}">
        <p14:creationId xmlns:p14="http://schemas.microsoft.com/office/powerpoint/2010/main" val="23668749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833CC-C7B7-2FCD-A797-B3A88ED707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366BC-C8F3-216C-9727-3ACEAA7AC1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705EF7-AB5C-9F6D-11BD-42527D05C3EA}"/>
              </a:ext>
            </a:extLst>
          </p:cNvPr>
          <p:cNvSpPr>
            <a:spLocks noGrp="1"/>
          </p:cNvSpPr>
          <p:nvPr>
            <p:ph type="body" idx="1"/>
          </p:nvPr>
        </p:nvSpPr>
        <p:spPr/>
        <p:txBody>
          <a:bodyPr/>
          <a:lstStyle/>
          <a:p>
            <a:r>
              <a:rPr lang="en-CA" dirty="0"/>
              <a:t>I</a:t>
            </a:r>
            <a:r>
              <a:rPr lang="en-CA" sz="1200" b="0" i="0" kern="1200" dirty="0">
                <a:solidFill>
                  <a:schemeClr val="tx1"/>
                </a:solidFill>
                <a:effectLst/>
                <a:latin typeface="+mn-lt"/>
                <a:ea typeface="+mn-ea"/>
                <a:cs typeface="+mn-cs"/>
              </a:rPr>
              <a:t>f we are not careful with our looping logic, it can be possible to create what is known as an “infinite loop.” </a:t>
            </a:r>
          </a:p>
          <a:p>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As you can imagine, this is a looping construct that never ends because the logic used when writing it provides it with no way out. </a:t>
            </a:r>
          </a:p>
          <a:p>
            <a:r>
              <a:rPr lang="en-CA" sz="1200" b="0" i="0" kern="1200" dirty="0">
                <a:solidFill>
                  <a:schemeClr val="tx1"/>
                </a:solidFill>
                <a:effectLst/>
                <a:latin typeface="+mn-lt"/>
                <a:ea typeface="+mn-ea"/>
                <a:cs typeface="+mn-cs"/>
              </a:rPr>
              <a:t>It will continue to execute forever, hence the name.</a:t>
            </a:r>
            <a:endParaRPr lang="en-CA" dirty="0"/>
          </a:p>
        </p:txBody>
      </p:sp>
      <p:sp>
        <p:nvSpPr>
          <p:cNvPr id="4" name="Slide Number Placeholder 3">
            <a:extLst>
              <a:ext uri="{FF2B5EF4-FFF2-40B4-BE49-F238E27FC236}">
                <a16:creationId xmlns:a16="http://schemas.microsoft.com/office/drawing/2014/main" id="{1E389825-3A30-DB28-C43A-F2477E193857}"/>
              </a:ext>
            </a:extLst>
          </p:cNvPr>
          <p:cNvSpPr>
            <a:spLocks noGrp="1"/>
          </p:cNvSpPr>
          <p:nvPr>
            <p:ph type="sldNum" sz="quarter" idx="5"/>
          </p:nvPr>
        </p:nvSpPr>
        <p:spPr/>
        <p:txBody>
          <a:bodyPr/>
          <a:lstStyle/>
          <a:p>
            <a:fld id="{CFE641A9-FDE3-4583-B812-65C4064188F6}" type="slidenum">
              <a:rPr lang="en-CA" smtClean="0"/>
              <a:t>11</a:t>
            </a:fld>
            <a:endParaRPr lang="en-CA"/>
          </a:p>
        </p:txBody>
      </p:sp>
    </p:spTree>
    <p:extLst>
      <p:ext uri="{BB962C8B-B14F-4D97-AF65-F5344CB8AC3E}">
        <p14:creationId xmlns:p14="http://schemas.microsoft.com/office/powerpoint/2010/main" val="26795229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98D96-9D72-6C45-87C2-67FA03D367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A7AC24-00B0-BF08-BA8A-F20FBAC0FA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5FEBEC-09F5-5246-3BCD-455981CA4485}"/>
              </a:ext>
            </a:extLst>
          </p:cNvPr>
          <p:cNvSpPr>
            <a:spLocks noGrp="1"/>
          </p:cNvSpPr>
          <p:nvPr>
            <p:ph type="body" idx="1"/>
          </p:nvPr>
        </p:nvSpPr>
        <p:spPr/>
        <p:txBody>
          <a:bodyPr/>
          <a:lstStyle/>
          <a:p>
            <a:r>
              <a:rPr lang="en-CA" sz="1200" b="0" i="0" kern="1200" dirty="0">
                <a:solidFill>
                  <a:schemeClr val="tx1"/>
                </a:solidFill>
                <a:effectLst/>
                <a:latin typeface="+mn-lt"/>
                <a:ea typeface="+mn-ea"/>
                <a:cs typeface="+mn-cs"/>
              </a:rPr>
              <a:t>Take the following program: (PAUSE)</a:t>
            </a:r>
          </a:p>
          <a:p>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If we look at the logic in this WHILE loop, we can see that we will repeat the loop as long as the “counter” variable is greater than 0. In the while loop code itself, all we do is increase the value of “counter”, so it just goes on to infinity and will never stop. </a:t>
            </a:r>
          </a:p>
          <a:p>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This is just a simple example, but the idea is that if the logic in the WHILE loop is always true, the loop will always run.</a:t>
            </a:r>
            <a:br>
              <a:rPr lang="en-CA" sz="1200" b="0" i="0" kern="1200" dirty="0">
                <a:solidFill>
                  <a:schemeClr val="tx1"/>
                </a:solidFill>
                <a:effectLst/>
                <a:latin typeface="+mn-lt"/>
                <a:ea typeface="+mn-ea"/>
                <a:cs typeface="+mn-cs"/>
              </a:rPr>
            </a:b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Infinite loops can be easy to miss and are serious issues in an application.</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They will devour a computer’s memory and cause the application to crash.</a:t>
            </a:r>
            <a:endParaRPr lang="en-CA" dirty="0"/>
          </a:p>
        </p:txBody>
      </p:sp>
      <p:sp>
        <p:nvSpPr>
          <p:cNvPr id="4" name="Slide Number Placeholder 3">
            <a:extLst>
              <a:ext uri="{FF2B5EF4-FFF2-40B4-BE49-F238E27FC236}">
                <a16:creationId xmlns:a16="http://schemas.microsoft.com/office/drawing/2014/main" id="{BA646BC8-87B6-6CA0-E5CD-9B5171440930}"/>
              </a:ext>
            </a:extLst>
          </p:cNvPr>
          <p:cNvSpPr>
            <a:spLocks noGrp="1"/>
          </p:cNvSpPr>
          <p:nvPr>
            <p:ph type="sldNum" sz="quarter" idx="5"/>
          </p:nvPr>
        </p:nvSpPr>
        <p:spPr/>
        <p:txBody>
          <a:bodyPr/>
          <a:lstStyle/>
          <a:p>
            <a:fld id="{CFE641A9-FDE3-4583-B812-65C4064188F6}" type="slidenum">
              <a:rPr lang="en-CA" smtClean="0"/>
              <a:t>12</a:t>
            </a:fld>
            <a:endParaRPr lang="en-CA"/>
          </a:p>
        </p:txBody>
      </p:sp>
    </p:spTree>
    <p:extLst>
      <p:ext uri="{BB962C8B-B14F-4D97-AF65-F5344CB8AC3E}">
        <p14:creationId xmlns:p14="http://schemas.microsoft.com/office/powerpoint/2010/main" val="31865626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E641A9-FDE3-4583-B812-65C4064188F6}" type="slidenum">
              <a:rPr lang="en-CA" smtClean="0"/>
              <a:t>13</a:t>
            </a:fld>
            <a:endParaRPr lang="en-CA"/>
          </a:p>
        </p:txBody>
      </p:sp>
    </p:spTree>
    <p:extLst>
      <p:ext uri="{BB962C8B-B14F-4D97-AF65-F5344CB8AC3E}">
        <p14:creationId xmlns:p14="http://schemas.microsoft.com/office/powerpoint/2010/main" val="7307235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AD986-73A9-9FBC-D67D-522BE87EBC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6BD944-7220-E983-756C-ED518BB938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52E1E5-213E-C964-CBBF-038B7F821BCB}"/>
              </a:ext>
            </a:extLst>
          </p:cNvPr>
          <p:cNvSpPr>
            <a:spLocks noGrp="1"/>
          </p:cNvSpPr>
          <p:nvPr>
            <p:ph type="body" idx="1"/>
          </p:nvPr>
        </p:nvSpPr>
        <p:spPr/>
        <p:txBody>
          <a:bodyPr/>
          <a:lstStyle/>
          <a:p>
            <a:r>
              <a:rPr lang="en-CA" sz="1200" b="0" i="0" kern="1200" dirty="0">
                <a:solidFill>
                  <a:schemeClr val="tx1"/>
                </a:solidFill>
                <a:effectLst/>
                <a:latin typeface="+mn-lt"/>
                <a:ea typeface="+mn-ea"/>
                <a:cs typeface="+mn-cs"/>
              </a:rPr>
              <a:t>The process of troubleshooting code in software development is known as debugging. </a:t>
            </a:r>
          </a:p>
          <a:p>
            <a:r>
              <a:rPr lang="en-CA" sz="1200" b="0" i="0" kern="1200" dirty="0">
                <a:solidFill>
                  <a:schemeClr val="tx1"/>
                </a:solidFill>
                <a:effectLst/>
                <a:latin typeface="+mn-lt"/>
                <a:ea typeface="+mn-ea"/>
                <a:cs typeface="+mn-cs"/>
              </a:rPr>
              <a:t>The term comes from an issue in the 1940s when a moth was discovered inside a computer that made the computer malfunction. </a:t>
            </a:r>
          </a:p>
          <a:p>
            <a:r>
              <a:rPr lang="en-CA" sz="1200" b="0" i="0" kern="1200" dirty="0">
                <a:solidFill>
                  <a:schemeClr val="tx1"/>
                </a:solidFill>
                <a:effectLst/>
                <a:latin typeface="+mn-lt"/>
                <a:ea typeface="+mn-ea"/>
                <a:cs typeface="+mn-cs"/>
              </a:rPr>
              <a:t>When the moth was removed, the issue was fixed, and the computer was said to have been “debugged.”</a:t>
            </a:r>
            <a:endParaRPr lang="en-CA" dirty="0"/>
          </a:p>
        </p:txBody>
      </p:sp>
      <p:sp>
        <p:nvSpPr>
          <p:cNvPr id="4" name="Slide Number Placeholder 3">
            <a:extLst>
              <a:ext uri="{FF2B5EF4-FFF2-40B4-BE49-F238E27FC236}">
                <a16:creationId xmlns:a16="http://schemas.microsoft.com/office/drawing/2014/main" id="{1604513E-C97D-9EE8-131B-385A255335BA}"/>
              </a:ext>
            </a:extLst>
          </p:cNvPr>
          <p:cNvSpPr>
            <a:spLocks noGrp="1"/>
          </p:cNvSpPr>
          <p:nvPr>
            <p:ph type="sldNum" sz="quarter" idx="5"/>
          </p:nvPr>
        </p:nvSpPr>
        <p:spPr/>
        <p:txBody>
          <a:bodyPr/>
          <a:lstStyle/>
          <a:p>
            <a:fld id="{CFE641A9-FDE3-4583-B812-65C4064188F6}" type="slidenum">
              <a:rPr lang="en-CA" smtClean="0"/>
              <a:t>14</a:t>
            </a:fld>
            <a:endParaRPr lang="en-CA"/>
          </a:p>
        </p:txBody>
      </p:sp>
    </p:spTree>
    <p:extLst>
      <p:ext uri="{BB962C8B-B14F-4D97-AF65-F5344CB8AC3E}">
        <p14:creationId xmlns:p14="http://schemas.microsoft.com/office/powerpoint/2010/main" val="2748042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69F6A-01EE-3207-FFEC-986C9FFF70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D5AD52-2FD7-EE2B-7CFD-0E13052681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DCBDFB-40B3-8395-FE5C-60A759686203}"/>
              </a:ext>
            </a:extLst>
          </p:cNvPr>
          <p:cNvSpPr>
            <a:spLocks noGrp="1"/>
          </p:cNvSpPr>
          <p:nvPr>
            <p:ph type="body" idx="1"/>
          </p:nvPr>
        </p:nvSpPr>
        <p:spPr/>
        <p:txBody>
          <a:bodyPr/>
          <a:lstStyle/>
          <a:p>
            <a:pPr rtl="0"/>
            <a:r>
              <a:rPr lang="en-CA" sz="1200" kern="1200" dirty="0">
                <a:solidFill>
                  <a:schemeClr val="tx1"/>
                </a:solidFill>
                <a:effectLst/>
                <a:latin typeface="+mn-lt"/>
                <a:ea typeface="+mn-ea"/>
                <a:cs typeface="+mn-cs"/>
              </a:rPr>
              <a:t>When it comes to debugging pseudocode, there are some reliable techniques that can be used, some of which you are already familiar with.</a:t>
            </a:r>
          </a:p>
          <a:p>
            <a:pPr rtl="0"/>
            <a:br>
              <a:rPr lang="en-CA" dirty="0">
                <a:effectLst/>
              </a:rPr>
            </a:br>
            <a:r>
              <a:rPr lang="en-CA" sz="1200" kern="1200" dirty="0">
                <a:solidFill>
                  <a:schemeClr val="tx1"/>
                </a:solidFill>
                <a:effectLst/>
                <a:latin typeface="+mn-lt"/>
                <a:ea typeface="+mn-ea"/>
                <a:cs typeface="+mn-cs"/>
              </a:rPr>
              <a:t>1. Understand the problem.</a:t>
            </a:r>
          </a:p>
          <a:p>
            <a:pPr rtl="0"/>
            <a:br>
              <a:rPr lang="en-CA" dirty="0">
                <a:effectLst/>
              </a:rPr>
            </a:br>
            <a:r>
              <a:rPr lang="en-CA" sz="1200" kern="1200" dirty="0">
                <a:solidFill>
                  <a:schemeClr val="tx1"/>
                </a:solidFill>
                <a:effectLst/>
                <a:latin typeface="+mn-lt"/>
                <a:ea typeface="+mn-ea"/>
                <a:cs typeface="+mn-cs"/>
              </a:rPr>
              <a:t>2. Determine the inputs, processes, outputs, and constraints.</a:t>
            </a:r>
          </a:p>
          <a:p>
            <a:pPr rtl="0"/>
            <a:br>
              <a:rPr lang="en-CA" dirty="0">
                <a:effectLst/>
              </a:rPr>
            </a:br>
            <a:r>
              <a:rPr lang="en-CA" sz="1200" kern="1200" dirty="0">
                <a:solidFill>
                  <a:schemeClr val="tx1"/>
                </a:solidFill>
                <a:effectLst/>
                <a:latin typeface="+mn-lt"/>
                <a:ea typeface="+mn-ea"/>
                <a:cs typeface="+mn-cs"/>
              </a:rPr>
              <a:t>3. Focus on small pieces at a time.</a:t>
            </a:r>
          </a:p>
          <a:p>
            <a:pPr rtl="0"/>
            <a:r>
              <a:rPr lang="en-CA" sz="1200" b="0" i="0" kern="1200" dirty="0">
                <a:solidFill>
                  <a:schemeClr val="tx1"/>
                </a:solidFill>
                <a:effectLst/>
                <a:latin typeface="+mn-lt"/>
                <a:ea typeface="+mn-ea"/>
                <a:cs typeface="+mn-cs"/>
              </a:rPr>
              <a:t>Very often, one line of code can be the source of the bug, as our example with counting to 10 showed. </a:t>
            </a:r>
          </a:p>
          <a:p>
            <a:pPr rtl="0"/>
            <a:r>
              <a:rPr lang="en-CA" sz="1200" b="0" i="0" kern="1200" dirty="0">
                <a:solidFill>
                  <a:schemeClr val="tx1"/>
                </a:solidFill>
                <a:effectLst/>
                <a:latin typeface="+mn-lt"/>
                <a:ea typeface="+mn-ea"/>
                <a:cs typeface="+mn-cs"/>
              </a:rPr>
              <a:t>Other times, there could be issues in multiple places that prevent the solution from working, as our summation example showed.</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When debugging, focusing on one small piece at a time is best. Fix one issue, then move onto the next, until the solution works completely.</a:t>
            </a:r>
            <a:endParaRPr lang="en-CA" sz="1200" kern="1200" dirty="0">
              <a:solidFill>
                <a:schemeClr val="tx1"/>
              </a:solidFill>
              <a:effectLst/>
              <a:latin typeface="+mn-lt"/>
              <a:ea typeface="+mn-ea"/>
              <a:cs typeface="+mn-cs"/>
            </a:endParaRPr>
          </a:p>
          <a:p>
            <a:pPr rtl="0"/>
            <a:endParaRPr lang="en-CA" sz="1200" kern="1200" dirty="0">
              <a:solidFill>
                <a:schemeClr val="tx1"/>
              </a:solidFill>
              <a:effectLst/>
              <a:latin typeface="+mn-lt"/>
              <a:ea typeface="+mn-ea"/>
              <a:cs typeface="+mn-cs"/>
            </a:endParaRPr>
          </a:p>
          <a:p>
            <a:pPr rtl="0"/>
            <a:br>
              <a:rPr lang="en-CA" dirty="0">
                <a:effectLst/>
              </a:rPr>
            </a:br>
            <a:r>
              <a:rPr lang="en-CA" sz="1200" kern="1200" dirty="0">
                <a:solidFill>
                  <a:schemeClr val="tx1"/>
                </a:solidFill>
                <a:effectLst/>
                <a:latin typeface="+mn-lt"/>
                <a:ea typeface="+mn-ea"/>
                <a:cs typeface="+mn-cs"/>
              </a:rPr>
              <a:t>4. Verify that the solution meets all inputs, processes, outputs, and constraints.</a:t>
            </a:r>
          </a:p>
          <a:p>
            <a:pPr rtl="0"/>
            <a:r>
              <a:rPr lang="en-CA" sz="1200" b="0" i="0" kern="1200" dirty="0">
                <a:solidFill>
                  <a:schemeClr val="tx1"/>
                </a:solidFill>
                <a:effectLst/>
                <a:latin typeface="+mn-lt"/>
                <a:ea typeface="+mn-ea"/>
                <a:cs typeface="+mn-cs"/>
              </a:rPr>
              <a:t>Once you have identified the requirements of the problem, you can compare each of these requirements to the solution one at a time, making sure each are met. </a:t>
            </a:r>
          </a:p>
          <a:p>
            <a:pPr rtl="0"/>
            <a:r>
              <a:rPr lang="en-CA" sz="1200" b="0" i="0" kern="1200" dirty="0">
                <a:solidFill>
                  <a:schemeClr val="tx1"/>
                </a:solidFill>
                <a:effectLst/>
                <a:latin typeface="+mn-lt"/>
                <a:ea typeface="+mn-ea"/>
                <a:cs typeface="+mn-cs"/>
              </a:rPr>
              <a:t>This is done together with the part about focusing on one piece at a time.</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The best way to illustrate the debugging process is with examples, so let’s look a couple of them and break them down.</a:t>
            </a:r>
            <a:endParaRPr lang="en-CA" sz="1200" kern="1200" dirty="0">
              <a:solidFill>
                <a:schemeClr val="tx1"/>
              </a:solidFill>
              <a:effectLst/>
              <a:latin typeface="+mn-lt"/>
              <a:ea typeface="+mn-ea"/>
              <a:cs typeface="+mn-cs"/>
            </a:endParaRPr>
          </a:p>
          <a:p>
            <a:pPr rtl="0"/>
            <a:br>
              <a:rPr lang="en-CA" dirty="0">
                <a:effectLst/>
              </a:rPr>
            </a:br>
            <a:r>
              <a:rPr lang="en-CA" dirty="0">
                <a:effectLst/>
              </a:rPr>
              <a:t>(</a:t>
            </a:r>
            <a:r>
              <a:rPr lang="en-CA" sz="1200" kern="1200" dirty="0">
                <a:solidFill>
                  <a:schemeClr val="tx1"/>
                </a:solidFill>
                <a:effectLst/>
                <a:latin typeface="+mn-lt"/>
                <a:ea typeface="+mn-ea"/>
                <a:cs typeface="+mn-cs"/>
              </a:rPr>
              <a:t>5. Refine the solution as necessary.)</a:t>
            </a:r>
            <a:endParaRPr lang="en-CA" dirty="0">
              <a:effectLst/>
            </a:endParaRPr>
          </a:p>
          <a:p>
            <a:pPr rtl="0"/>
            <a:r>
              <a:rPr lang="en-CA" dirty="0">
                <a:effectLst/>
              </a:rPr>
              <a:t>But before we continue, let's not forget the fifth step, and that is to refine the solution as necessary. This is always a valid option or technique and should be used liberally.</a:t>
            </a:r>
            <a:br>
              <a:rPr lang="en-CA" sz="1200" b="0" i="0" kern="1200" dirty="0">
                <a:solidFill>
                  <a:schemeClr val="tx1"/>
                </a:solidFill>
                <a:effectLst/>
                <a:latin typeface="+mn-lt"/>
                <a:ea typeface="+mn-ea"/>
                <a:cs typeface="+mn-cs"/>
              </a:rPr>
            </a:br>
            <a:endParaRPr lang="en-CA" dirty="0">
              <a:effectLst/>
            </a:endParaRPr>
          </a:p>
          <a:p>
            <a:endParaRPr lang="en-CA" dirty="0"/>
          </a:p>
        </p:txBody>
      </p:sp>
      <p:sp>
        <p:nvSpPr>
          <p:cNvPr id="4" name="Slide Number Placeholder 3">
            <a:extLst>
              <a:ext uri="{FF2B5EF4-FFF2-40B4-BE49-F238E27FC236}">
                <a16:creationId xmlns:a16="http://schemas.microsoft.com/office/drawing/2014/main" id="{441F5FC0-1D0D-E4C0-A0B4-DAE001DB4FC6}"/>
              </a:ext>
            </a:extLst>
          </p:cNvPr>
          <p:cNvSpPr>
            <a:spLocks noGrp="1"/>
          </p:cNvSpPr>
          <p:nvPr>
            <p:ph type="sldNum" sz="quarter" idx="5"/>
          </p:nvPr>
        </p:nvSpPr>
        <p:spPr/>
        <p:txBody>
          <a:bodyPr/>
          <a:lstStyle/>
          <a:p>
            <a:fld id="{CFE641A9-FDE3-4583-B812-65C4064188F6}" type="slidenum">
              <a:rPr lang="en-CA" smtClean="0"/>
              <a:t>15</a:t>
            </a:fld>
            <a:endParaRPr lang="en-CA"/>
          </a:p>
        </p:txBody>
      </p:sp>
    </p:spTree>
    <p:extLst>
      <p:ext uri="{BB962C8B-B14F-4D97-AF65-F5344CB8AC3E}">
        <p14:creationId xmlns:p14="http://schemas.microsoft.com/office/powerpoint/2010/main" val="36613400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E641A9-FDE3-4583-B812-65C4064188F6}" type="slidenum">
              <a:rPr lang="en-CA" smtClean="0"/>
              <a:t>16</a:t>
            </a:fld>
            <a:endParaRPr lang="en-CA"/>
          </a:p>
        </p:txBody>
      </p:sp>
    </p:spTree>
    <p:extLst>
      <p:ext uri="{BB962C8B-B14F-4D97-AF65-F5344CB8AC3E}">
        <p14:creationId xmlns:p14="http://schemas.microsoft.com/office/powerpoint/2010/main" val="38767184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Write a program that takes in a number for a user’s age. This input will determine which generation that person belongs to, and then print it.</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The program should repeatedly ask the user for a positive number. If they enter a negative number, then an error should print. </a:t>
            </a:r>
          </a:p>
        </p:txBody>
      </p:sp>
      <p:sp>
        <p:nvSpPr>
          <p:cNvPr id="4" name="Slide Number Placeholder 3"/>
          <p:cNvSpPr>
            <a:spLocks noGrp="1"/>
          </p:cNvSpPr>
          <p:nvPr>
            <p:ph type="sldNum" sz="quarter" idx="5"/>
          </p:nvPr>
        </p:nvSpPr>
        <p:spPr/>
        <p:txBody>
          <a:bodyPr/>
          <a:lstStyle/>
          <a:p>
            <a:fld id="{CFE641A9-FDE3-4583-B812-65C4064188F6}" type="slidenum">
              <a:rPr lang="en-CA" smtClean="0"/>
              <a:t>17</a:t>
            </a:fld>
            <a:endParaRPr lang="en-CA"/>
          </a:p>
        </p:txBody>
      </p:sp>
    </p:spTree>
    <p:extLst>
      <p:ext uri="{BB962C8B-B14F-4D97-AF65-F5344CB8AC3E}">
        <p14:creationId xmlns:p14="http://schemas.microsoft.com/office/powerpoint/2010/main" val="42663320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A2B9A-2A57-F1F6-EA43-61FD2F4B9A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5DE391-B5EA-E836-D7D6-183E18598C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A66A04-51D9-1B61-3F27-CBA78AAEB7B5}"/>
              </a:ext>
            </a:extLst>
          </p:cNvPr>
          <p:cNvSpPr>
            <a:spLocks noGrp="1"/>
          </p:cNvSpPr>
          <p:nvPr>
            <p:ph type="body" idx="1"/>
          </p:nvPr>
        </p:nvSpPr>
        <p:spPr/>
        <p:txBody>
          <a:bodyPr/>
          <a:lstStyle/>
          <a:p>
            <a:r>
              <a:rPr lang="en-CA" sz="1200" b="0" i="0" kern="1200" dirty="0">
                <a:solidFill>
                  <a:schemeClr val="tx1"/>
                </a:solidFill>
                <a:effectLst/>
                <a:latin typeface="+mn-lt"/>
                <a:ea typeface="+mn-ea"/>
                <a:cs typeface="+mn-cs"/>
              </a:rPr>
              <a:t>If the age is over 60, then the user is a Baby Boomer. </a:t>
            </a:r>
          </a:p>
          <a:p>
            <a:r>
              <a:rPr lang="en-CA" sz="1200" b="0" i="0" kern="1200" dirty="0">
                <a:solidFill>
                  <a:schemeClr val="tx1"/>
                </a:solidFill>
                <a:effectLst/>
                <a:latin typeface="+mn-lt"/>
                <a:ea typeface="+mn-ea"/>
                <a:cs typeface="+mn-cs"/>
              </a:rPr>
              <a:t>If they are 45-60 they are Gen X. </a:t>
            </a:r>
          </a:p>
          <a:p>
            <a:r>
              <a:rPr lang="en-CA" sz="1200" b="0" i="0" kern="1200" dirty="0">
                <a:solidFill>
                  <a:schemeClr val="tx1"/>
                </a:solidFill>
                <a:effectLst/>
                <a:latin typeface="+mn-lt"/>
                <a:ea typeface="+mn-ea"/>
                <a:cs typeface="+mn-cs"/>
              </a:rPr>
              <a:t>If they are 29-44 they are Millennials. </a:t>
            </a:r>
          </a:p>
          <a:p>
            <a:r>
              <a:rPr lang="en-CA" sz="1200" b="0" i="0" kern="1200" dirty="0">
                <a:solidFill>
                  <a:schemeClr val="tx1"/>
                </a:solidFill>
                <a:effectLst/>
                <a:latin typeface="+mn-lt"/>
                <a:ea typeface="+mn-ea"/>
                <a:cs typeface="+mn-cs"/>
              </a:rPr>
              <a:t>If they are 13-28 they are Gen Z. </a:t>
            </a:r>
          </a:p>
          <a:p>
            <a:r>
              <a:rPr lang="en-CA" sz="1200" b="0" i="0" kern="1200" dirty="0">
                <a:solidFill>
                  <a:schemeClr val="tx1"/>
                </a:solidFill>
                <a:effectLst/>
                <a:latin typeface="+mn-lt"/>
                <a:ea typeface="+mn-ea"/>
                <a:cs typeface="+mn-cs"/>
              </a:rPr>
              <a:t>Otherwise, they are Gen Alpha.</a:t>
            </a:r>
            <a:endParaRPr lang="en-CA" dirty="0"/>
          </a:p>
          <a:p>
            <a:endParaRPr lang="en-CA" dirty="0"/>
          </a:p>
        </p:txBody>
      </p:sp>
      <p:sp>
        <p:nvSpPr>
          <p:cNvPr id="4" name="Slide Number Placeholder 3">
            <a:extLst>
              <a:ext uri="{FF2B5EF4-FFF2-40B4-BE49-F238E27FC236}">
                <a16:creationId xmlns:a16="http://schemas.microsoft.com/office/drawing/2014/main" id="{40DE353A-E1FA-0C57-838F-1A5579C7E14C}"/>
              </a:ext>
            </a:extLst>
          </p:cNvPr>
          <p:cNvSpPr>
            <a:spLocks noGrp="1"/>
          </p:cNvSpPr>
          <p:nvPr>
            <p:ph type="sldNum" sz="quarter" idx="5"/>
          </p:nvPr>
        </p:nvSpPr>
        <p:spPr/>
        <p:txBody>
          <a:bodyPr/>
          <a:lstStyle/>
          <a:p>
            <a:fld id="{CFE641A9-FDE3-4583-B812-65C4064188F6}" type="slidenum">
              <a:rPr lang="en-CA" smtClean="0"/>
              <a:t>18</a:t>
            </a:fld>
            <a:endParaRPr lang="en-CA"/>
          </a:p>
        </p:txBody>
      </p:sp>
    </p:spTree>
    <p:extLst>
      <p:ext uri="{BB962C8B-B14F-4D97-AF65-F5344CB8AC3E}">
        <p14:creationId xmlns:p14="http://schemas.microsoft.com/office/powerpoint/2010/main" val="42252803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4154B-79DE-DBAB-FCFF-14379373D4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91D7D8-5C60-5E55-3443-9FE68477FF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62C978-BA25-666B-862D-A9E49CE0F21E}"/>
              </a:ext>
            </a:extLst>
          </p:cNvPr>
          <p:cNvSpPr>
            <a:spLocks noGrp="1"/>
          </p:cNvSpPr>
          <p:nvPr>
            <p:ph type="body" idx="1"/>
          </p:nvPr>
        </p:nvSpPr>
        <p:spPr/>
        <p:txBody>
          <a:bodyPr/>
          <a:lstStyle/>
          <a:p>
            <a:r>
              <a:rPr lang="en-CA" sz="1200" b="0" i="0" kern="1200" dirty="0">
                <a:solidFill>
                  <a:schemeClr val="tx1"/>
                </a:solidFill>
                <a:effectLst/>
                <a:latin typeface="+mn-lt"/>
                <a:ea typeface="+mn-ea"/>
                <a:cs typeface="+mn-cs"/>
              </a:rPr>
              <a:t>Here is a solution with errors: (PAUSE)</a:t>
            </a:r>
          </a:p>
          <a:p>
            <a:endParaRPr lang="en-CA" sz="1200" b="0" i="0" kern="1200" dirty="0">
              <a:solidFill>
                <a:schemeClr val="tx1"/>
              </a:solidFill>
              <a:effectLst/>
              <a:latin typeface="+mn-lt"/>
              <a:ea typeface="+mn-ea"/>
              <a:cs typeface="+mn-cs"/>
            </a:endParaRPr>
          </a:p>
          <a:p>
            <a:pPr rtl="0"/>
            <a:r>
              <a:rPr lang="en-CA" sz="1200" kern="1200" dirty="0">
                <a:solidFill>
                  <a:schemeClr val="tx1"/>
                </a:solidFill>
                <a:effectLst/>
                <a:latin typeface="+mn-lt"/>
                <a:ea typeface="+mn-ea"/>
                <a:cs typeface="+mn-cs"/>
              </a:rPr>
              <a:t>There are a number of problems with this solution. Some are logical and will affect the functionality of the program. </a:t>
            </a:r>
          </a:p>
          <a:p>
            <a:pPr rtl="0"/>
            <a:r>
              <a:rPr lang="en-CA" sz="1200" kern="1200" dirty="0">
                <a:solidFill>
                  <a:schemeClr val="tx1"/>
                </a:solidFill>
                <a:effectLst/>
                <a:latin typeface="+mn-lt"/>
                <a:ea typeface="+mn-ea"/>
                <a:cs typeface="+mn-cs"/>
              </a:rPr>
              <a:t>Some are best practices and although they will not affect the actual functionality, quality is compromised and during refinement should be addressed.</a:t>
            </a:r>
            <a:br>
              <a:rPr lang="en-CA" dirty="0">
                <a:effectLst/>
              </a:rPr>
            </a:br>
            <a:endParaRPr lang="en-CA" dirty="0">
              <a:effectLst/>
            </a:endParaRPr>
          </a:p>
          <a:p>
            <a:pPr rtl="0"/>
            <a:r>
              <a:rPr lang="en-CA" sz="1200" kern="1200" dirty="0">
                <a:solidFill>
                  <a:schemeClr val="tx1"/>
                </a:solidFill>
                <a:effectLst/>
                <a:latin typeface="+mn-lt"/>
                <a:ea typeface="+mn-ea"/>
                <a:cs typeface="+mn-cs"/>
              </a:rPr>
              <a:t>Let’s start by identifying the inputs, processes, outputs, and constraints:</a:t>
            </a:r>
            <a:br>
              <a:rPr lang="en-CA" dirty="0">
                <a:effectLst/>
              </a:rPr>
            </a:br>
            <a:br>
              <a:rPr lang="en-CA" sz="1200" b="0" i="0" kern="1200" dirty="0">
                <a:solidFill>
                  <a:schemeClr val="tx1"/>
                </a:solidFill>
                <a:effectLst/>
                <a:latin typeface="+mn-lt"/>
                <a:ea typeface="+mn-ea"/>
                <a:cs typeface="+mn-cs"/>
              </a:rPr>
            </a:br>
            <a:endParaRPr lang="en-CA" dirty="0">
              <a:effectLst/>
            </a:endParaRPr>
          </a:p>
          <a:p>
            <a:endParaRPr lang="en-CA" dirty="0"/>
          </a:p>
        </p:txBody>
      </p:sp>
      <p:sp>
        <p:nvSpPr>
          <p:cNvPr id="4" name="Slide Number Placeholder 3">
            <a:extLst>
              <a:ext uri="{FF2B5EF4-FFF2-40B4-BE49-F238E27FC236}">
                <a16:creationId xmlns:a16="http://schemas.microsoft.com/office/drawing/2014/main" id="{5D1EBD44-A194-1275-DB08-69013BEEAA86}"/>
              </a:ext>
            </a:extLst>
          </p:cNvPr>
          <p:cNvSpPr>
            <a:spLocks noGrp="1"/>
          </p:cNvSpPr>
          <p:nvPr>
            <p:ph type="sldNum" sz="quarter" idx="5"/>
          </p:nvPr>
        </p:nvSpPr>
        <p:spPr/>
        <p:txBody>
          <a:bodyPr/>
          <a:lstStyle/>
          <a:p>
            <a:fld id="{CFE641A9-FDE3-4583-B812-65C4064188F6}" type="slidenum">
              <a:rPr lang="en-CA" smtClean="0"/>
              <a:t>19</a:t>
            </a:fld>
            <a:endParaRPr lang="en-CA"/>
          </a:p>
        </p:txBody>
      </p:sp>
    </p:spTree>
    <p:extLst>
      <p:ext uri="{BB962C8B-B14F-4D97-AF65-F5344CB8AC3E}">
        <p14:creationId xmlns:p14="http://schemas.microsoft.com/office/powerpoint/2010/main" val="16816826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82338-3D94-70ED-4797-8CF6114E6C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308106-411E-5441-F34C-CFE0C45F99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AB6C3D-5DA1-3FC9-3207-D279A9169805}"/>
              </a:ext>
            </a:extLst>
          </p:cNvPr>
          <p:cNvSpPr>
            <a:spLocks noGrp="1"/>
          </p:cNvSpPr>
          <p:nvPr>
            <p:ph type="body" idx="1"/>
          </p:nvPr>
        </p:nvSpPr>
        <p:spPr/>
        <p:txBody>
          <a:bodyPr/>
          <a:lstStyle/>
          <a:p>
            <a:pPr rtl="0"/>
            <a:r>
              <a:rPr lang="en-CA" sz="1200" b="0" i="0" kern="1200" dirty="0">
                <a:solidFill>
                  <a:schemeClr val="tx1"/>
                </a:solidFill>
                <a:effectLst/>
                <a:latin typeface="+mn-lt"/>
                <a:ea typeface="+mn-ea"/>
                <a:cs typeface="+mn-cs"/>
              </a:rPr>
              <a:t>Let’s start by identifying the inputs, processes, outputs, and constraints:</a:t>
            </a:r>
          </a:p>
          <a:p>
            <a:pPr rtl="0"/>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Input</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o User’s age</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Processes</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o Conditionals based on the age</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o Validation of user input, error message on negative number</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o Repeatedly ask user for input until a positive number is given</a:t>
            </a:r>
          </a:p>
          <a:p>
            <a:pPr rtl="0"/>
            <a:r>
              <a:rPr lang="en-CA" sz="1200" b="0" i="0" kern="1200" dirty="0">
                <a:solidFill>
                  <a:schemeClr val="tx1"/>
                </a:solidFill>
                <a:effectLst/>
                <a:latin typeface="+mn-lt"/>
                <a:ea typeface="+mn-ea"/>
                <a:cs typeface="+mn-cs"/>
              </a:rPr>
              <a:t> Output</a:t>
            </a:r>
          </a:p>
          <a:p>
            <a:pPr rtl="0"/>
            <a:r>
              <a:rPr lang="en-CA" sz="1200" b="0" i="0" kern="1200" dirty="0">
                <a:solidFill>
                  <a:schemeClr val="tx1"/>
                </a:solidFill>
                <a:effectLst/>
                <a:latin typeface="+mn-lt"/>
                <a:ea typeface="+mn-ea"/>
                <a:cs typeface="+mn-cs"/>
              </a:rPr>
              <a:t>	o Message displaying the user’s generation</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Constraints</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o Age must be greater than 0</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o Baby Boomers are older than 60</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o Gen X is 45-60</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o Millennials are 29-44</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o Gen Z is 13-28</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o Gen Alpha is younger than 13</a:t>
            </a:r>
          </a:p>
          <a:p>
            <a:pPr rtl="0"/>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Now that we have identified the requirements, let’s break down the solution into smaller pieces starting from the top. We will first look at the age input.</a:t>
            </a:r>
          </a:p>
          <a:p>
            <a:endParaRPr lang="en-CA" dirty="0"/>
          </a:p>
        </p:txBody>
      </p:sp>
      <p:sp>
        <p:nvSpPr>
          <p:cNvPr id="4" name="Slide Number Placeholder 3">
            <a:extLst>
              <a:ext uri="{FF2B5EF4-FFF2-40B4-BE49-F238E27FC236}">
                <a16:creationId xmlns:a16="http://schemas.microsoft.com/office/drawing/2014/main" id="{BF5794C1-6C93-F824-3B9C-D7C2BE0F6A41}"/>
              </a:ext>
            </a:extLst>
          </p:cNvPr>
          <p:cNvSpPr>
            <a:spLocks noGrp="1"/>
          </p:cNvSpPr>
          <p:nvPr>
            <p:ph type="sldNum" sz="quarter" idx="5"/>
          </p:nvPr>
        </p:nvSpPr>
        <p:spPr/>
        <p:txBody>
          <a:bodyPr/>
          <a:lstStyle/>
          <a:p>
            <a:fld id="{CFE641A9-FDE3-4583-B812-65C4064188F6}" type="slidenum">
              <a:rPr lang="en-CA" smtClean="0"/>
              <a:t>21</a:t>
            </a:fld>
            <a:endParaRPr lang="en-CA"/>
          </a:p>
        </p:txBody>
      </p:sp>
    </p:spTree>
    <p:extLst>
      <p:ext uri="{BB962C8B-B14F-4D97-AF65-F5344CB8AC3E}">
        <p14:creationId xmlns:p14="http://schemas.microsoft.com/office/powerpoint/2010/main" val="26451457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E7354-C7F9-B447-15C5-CC968E84EC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46A647-C4DB-108F-5510-995097E4A1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9D00AA-4874-EA4C-4429-ED4F1D8BBE14}"/>
              </a:ext>
            </a:extLst>
          </p:cNvPr>
          <p:cNvSpPr>
            <a:spLocks noGrp="1"/>
          </p:cNvSpPr>
          <p:nvPr>
            <p:ph type="body" idx="1"/>
          </p:nvPr>
        </p:nvSpPr>
        <p:spPr/>
        <p:txBody>
          <a:bodyPr/>
          <a:lstStyle/>
          <a:p>
            <a:pPr rtl="0"/>
            <a:r>
              <a:rPr lang="en-CA" sz="1200" kern="1200" dirty="0">
                <a:solidFill>
                  <a:schemeClr val="tx1"/>
                </a:solidFill>
                <a:effectLst/>
                <a:latin typeface="+mn-lt"/>
                <a:ea typeface="+mn-ea"/>
                <a:cs typeface="+mn-cs"/>
              </a:rPr>
              <a:t>Debugging -Age Input</a:t>
            </a:r>
          </a:p>
          <a:p>
            <a:pPr rtl="0"/>
            <a:endParaRPr lang="en-CA" sz="1200" kern="1200" dirty="0">
              <a:solidFill>
                <a:schemeClr val="tx1"/>
              </a:solidFill>
              <a:effectLst/>
              <a:latin typeface="+mn-lt"/>
              <a:ea typeface="+mn-ea"/>
              <a:cs typeface="+mn-cs"/>
            </a:endParaRPr>
          </a:p>
          <a:p>
            <a:pPr rtl="0"/>
            <a:r>
              <a:rPr lang="en-CA" sz="1200" kern="1200" dirty="0">
                <a:solidFill>
                  <a:schemeClr val="tx1"/>
                </a:solidFill>
                <a:effectLst/>
                <a:latin typeface="+mn-lt"/>
                <a:ea typeface="+mn-ea"/>
                <a:cs typeface="+mn-cs"/>
              </a:rPr>
              <a:t>By comparing this pseudocode to the problem statement, we can tell that this is where we are getting the user’s age. </a:t>
            </a:r>
          </a:p>
          <a:p>
            <a:pPr rtl="0"/>
            <a:r>
              <a:rPr lang="en-CA" sz="1200" kern="1200" dirty="0">
                <a:solidFill>
                  <a:schemeClr val="tx1"/>
                </a:solidFill>
                <a:effectLst/>
                <a:latin typeface="+mn-lt"/>
                <a:ea typeface="+mn-ea"/>
                <a:cs typeface="+mn-cs"/>
              </a:rPr>
              <a:t>Let's revisit the requirements and see which are related to the user’s age:</a:t>
            </a:r>
          </a:p>
          <a:p>
            <a:pPr rtl="0"/>
            <a:br>
              <a:rPr lang="en-CA" dirty="0">
                <a:effectLst/>
              </a:rPr>
            </a:br>
            <a:r>
              <a:rPr lang="en-CA" sz="1200" kern="1200" dirty="0">
                <a:solidFill>
                  <a:schemeClr val="tx1"/>
                </a:solidFill>
                <a:effectLst/>
                <a:latin typeface="+mn-lt"/>
                <a:ea typeface="+mn-ea"/>
                <a:cs typeface="+mn-cs"/>
              </a:rPr>
              <a:t> INPUT: user’s age</a:t>
            </a:r>
            <a:br>
              <a:rPr lang="en-CA" dirty="0">
                <a:effectLst/>
              </a:rPr>
            </a:br>
            <a:r>
              <a:rPr lang="en-CA" sz="1200" kern="1200" dirty="0">
                <a:solidFill>
                  <a:schemeClr val="tx1"/>
                </a:solidFill>
                <a:effectLst/>
                <a:latin typeface="+mn-lt"/>
                <a:ea typeface="+mn-ea"/>
                <a:cs typeface="+mn-cs"/>
              </a:rPr>
              <a:t> Validation of user input, error message on negative number</a:t>
            </a:r>
            <a:br>
              <a:rPr lang="en-CA" dirty="0">
                <a:effectLst/>
              </a:rPr>
            </a:br>
            <a:r>
              <a:rPr lang="en-CA" sz="1200" kern="1200" dirty="0">
                <a:solidFill>
                  <a:schemeClr val="tx1"/>
                </a:solidFill>
                <a:effectLst/>
                <a:latin typeface="+mn-lt"/>
                <a:ea typeface="+mn-ea"/>
                <a:cs typeface="+mn-cs"/>
              </a:rPr>
              <a:t> Repeatedly ask user for input until a positive number is given</a:t>
            </a:r>
            <a:br>
              <a:rPr lang="en-CA" dirty="0">
                <a:effectLst/>
              </a:rPr>
            </a:br>
            <a:r>
              <a:rPr lang="en-CA" sz="1200" kern="1200" dirty="0">
                <a:solidFill>
                  <a:schemeClr val="tx1"/>
                </a:solidFill>
                <a:effectLst/>
                <a:latin typeface="+mn-lt"/>
                <a:ea typeface="+mn-ea"/>
                <a:cs typeface="+mn-cs"/>
              </a:rPr>
              <a:t> Age must be greater than 0</a:t>
            </a:r>
          </a:p>
          <a:p>
            <a:pPr rtl="0"/>
            <a:br>
              <a:rPr lang="en-CA" dirty="0">
                <a:effectLst/>
              </a:rPr>
            </a:br>
            <a:r>
              <a:rPr lang="en-CA" sz="1200" kern="1200" dirty="0">
                <a:solidFill>
                  <a:schemeClr val="tx1"/>
                </a:solidFill>
                <a:effectLst/>
                <a:latin typeface="+mn-lt"/>
                <a:ea typeface="+mn-ea"/>
                <a:cs typeface="+mn-cs"/>
              </a:rPr>
              <a:t>Looking at the first point, we need to get an input from the user for their age.</a:t>
            </a:r>
            <a:br>
              <a:rPr lang="en-CA" dirty="0">
                <a:effectLst/>
              </a:rPr>
            </a:br>
            <a:r>
              <a:rPr lang="en-CA" sz="1200" kern="1200" dirty="0">
                <a:solidFill>
                  <a:schemeClr val="tx1"/>
                </a:solidFill>
                <a:effectLst/>
                <a:latin typeface="+mn-lt"/>
                <a:ea typeface="+mn-ea"/>
                <a:cs typeface="+mn-cs"/>
              </a:rPr>
              <a:t>We do have the INPUT age statement, which is good. We can also DECLARE the variable before using it with INPUT, but it is not required. I just mention this because it IS done in this example. </a:t>
            </a:r>
            <a:br>
              <a:rPr lang="en-CA" sz="1200" b="0" i="0" kern="1200" dirty="0">
                <a:solidFill>
                  <a:schemeClr val="tx1"/>
                </a:solidFill>
                <a:effectLst/>
                <a:latin typeface="+mn-lt"/>
                <a:ea typeface="+mn-ea"/>
                <a:cs typeface="+mn-cs"/>
              </a:rPr>
            </a:br>
            <a:endParaRPr lang="en-CA" dirty="0">
              <a:effectLst/>
            </a:endParaRPr>
          </a:p>
          <a:p>
            <a:endParaRPr lang="en-CA" dirty="0"/>
          </a:p>
        </p:txBody>
      </p:sp>
      <p:sp>
        <p:nvSpPr>
          <p:cNvPr id="4" name="Slide Number Placeholder 3">
            <a:extLst>
              <a:ext uri="{FF2B5EF4-FFF2-40B4-BE49-F238E27FC236}">
                <a16:creationId xmlns:a16="http://schemas.microsoft.com/office/drawing/2014/main" id="{FB5E3EAC-3D92-DD4B-EB12-F7AEE2D3B38D}"/>
              </a:ext>
            </a:extLst>
          </p:cNvPr>
          <p:cNvSpPr>
            <a:spLocks noGrp="1"/>
          </p:cNvSpPr>
          <p:nvPr>
            <p:ph type="sldNum" sz="quarter" idx="5"/>
          </p:nvPr>
        </p:nvSpPr>
        <p:spPr/>
        <p:txBody>
          <a:bodyPr/>
          <a:lstStyle/>
          <a:p>
            <a:fld id="{CFE641A9-FDE3-4583-B812-65C4064188F6}" type="slidenum">
              <a:rPr lang="en-CA" smtClean="0"/>
              <a:t>22</a:t>
            </a:fld>
            <a:endParaRPr lang="en-CA"/>
          </a:p>
        </p:txBody>
      </p:sp>
    </p:spTree>
    <p:extLst>
      <p:ext uri="{BB962C8B-B14F-4D97-AF65-F5344CB8AC3E}">
        <p14:creationId xmlns:p14="http://schemas.microsoft.com/office/powerpoint/2010/main" val="13234248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D0C1D-1553-D4C5-98D5-F66570EB61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4F6A91-EAF1-2448-E7D9-3ACF8F8F80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AF1C73-F736-80BC-F426-3F3DB7636F1A}"/>
              </a:ext>
            </a:extLst>
          </p:cNvPr>
          <p:cNvSpPr>
            <a:spLocks noGrp="1"/>
          </p:cNvSpPr>
          <p:nvPr>
            <p:ph type="body" idx="1"/>
          </p:nvPr>
        </p:nvSpPr>
        <p:spPr/>
        <p:txBody>
          <a:bodyPr/>
          <a:lstStyle/>
          <a:p>
            <a:r>
              <a:rPr lang="en-CA" sz="1200" b="0" i="0" kern="1200" dirty="0">
                <a:solidFill>
                  <a:schemeClr val="tx1"/>
                </a:solidFill>
                <a:effectLst/>
                <a:latin typeface="+mn-lt"/>
                <a:ea typeface="+mn-ea"/>
                <a:cs typeface="+mn-cs"/>
              </a:rPr>
              <a:t>Next, to address the second point....validation of the user INPUT. So, IF the number they entered is less than 0, we want to print an error message. </a:t>
            </a:r>
          </a:p>
          <a:p>
            <a:r>
              <a:rPr lang="en-CA" sz="1200" b="0" i="0" kern="1200" dirty="0">
                <a:solidFill>
                  <a:schemeClr val="tx1"/>
                </a:solidFill>
                <a:effectLst/>
                <a:latin typeface="+mn-lt"/>
                <a:ea typeface="+mn-ea"/>
                <a:cs typeface="+mn-cs"/>
              </a:rPr>
              <a:t>This requires an IF-THEN statement, which we have. We also have a PRINT statement that will print a message. </a:t>
            </a:r>
          </a:p>
          <a:p>
            <a:r>
              <a:rPr lang="en-CA" sz="1200" b="0" i="0" kern="1200" dirty="0">
                <a:solidFill>
                  <a:schemeClr val="tx1"/>
                </a:solidFill>
                <a:effectLst/>
                <a:latin typeface="+mn-lt"/>
                <a:ea typeface="+mn-ea"/>
                <a:cs typeface="+mn-cs"/>
              </a:rPr>
              <a:t>But, if we look at the logic in the IF-THEN statement, we see that the error would print if the INPUTTED age is GREATER THAN zero, not less than or equal to (which is what it should be).</a:t>
            </a:r>
          </a:p>
          <a:p>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a:t>
            </a:r>
          </a:p>
          <a:p>
            <a:pPr rtl="0"/>
            <a:r>
              <a:rPr lang="en-CA" sz="1200" kern="1200" dirty="0">
                <a:solidFill>
                  <a:schemeClr val="tx1"/>
                </a:solidFill>
                <a:effectLst/>
                <a:latin typeface="+mn-lt"/>
                <a:ea typeface="+mn-ea"/>
                <a:cs typeface="+mn-cs"/>
              </a:rPr>
              <a:t>Let's revisit the requirements and see which are related to the user’s age:</a:t>
            </a:r>
          </a:p>
          <a:p>
            <a:pPr rtl="0"/>
            <a:br>
              <a:rPr lang="en-CA" dirty="0">
                <a:effectLst/>
              </a:rPr>
            </a:br>
            <a:r>
              <a:rPr lang="en-CA" sz="1200" kern="1200" dirty="0">
                <a:solidFill>
                  <a:schemeClr val="tx1"/>
                </a:solidFill>
                <a:effectLst/>
                <a:latin typeface="+mn-lt"/>
                <a:ea typeface="+mn-ea"/>
                <a:cs typeface="+mn-cs"/>
              </a:rPr>
              <a:t> INPUT: user’s age</a:t>
            </a:r>
            <a:br>
              <a:rPr lang="en-CA" dirty="0">
                <a:effectLst/>
              </a:rPr>
            </a:br>
            <a:r>
              <a:rPr lang="en-CA" sz="1200" kern="1200" dirty="0">
                <a:solidFill>
                  <a:schemeClr val="tx1"/>
                </a:solidFill>
                <a:effectLst/>
                <a:latin typeface="+mn-lt"/>
                <a:ea typeface="+mn-ea"/>
                <a:cs typeface="+mn-cs"/>
              </a:rPr>
              <a:t> Validation of user input, error message on negative number</a:t>
            </a:r>
            <a:br>
              <a:rPr lang="en-CA" dirty="0">
                <a:effectLst/>
              </a:rPr>
            </a:br>
            <a:r>
              <a:rPr lang="en-CA" sz="1200" kern="1200" dirty="0">
                <a:solidFill>
                  <a:schemeClr val="tx1"/>
                </a:solidFill>
                <a:effectLst/>
                <a:latin typeface="+mn-lt"/>
                <a:ea typeface="+mn-ea"/>
                <a:cs typeface="+mn-cs"/>
              </a:rPr>
              <a:t> Repeatedly ask user for input until a positive number is given</a:t>
            </a:r>
            <a:br>
              <a:rPr lang="en-CA" dirty="0">
                <a:effectLst/>
              </a:rPr>
            </a:br>
            <a:r>
              <a:rPr lang="en-CA" sz="1200" kern="1200" dirty="0">
                <a:solidFill>
                  <a:schemeClr val="tx1"/>
                </a:solidFill>
                <a:effectLst/>
                <a:latin typeface="+mn-lt"/>
                <a:ea typeface="+mn-ea"/>
                <a:cs typeface="+mn-cs"/>
              </a:rPr>
              <a:t> Age must be greater than 0</a:t>
            </a:r>
          </a:p>
          <a:p>
            <a:r>
              <a:rPr lang="en-CA" sz="1200" b="0" i="0" kern="1200" dirty="0">
                <a:solidFill>
                  <a:schemeClr val="tx1"/>
                </a:solidFill>
                <a:effectLst/>
                <a:latin typeface="+mn-lt"/>
                <a:ea typeface="+mn-ea"/>
                <a:cs typeface="+mn-cs"/>
              </a:rPr>
              <a:t> age entered is greater than 0, not less than or equal to.</a:t>
            </a:r>
            <a:endParaRPr lang="en-CA" dirty="0"/>
          </a:p>
        </p:txBody>
      </p:sp>
      <p:sp>
        <p:nvSpPr>
          <p:cNvPr id="4" name="Slide Number Placeholder 3">
            <a:extLst>
              <a:ext uri="{FF2B5EF4-FFF2-40B4-BE49-F238E27FC236}">
                <a16:creationId xmlns:a16="http://schemas.microsoft.com/office/drawing/2014/main" id="{BD86B0A1-B55D-EF08-537C-30766EE5D52A}"/>
              </a:ext>
            </a:extLst>
          </p:cNvPr>
          <p:cNvSpPr>
            <a:spLocks noGrp="1"/>
          </p:cNvSpPr>
          <p:nvPr>
            <p:ph type="sldNum" sz="quarter" idx="5"/>
          </p:nvPr>
        </p:nvSpPr>
        <p:spPr/>
        <p:txBody>
          <a:bodyPr/>
          <a:lstStyle/>
          <a:p>
            <a:fld id="{CFE641A9-FDE3-4583-B812-65C4064188F6}" type="slidenum">
              <a:rPr lang="en-CA" smtClean="0"/>
              <a:t>23</a:t>
            </a:fld>
            <a:endParaRPr lang="en-CA"/>
          </a:p>
        </p:txBody>
      </p:sp>
    </p:spTree>
    <p:extLst>
      <p:ext uri="{BB962C8B-B14F-4D97-AF65-F5344CB8AC3E}">
        <p14:creationId xmlns:p14="http://schemas.microsoft.com/office/powerpoint/2010/main" val="28325508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A4CEE-F232-B558-019D-5E5919D2EE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ED4980-F03F-8B2F-E9AC-D4F31F14C2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017158-A138-1A54-EF24-F77029D1B1A0}"/>
              </a:ext>
            </a:extLst>
          </p:cNvPr>
          <p:cNvSpPr>
            <a:spLocks noGrp="1"/>
          </p:cNvSpPr>
          <p:nvPr>
            <p:ph type="body" idx="1"/>
          </p:nvPr>
        </p:nvSpPr>
        <p:spPr/>
        <p:txBody>
          <a:bodyPr/>
          <a:lstStyle/>
          <a:p>
            <a:r>
              <a:rPr lang="en-CA" sz="1200" b="0" i="0" kern="1200" dirty="0">
                <a:solidFill>
                  <a:schemeClr val="tx1"/>
                </a:solidFill>
                <a:effectLst/>
                <a:latin typeface="+mn-lt"/>
                <a:ea typeface="+mn-ea"/>
                <a:cs typeface="+mn-cs"/>
              </a:rPr>
              <a:t>To fix this, we simply change the “greater than” symbol to a “less than or equal to” symbol.</a:t>
            </a:r>
          </a:p>
          <a:p>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a:t>
            </a:r>
          </a:p>
          <a:p>
            <a:pPr rtl="0"/>
            <a:r>
              <a:rPr lang="en-CA" sz="1200" kern="1200" dirty="0">
                <a:solidFill>
                  <a:schemeClr val="tx1"/>
                </a:solidFill>
                <a:effectLst/>
                <a:latin typeface="+mn-lt"/>
                <a:ea typeface="+mn-ea"/>
                <a:cs typeface="+mn-cs"/>
              </a:rPr>
              <a:t>Let's revisit the requirements and see which are related to the user’s age:</a:t>
            </a:r>
          </a:p>
          <a:p>
            <a:pPr rtl="0"/>
            <a:br>
              <a:rPr lang="en-CA" dirty="0">
                <a:effectLst/>
              </a:rPr>
            </a:br>
            <a:r>
              <a:rPr lang="en-CA" sz="1200" kern="1200" dirty="0">
                <a:solidFill>
                  <a:schemeClr val="tx1"/>
                </a:solidFill>
                <a:effectLst/>
                <a:latin typeface="+mn-lt"/>
                <a:ea typeface="+mn-ea"/>
                <a:cs typeface="+mn-cs"/>
              </a:rPr>
              <a:t> INPUT: user’s age</a:t>
            </a:r>
            <a:br>
              <a:rPr lang="en-CA" dirty="0">
                <a:effectLst/>
              </a:rPr>
            </a:br>
            <a:r>
              <a:rPr lang="en-CA" sz="1200" kern="1200" dirty="0">
                <a:solidFill>
                  <a:schemeClr val="tx1"/>
                </a:solidFill>
                <a:effectLst/>
                <a:latin typeface="+mn-lt"/>
                <a:ea typeface="+mn-ea"/>
                <a:cs typeface="+mn-cs"/>
              </a:rPr>
              <a:t> Validation of user input, error message on negative number</a:t>
            </a:r>
            <a:br>
              <a:rPr lang="en-CA" dirty="0">
                <a:effectLst/>
              </a:rPr>
            </a:br>
            <a:r>
              <a:rPr lang="en-CA" sz="1200" kern="1200" dirty="0">
                <a:solidFill>
                  <a:schemeClr val="tx1"/>
                </a:solidFill>
                <a:effectLst/>
                <a:latin typeface="+mn-lt"/>
                <a:ea typeface="+mn-ea"/>
                <a:cs typeface="+mn-cs"/>
              </a:rPr>
              <a:t> Repeatedly ask user for input until a positive number is given</a:t>
            </a:r>
            <a:br>
              <a:rPr lang="en-CA" dirty="0">
                <a:effectLst/>
              </a:rPr>
            </a:br>
            <a:r>
              <a:rPr lang="en-CA" sz="1200" kern="1200" dirty="0">
                <a:solidFill>
                  <a:schemeClr val="tx1"/>
                </a:solidFill>
                <a:effectLst/>
                <a:latin typeface="+mn-lt"/>
                <a:ea typeface="+mn-ea"/>
                <a:cs typeface="+mn-cs"/>
              </a:rPr>
              <a:t> Age must be greater than 0</a:t>
            </a:r>
          </a:p>
          <a:p>
            <a:endParaRPr lang="en-CA" dirty="0"/>
          </a:p>
        </p:txBody>
      </p:sp>
      <p:sp>
        <p:nvSpPr>
          <p:cNvPr id="4" name="Slide Number Placeholder 3">
            <a:extLst>
              <a:ext uri="{FF2B5EF4-FFF2-40B4-BE49-F238E27FC236}">
                <a16:creationId xmlns:a16="http://schemas.microsoft.com/office/drawing/2014/main" id="{48CD4930-29E1-01EE-E265-963A4DC26366}"/>
              </a:ext>
            </a:extLst>
          </p:cNvPr>
          <p:cNvSpPr>
            <a:spLocks noGrp="1"/>
          </p:cNvSpPr>
          <p:nvPr>
            <p:ph type="sldNum" sz="quarter" idx="5"/>
          </p:nvPr>
        </p:nvSpPr>
        <p:spPr/>
        <p:txBody>
          <a:bodyPr/>
          <a:lstStyle/>
          <a:p>
            <a:fld id="{CFE641A9-FDE3-4583-B812-65C4064188F6}" type="slidenum">
              <a:rPr lang="en-CA" smtClean="0"/>
              <a:t>24</a:t>
            </a:fld>
            <a:endParaRPr lang="en-CA"/>
          </a:p>
        </p:txBody>
      </p:sp>
    </p:spTree>
    <p:extLst>
      <p:ext uri="{BB962C8B-B14F-4D97-AF65-F5344CB8AC3E}">
        <p14:creationId xmlns:p14="http://schemas.microsoft.com/office/powerpoint/2010/main" val="10591641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91DDD-5BAA-B86D-EF78-E2F65F1BDD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38F671-F055-2010-FEC9-34C382209A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8DBD32-1D87-D2E5-4ED2-371E3D9A404C}"/>
              </a:ext>
            </a:extLst>
          </p:cNvPr>
          <p:cNvSpPr>
            <a:spLocks noGrp="1"/>
          </p:cNvSpPr>
          <p:nvPr>
            <p:ph type="body" idx="1"/>
          </p:nvPr>
        </p:nvSpPr>
        <p:spPr/>
        <p:txBody>
          <a:bodyPr/>
          <a:lstStyle/>
          <a:p>
            <a:pPr rtl="0"/>
            <a:r>
              <a:rPr lang="en-CA" sz="1200" kern="1200" dirty="0">
                <a:solidFill>
                  <a:schemeClr val="tx1"/>
                </a:solidFill>
                <a:effectLst/>
                <a:latin typeface="+mn-lt"/>
                <a:ea typeface="+mn-ea"/>
                <a:cs typeface="+mn-cs"/>
              </a:rPr>
              <a:t>Lastly, we check if the repetition is happening until the number is positive.</a:t>
            </a:r>
            <a:br>
              <a:rPr lang="en-CA" dirty="0">
                <a:effectLst/>
              </a:rPr>
            </a:br>
            <a:r>
              <a:rPr lang="en-CA" sz="1200" kern="1200" dirty="0">
                <a:solidFill>
                  <a:schemeClr val="tx1"/>
                </a:solidFill>
                <a:effectLst/>
                <a:latin typeface="+mn-lt"/>
                <a:ea typeface="+mn-ea"/>
                <a:cs typeface="+mn-cs"/>
              </a:rPr>
              <a:t>Our DO-UNTIL loop logic is checking &gt;= 0. 0 is not a positive number, so it should be updated to &gt; 0.</a:t>
            </a:r>
          </a:p>
          <a:p>
            <a:pPr rtl="0"/>
            <a:endParaRPr lang="en-CA" sz="1200" kern="1200" dirty="0">
              <a:solidFill>
                <a:schemeClr val="tx1"/>
              </a:solidFill>
              <a:effectLst/>
              <a:latin typeface="+mn-lt"/>
              <a:ea typeface="+mn-ea"/>
              <a:cs typeface="+mn-cs"/>
            </a:endParaRPr>
          </a:p>
          <a:p>
            <a:pPr rtl="0"/>
            <a:r>
              <a:rPr lang="en-CA" sz="1200" kern="1200" dirty="0">
                <a:solidFill>
                  <a:schemeClr val="tx1"/>
                </a:solidFill>
                <a:effectLst/>
                <a:latin typeface="+mn-lt"/>
                <a:ea typeface="+mn-ea"/>
                <a:cs typeface="+mn-cs"/>
              </a:rPr>
              <a:t>This small section is now complete and debugged.</a:t>
            </a:r>
            <a:endParaRPr lang="en-CA" dirty="0">
              <a:effectLst/>
            </a:endParaRPr>
          </a:p>
          <a:p>
            <a:pPr rtl="0"/>
            <a:br>
              <a:rPr lang="en-CA" sz="1200" b="0" i="0" kern="1200" dirty="0">
                <a:solidFill>
                  <a:schemeClr val="tx1"/>
                </a:solidFill>
                <a:effectLst/>
                <a:latin typeface="+mn-lt"/>
                <a:ea typeface="+mn-ea"/>
                <a:cs typeface="+mn-cs"/>
              </a:rPr>
            </a:br>
            <a:endParaRPr lang="en-CA" dirty="0">
              <a:effectLst/>
            </a:endParaRPr>
          </a:p>
          <a:p>
            <a:pPr rtl="0"/>
            <a:endParaRPr lang="en-CA" dirty="0">
              <a:effectLst/>
            </a:endParaRPr>
          </a:p>
          <a:p>
            <a:pPr rtl="0"/>
            <a:br>
              <a:rPr lang="en-CA" sz="1200" b="0" i="0" kern="1200" dirty="0">
                <a:solidFill>
                  <a:schemeClr val="tx1"/>
                </a:solidFill>
                <a:effectLst/>
                <a:latin typeface="+mn-lt"/>
                <a:ea typeface="+mn-ea"/>
                <a:cs typeface="+mn-cs"/>
              </a:rPr>
            </a:br>
            <a:endParaRPr lang="en-CA" dirty="0">
              <a:effectLst/>
            </a:endParaRPr>
          </a:p>
          <a:p>
            <a:endParaRPr lang="en-CA" dirty="0"/>
          </a:p>
        </p:txBody>
      </p:sp>
      <p:sp>
        <p:nvSpPr>
          <p:cNvPr id="4" name="Slide Number Placeholder 3">
            <a:extLst>
              <a:ext uri="{FF2B5EF4-FFF2-40B4-BE49-F238E27FC236}">
                <a16:creationId xmlns:a16="http://schemas.microsoft.com/office/drawing/2014/main" id="{4473D70D-B0C5-FBB7-E028-9B8B301FF302}"/>
              </a:ext>
            </a:extLst>
          </p:cNvPr>
          <p:cNvSpPr>
            <a:spLocks noGrp="1"/>
          </p:cNvSpPr>
          <p:nvPr>
            <p:ph type="sldNum" sz="quarter" idx="5"/>
          </p:nvPr>
        </p:nvSpPr>
        <p:spPr/>
        <p:txBody>
          <a:bodyPr/>
          <a:lstStyle/>
          <a:p>
            <a:fld id="{CFE641A9-FDE3-4583-B812-65C4064188F6}" type="slidenum">
              <a:rPr lang="en-CA" smtClean="0"/>
              <a:t>25</a:t>
            </a:fld>
            <a:endParaRPr lang="en-CA"/>
          </a:p>
        </p:txBody>
      </p:sp>
    </p:spTree>
    <p:extLst>
      <p:ext uri="{BB962C8B-B14F-4D97-AF65-F5344CB8AC3E}">
        <p14:creationId xmlns:p14="http://schemas.microsoft.com/office/powerpoint/2010/main" val="21606674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DA29C-589D-C26E-874A-7C661E3BFF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A65CA-2443-8881-CD40-2C0138323C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EB502A-65E8-4774-582F-0FCC487E3847}"/>
              </a:ext>
            </a:extLst>
          </p:cNvPr>
          <p:cNvSpPr>
            <a:spLocks noGrp="1"/>
          </p:cNvSpPr>
          <p:nvPr>
            <p:ph type="body" idx="1"/>
          </p:nvPr>
        </p:nvSpPr>
        <p:spPr/>
        <p:txBody>
          <a:bodyPr/>
          <a:lstStyle/>
          <a:p>
            <a:r>
              <a:rPr lang="en-CA" sz="1200" b="0" i="0" kern="1200" dirty="0">
                <a:solidFill>
                  <a:schemeClr val="tx1"/>
                </a:solidFill>
                <a:effectLst/>
                <a:latin typeface="+mn-lt"/>
                <a:ea typeface="+mn-ea"/>
                <a:cs typeface="+mn-cs"/>
              </a:rPr>
              <a:t>The second section of the solution is where we perform our logic based on the user input and determine which generation the user belongs to.</a:t>
            </a:r>
          </a:p>
          <a:p>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Let’s look at the problem statement and see which requirements relate to this part of the pseudocode:</a:t>
            </a:r>
          </a:p>
          <a:p>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OUTPUT: Message displaying the user’s generation</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Conditionals based on age</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Baby Boomers are older than 60</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Gen X is 45-60</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Millennials are 29-44</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Gen Z is 13-28</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Gen Alpha is younger than 13</a:t>
            </a:r>
            <a:endParaRPr lang="en-CA" dirty="0"/>
          </a:p>
        </p:txBody>
      </p:sp>
      <p:sp>
        <p:nvSpPr>
          <p:cNvPr id="4" name="Slide Number Placeholder 3">
            <a:extLst>
              <a:ext uri="{FF2B5EF4-FFF2-40B4-BE49-F238E27FC236}">
                <a16:creationId xmlns:a16="http://schemas.microsoft.com/office/drawing/2014/main" id="{97BE7178-28DC-8AEE-CEBE-E44F6C652140}"/>
              </a:ext>
            </a:extLst>
          </p:cNvPr>
          <p:cNvSpPr>
            <a:spLocks noGrp="1"/>
          </p:cNvSpPr>
          <p:nvPr>
            <p:ph type="sldNum" sz="quarter" idx="5"/>
          </p:nvPr>
        </p:nvSpPr>
        <p:spPr/>
        <p:txBody>
          <a:bodyPr/>
          <a:lstStyle/>
          <a:p>
            <a:fld id="{CFE641A9-FDE3-4583-B812-65C4064188F6}" type="slidenum">
              <a:rPr lang="en-CA" smtClean="0"/>
              <a:t>27</a:t>
            </a:fld>
            <a:endParaRPr lang="en-CA"/>
          </a:p>
        </p:txBody>
      </p:sp>
    </p:spTree>
    <p:extLst>
      <p:ext uri="{BB962C8B-B14F-4D97-AF65-F5344CB8AC3E}">
        <p14:creationId xmlns:p14="http://schemas.microsoft.com/office/powerpoint/2010/main" val="28491283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654AC-C883-FE66-2EA4-38B577A9EB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04B96E-C47A-B247-8C08-4F804AC117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B8912C-F1D5-146C-7C16-A9C3303F87B0}"/>
              </a:ext>
            </a:extLst>
          </p:cNvPr>
          <p:cNvSpPr>
            <a:spLocks noGrp="1"/>
          </p:cNvSpPr>
          <p:nvPr>
            <p:ph type="body" idx="1"/>
          </p:nvPr>
        </p:nvSpPr>
        <p:spPr/>
        <p:txBody>
          <a:bodyPr/>
          <a:lstStyle/>
          <a:p>
            <a:r>
              <a:rPr lang="en-CA" sz="1200" b="0" i="0" kern="1200" dirty="0">
                <a:solidFill>
                  <a:schemeClr val="tx1"/>
                </a:solidFill>
                <a:effectLst/>
                <a:latin typeface="+mn-lt"/>
                <a:ea typeface="+mn-ea"/>
                <a:cs typeface="+mn-cs"/>
              </a:rPr>
              <a:t>Starting from the top, we can see that each IF statement we have contains a message printing the user’s generation, so we are good there.</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We also have the conditionals necessary for checking each age group.</a:t>
            </a:r>
            <a:endParaRPr lang="en-CA" dirty="0"/>
          </a:p>
        </p:txBody>
      </p:sp>
      <p:sp>
        <p:nvSpPr>
          <p:cNvPr id="4" name="Slide Number Placeholder 3">
            <a:extLst>
              <a:ext uri="{FF2B5EF4-FFF2-40B4-BE49-F238E27FC236}">
                <a16:creationId xmlns:a16="http://schemas.microsoft.com/office/drawing/2014/main" id="{478F89FC-668D-E6F3-369D-C9ECC6EC1C27}"/>
              </a:ext>
            </a:extLst>
          </p:cNvPr>
          <p:cNvSpPr>
            <a:spLocks noGrp="1"/>
          </p:cNvSpPr>
          <p:nvPr>
            <p:ph type="sldNum" sz="quarter" idx="5"/>
          </p:nvPr>
        </p:nvSpPr>
        <p:spPr/>
        <p:txBody>
          <a:bodyPr/>
          <a:lstStyle/>
          <a:p>
            <a:fld id="{CFE641A9-FDE3-4583-B812-65C4064188F6}" type="slidenum">
              <a:rPr lang="en-CA" smtClean="0"/>
              <a:t>28</a:t>
            </a:fld>
            <a:endParaRPr lang="en-CA"/>
          </a:p>
        </p:txBody>
      </p:sp>
    </p:spTree>
    <p:extLst>
      <p:ext uri="{BB962C8B-B14F-4D97-AF65-F5344CB8AC3E}">
        <p14:creationId xmlns:p14="http://schemas.microsoft.com/office/powerpoint/2010/main" val="22389335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4A713-EF6E-890B-12DB-A62AB38DAA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34B37B-B3BE-C523-E09F-DDBD7DEEB5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3246F2-53AE-4698-021E-36C32EA3992F}"/>
              </a:ext>
            </a:extLst>
          </p:cNvPr>
          <p:cNvSpPr>
            <a:spLocks noGrp="1"/>
          </p:cNvSpPr>
          <p:nvPr>
            <p:ph type="body" idx="1"/>
          </p:nvPr>
        </p:nvSpPr>
        <p:spPr/>
        <p:txBody>
          <a:bodyPr/>
          <a:lstStyle/>
          <a:p>
            <a:r>
              <a:rPr lang="en-CA" sz="1200" b="0" i="0" kern="1200" dirty="0">
                <a:solidFill>
                  <a:schemeClr val="tx1"/>
                </a:solidFill>
                <a:effectLst/>
                <a:latin typeface="+mn-lt"/>
                <a:ea typeface="+mn-ea"/>
                <a:cs typeface="+mn-cs"/>
              </a:rPr>
              <a:t>Now let’s investigate the IF statements one at a time.</a:t>
            </a:r>
          </a:p>
          <a:p>
            <a:r>
              <a:rPr lang="en-CA" sz="1200" b="0" i="0" kern="1200" dirty="0">
                <a:solidFill>
                  <a:schemeClr val="tx1"/>
                </a:solidFill>
                <a:effectLst/>
                <a:latin typeface="+mn-lt"/>
                <a:ea typeface="+mn-ea"/>
                <a:cs typeface="+mn-cs"/>
              </a:rPr>
              <a:t>Our first IF statement is saying that if the age is greater than 60, the user is a baby boomer. This logic is correct and matches our requirement.</a:t>
            </a:r>
            <a:endParaRPr lang="en-CA" dirty="0"/>
          </a:p>
        </p:txBody>
      </p:sp>
      <p:sp>
        <p:nvSpPr>
          <p:cNvPr id="4" name="Slide Number Placeholder 3">
            <a:extLst>
              <a:ext uri="{FF2B5EF4-FFF2-40B4-BE49-F238E27FC236}">
                <a16:creationId xmlns:a16="http://schemas.microsoft.com/office/drawing/2014/main" id="{D18F801B-12C3-5232-A49A-0D88AA18F53C}"/>
              </a:ext>
            </a:extLst>
          </p:cNvPr>
          <p:cNvSpPr>
            <a:spLocks noGrp="1"/>
          </p:cNvSpPr>
          <p:nvPr>
            <p:ph type="sldNum" sz="quarter" idx="5"/>
          </p:nvPr>
        </p:nvSpPr>
        <p:spPr/>
        <p:txBody>
          <a:bodyPr/>
          <a:lstStyle/>
          <a:p>
            <a:fld id="{CFE641A9-FDE3-4583-B812-65C4064188F6}" type="slidenum">
              <a:rPr lang="en-CA" smtClean="0"/>
              <a:t>29</a:t>
            </a:fld>
            <a:endParaRPr lang="en-CA"/>
          </a:p>
        </p:txBody>
      </p:sp>
    </p:spTree>
    <p:extLst>
      <p:ext uri="{BB962C8B-B14F-4D97-AF65-F5344CB8AC3E}">
        <p14:creationId xmlns:p14="http://schemas.microsoft.com/office/powerpoint/2010/main" val="40512121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8C2EB-5A76-2A9A-1C20-D790864211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829028-2C3D-5917-18A9-83D55356DD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DD76EE-568F-C764-C911-F099BFD74628}"/>
              </a:ext>
            </a:extLst>
          </p:cNvPr>
          <p:cNvSpPr>
            <a:spLocks noGrp="1"/>
          </p:cNvSpPr>
          <p:nvPr>
            <p:ph type="body" idx="1"/>
          </p:nvPr>
        </p:nvSpPr>
        <p:spPr/>
        <p:txBody>
          <a:bodyPr/>
          <a:lstStyle/>
          <a:p>
            <a:r>
              <a:rPr lang="en-CA" sz="1200" b="0" i="0" kern="1200" dirty="0">
                <a:solidFill>
                  <a:schemeClr val="tx1"/>
                </a:solidFill>
                <a:effectLst/>
                <a:latin typeface="+mn-lt"/>
                <a:ea typeface="+mn-ea"/>
                <a:cs typeface="+mn-cs"/>
              </a:rPr>
              <a:t>This next statement is saying that if the user is greater than 34, then they are Gen X. </a:t>
            </a:r>
          </a:p>
          <a:p>
            <a:r>
              <a:rPr lang="en-CA" sz="1200" b="0" i="0" kern="1200" dirty="0">
                <a:solidFill>
                  <a:schemeClr val="tx1"/>
                </a:solidFill>
                <a:effectLst/>
                <a:latin typeface="+mn-lt"/>
                <a:ea typeface="+mn-ea"/>
                <a:cs typeface="+mn-cs"/>
              </a:rPr>
              <a:t>This is incorrect, since our requirements state that Gen X is greater than 44, not 34. </a:t>
            </a:r>
          </a:p>
        </p:txBody>
      </p:sp>
      <p:sp>
        <p:nvSpPr>
          <p:cNvPr id="4" name="Slide Number Placeholder 3">
            <a:extLst>
              <a:ext uri="{FF2B5EF4-FFF2-40B4-BE49-F238E27FC236}">
                <a16:creationId xmlns:a16="http://schemas.microsoft.com/office/drawing/2014/main" id="{608FACB0-CFE3-BA19-5DF3-739FD5751A6E}"/>
              </a:ext>
            </a:extLst>
          </p:cNvPr>
          <p:cNvSpPr>
            <a:spLocks noGrp="1"/>
          </p:cNvSpPr>
          <p:nvPr>
            <p:ph type="sldNum" sz="quarter" idx="5"/>
          </p:nvPr>
        </p:nvSpPr>
        <p:spPr/>
        <p:txBody>
          <a:bodyPr/>
          <a:lstStyle/>
          <a:p>
            <a:fld id="{CFE641A9-FDE3-4583-B812-65C4064188F6}" type="slidenum">
              <a:rPr lang="en-CA" smtClean="0"/>
              <a:t>30</a:t>
            </a:fld>
            <a:endParaRPr lang="en-CA"/>
          </a:p>
        </p:txBody>
      </p:sp>
    </p:spTree>
    <p:extLst>
      <p:ext uri="{BB962C8B-B14F-4D97-AF65-F5344CB8AC3E}">
        <p14:creationId xmlns:p14="http://schemas.microsoft.com/office/powerpoint/2010/main" val="22895696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30A0F-8474-78EA-A6E1-22984F6C1D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D7FFA8-BFE8-E6B9-6D9E-56BA21F945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D3C27C-C78E-A7DA-B7A2-CE3F70D76A1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So, the fix for this is to change “34” to “44”.</a:t>
            </a:r>
            <a:endParaRPr lang="en-CA" dirty="0"/>
          </a:p>
          <a:p>
            <a:endParaRPr lang="en-CA" dirty="0"/>
          </a:p>
        </p:txBody>
      </p:sp>
      <p:sp>
        <p:nvSpPr>
          <p:cNvPr id="4" name="Slide Number Placeholder 3">
            <a:extLst>
              <a:ext uri="{FF2B5EF4-FFF2-40B4-BE49-F238E27FC236}">
                <a16:creationId xmlns:a16="http://schemas.microsoft.com/office/drawing/2014/main" id="{07396F2A-FB5D-C636-3F9E-60775BE320DD}"/>
              </a:ext>
            </a:extLst>
          </p:cNvPr>
          <p:cNvSpPr>
            <a:spLocks noGrp="1"/>
          </p:cNvSpPr>
          <p:nvPr>
            <p:ph type="sldNum" sz="quarter" idx="5"/>
          </p:nvPr>
        </p:nvSpPr>
        <p:spPr/>
        <p:txBody>
          <a:bodyPr/>
          <a:lstStyle/>
          <a:p>
            <a:fld id="{CFE641A9-FDE3-4583-B812-65C4064188F6}" type="slidenum">
              <a:rPr lang="en-CA" smtClean="0"/>
              <a:t>31</a:t>
            </a:fld>
            <a:endParaRPr lang="en-CA"/>
          </a:p>
        </p:txBody>
      </p:sp>
    </p:spTree>
    <p:extLst>
      <p:ext uri="{BB962C8B-B14F-4D97-AF65-F5344CB8AC3E}">
        <p14:creationId xmlns:p14="http://schemas.microsoft.com/office/powerpoint/2010/main" val="11410541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B2855-4A23-18B1-2882-0D3D40EA32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E12D51-4ECF-0CDB-0100-51F63A64D0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BB748E-7B5E-6BC7-256C-8BE93E9FCE7C}"/>
              </a:ext>
            </a:extLst>
          </p:cNvPr>
          <p:cNvSpPr>
            <a:spLocks noGrp="1"/>
          </p:cNvSpPr>
          <p:nvPr>
            <p:ph type="body" idx="1"/>
          </p:nvPr>
        </p:nvSpPr>
        <p:spPr/>
        <p:txBody>
          <a:bodyPr/>
          <a:lstStyle/>
          <a:p>
            <a:r>
              <a:rPr lang="en-CA" sz="1200" b="0" i="0" kern="1200" dirty="0">
                <a:solidFill>
                  <a:schemeClr val="tx1"/>
                </a:solidFill>
                <a:effectLst/>
                <a:latin typeface="+mn-lt"/>
                <a:ea typeface="+mn-ea"/>
                <a:cs typeface="+mn-cs"/>
              </a:rPr>
              <a:t>The next if statement should be checking the age range for Millennials, but there are a few problems. Can anyone see them?</a:t>
            </a:r>
          </a:p>
          <a:p>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The first is the IF statement. The requirement is that Millennials are from the age range 29-44, but the logic in the IF statement is including the number</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28, which is incorrect. It is also missing the “THEN” keyword that is required for the IF-THEN syntax. And, of course the PRINT message is wrong. </a:t>
            </a:r>
            <a:endParaRPr lang="en-CA" dirty="0"/>
          </a:p>
        </p:txBody>
      </p:sp>
      <p:sp>
        <p:nvSpPr>
          <p:cNvPr id="4" name="Slide Number Placeholder 3">
            <a:extLst>
              <a:ext uri="{FF2B5EF4-FFF2-40B4-BE49-F238E27FC236}">
                <a16:creationId xmlns:a16="http://schemas.microsoft.com/office/drawing/2014/main" id="{C7176401-6E2E-D1A1-8ADD-199595E81406}"/>
              </a:ext>
            </a:extLst>
          </p:cNvPr>
          <p:cNvSpPr>
            <a:spLocks noGrp="1"/>
          </p:cNvSpPr>
          <p:nvPr>
            <p:ph type="sldNum" sz="quarter" idx="5"/>
          </p:nvPr>
        </p:nvSpPr>
        <p:spPr/>
        <p:txBody>
          <a:bodyPr/>
          <a:lstStyle/>
          <a:p>
            <a:fld id="{CFE641A9-FDE3-4583-B812-65C4064188F6}" type="slidenum">
              <a:rPr lang="en-CA" smtClean="0"/>
              <a:t>32</a:t>
            </a:fld>
            <a:endParaRPr lang="en-CA"/>
          </a:p>
        </p:txBody>
      </p:sp>
    </p:spTree>
    <p:extLst>
      <p:ext uri="{BB962C8B-B14F-4D97-AF65-F5344CB8AC3E}">
        <p14:creationId xmlns:p14="http://schemas.microsoft.com/office/powerpoint/2010/main" val="16930878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E368A-7A77-5910-D182-F4E59206AB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DA45E8-E564-4097-6877-ECA5869F0A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F8EEB2-9B81-EE34-5BE1-2C53F856575B}"/>
              </a:ext>
            </a:extLst>
          </p:cNvPr>
          <p:cNvSpPr>
            <a:spLocks noGrp="1"/>
          </p:cNvSpPr>
          <p:nvPr>
            <p:ph type="body" idx="1"/>
          </p:nvPr>
        </p:nvSpPr>
        <p:spPr/>
        <p:txBody>
          <a:bodyPr/>
          <a:lstStyle/>
          <a:p>
            <a:r>
              <a:rPr lang="en-CA" sz="1200" b="0" i="0" kern="1200" dirty="0">
                <a:solidFill>
                  <a:schemeClr val="tx1"/>
                </a:solidFill>
                <a:effectLst/>
                <a:latin typeface="+mn-lt"/>
                <a:ea typeface="+mn-ea"/>
                <a:cs typeface="+mn-cs"/>
              </a:rPr>
              <a:t>To fix this, we can either change the “&gt;=” to a “&gt;” or change “28” to “29”.</a:t>
            </a:r>
          </a:p>
          <a:p>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Here they did the second way.</a:t>
            </a:r>
          </a:p>
          <a:p>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So that fixes the issue. </a:t>
            </a:r>
          </a:p>
          <a:p>
            <a:endParaRPr lang="en-CA" sz="1200" b="0" i="0" kern="1200">
              <a:solidFill>
                <a:schemeClr val="tx1"/>
              </a:solidFill>
              <a:effectLst/>
              <a:latin typeface="+mn-lt"/>
              <a:ea typeface="+mn-ea"/>
              <a:cs typeface="+mn-cs"/>
            </a:endParaRPr>
          </a:p>
          <a:p>
            <a:r>
              <a:rPr lang="en-CA" sz="1200" kern="1200">
                <a:solidFill>
                  <a:schemeClr val="tx1"/>
                </a:solidFill>
                <a:effectLst/>
                <a:latin typeface="+mn-lt"/>
                <a:ea typeface="+mn-ea"/>
                <a:cs typeface="+mn-cs"/>
              </a:rPr>
              <a:t>The </a:t>
            </a:r>
            <a:r>
              <a:rPr lang="en-CA" sz="1200" kern="1200" dirty="0">
                <a:solidFill>
                  <a:schemeClr val="tx1"/>
                </a:solidFill>
                <a:effectLst/>
                <a:latin typeface="+mn-lt"/>
                <a:ea typeface="+mn-ea"/>
                <a:cs typeface="+mn-cs"/>
              </a:rPr>
              <a:t>other problem is with the message. It should output “Millennial”, not “Gen Alpha”.</a:t>
            </a:r>
            <a:br>
              <a:rPr lang="en-CA" dirty="0">
                <a:effectLst/>
              </a:rPr>
            </a:br>
            <a:br>
              <a:rPr lang="en-CA" dirty="0">
                <a:effectLst/>
              </a:rPr>
            </a:br>
            <a:r>
              <a:rPr lang="en-CA" sz="1200" kern="1200" dirty="0">
                <a:solidFill>
                  <a:schemeClr val="tx1"/>
                </a:solidFill>
                <a:effectLst/>
                <a:latin typeface="+mn-lt"/>
                <a:ea typeface="+mn-ea"/>
                <a:cs typeface="+mn-cs"/>
              </a:rPr>
              <a:t>Here, they have also fixed this issue.</a:t>
            </a:r>
          </a:p>
          <a:p>
            <a:pPr rtl="0"/>
            <a:endParaRPr lang="en-CA" sz="1200" kern="1200" dirty="0">
              <a:solidFill>
                <a:schemeClr val="tx1"/>
              </a:solidFill>
              <a:effectLst/>
              <a:latin typeface="+mn-lt"/>
              <a:ea typeface="+mn-ea"/>
              <a:cs typeface="+mn-cs"/>
            </a:endParaRPr>
          </a:p>
          <a:p>
            <a:pPr rtl="0"/>
            <a:r>
              <a:rPr lang="en-CA" sz="1200" kern="1200" dirty="0">
                <a:solidFill>
                  <a:schemeClr val="tx1"/>
                </a:solidFill>
                <a:effectLst/>
                <a:latin typeface="+mn-lt"/>
                <a:ea typeface="+mn-ea"/>
                <a:cs typeface="+mn-cs"/>
              </a:rPr>
              <a:t>And a THEN was added to the IF-THEN statement</a:t>
            </a:r>
            <a:endParaRPr lang="en-CA" dirty="0">
              <a:effectLst/>
            </a:endParaRPr>
          </a:p>
          <a:p>
            <a:pPr rtl="0"/>
            <a:br>
              <a:rPr lang="en-CA" sz="1200" b="0" i="0" kern="1200" dirty="0">
                <a:solidFill>
                  <a:schemeClr val="tx1"/>
                </a:solidFill>
                <a:effectLst/>
                <a:latin typeface="+mn-lt"/>
                <a:ea typeface="+mn-ea"/>
                <a:cs typeface="+mn-cs"/>
              </a:rPr>
            </a:br>
            <a:endParaRPr lang="en-CA" dirty="0">
              <a:effectLst/>
            </a:endParaRPr>
          </a:p>
          <a:p>
            <a:endParaRPr lang="en-CA" dirty="0"/>
          </a:p>
        </p:txBody>
      </p:sp>
      <p:sp>
        <p:nvSpPr>
          <p:cNvPr id="4" name="Slide Number Placeholder 3">
            <a:extLst>
              <a:ext uri="{FF2B5EF4-FFF2-40B4-BE49-F238E27FC236}">
                <a16:creationId xmlns:a16="http://schemas.microsoft.com/office/drawing/2014/main" id="{397B2425-52BB-3A93-94B3-8B78C9AC2F7B}"/>
              </a:ext>
            </a:extLst>
          </p:cNvPr>
          <p:cNvSpPr>
            <a:spLocks noGrp="1"/>
          </p:cNvSpPr>
          <p:nvPr>
            <p:ph type="sldNum" sz="quarter" idx="5"/>
          </p:nvPr>
        </p:nvSpPr>
        <p:spPr/>
        <p:txBody>
          <a:bodyPr/>
          <a:lstStyle/>
          <a:p>
            <a:fld id="{CFE641A9-FDE3-4583-B812-65C4064188F6}" type="slidenum">
              <a:rPr lang="en-CA" smtClean="0"/>
              <a:t>33</a:t>
            </a:fld>
            <a:endParaRPr lang="en-CA"/>
          </a:p>
        </p:txBody>
      </p:sp>
    </p:spTree>
    <p:extLst>
      <p:ext uri="{BB962C8B-B14F-4D97-AF65-F5344CB8AC3E}">
        <p14:creationId xmlns:p14="http://schemas.microsoft.com/office/powerpoint/2010/main" val="16885519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23D80-0E3A-5A5B-4485-ABCE44E5F5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CDEA15-34B6-3344-69EB-6C20D791BE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E89199-2DF9-73AD-7ADE-36F94B905564}"/>
              </a:ext>
            </a:extLst>
          </p:cNvPr>
          <p:cNvSpPr>
            <a:spLocks noGrp="1"/>
          </p:cNvSpPr>
          <p:nvPr>
            <p:ph type="body" idx="1"/>
          </p:nvPr>
        </p:nvSpPr>
        <p:spPr/>
        <p:txBody>
          <a:bodyPr/>
          <a:lstStyle/>
          <a:p>
            <a:r>
              <a:rPr lang="en-CA" sz="1200" b="0" i="0" kern="1200" dirty="0">
                <a:solidFill>
                  <a:schemeClr val="tx1"/>
                </a:solidFill>
                <a:effectLst/>
                <a:latin typeface="+mn-lt"/>
                <a:ea typeface="+mn-ea"/>
                <a:cs typeface="+mn-cs"/>
              </a:rPr>
              <a:t>The logic for the Gen Z if statement is correct. 13 is included in the comparison and the message has the correct generation.</a:t>
            </a:r>
            <a:endParaRPr lang="en-CA" dirty="0"/>
          </a:p>
        </p:txBody>
      </p:sp>
      <p:sp>
        <p:nvSpPr>
          <p:cNvPr id="4" name="Slide Number Placeholder 3">
            <a:extLst>
              <a:ext uri="{FF2B5EF4-FFF2-40B4-BE49-F238E27FC236}">
                <a16:creationId xmlns:a16="http://schemas.microsoft.com/office/drawing/2014/main" id="{719801DD-C04C-0236-BE07-760BA85007A1}"/>
              </a:ext>
            </a:extLst>
          </p:cNvPr>
          <p:cNvSpPr>
            <a:spLocks noGrp="1"/>
          </p:cNvSpPr>
          <p:nvPr>
            <p:ph type="sldNum" sz="quarter" idx="5"/>
          </p:nvPr>
        </p:nvSpPr>
        <p:spPr/>
        <p:txBody>
          <a:bodyPr/>
          <a:lstStyle/>
          <a:p>
            <a:fld id="{CFE641A9-FDE3-4583-B812-65C4064188F6}" type="slidenum">
              <a:rPr lang="en-CA" smtClean="0"/>
              <a:t>34</a:t>
            </a:fld>
            <a:endParaRPr lang="en-CA"/>
          </a:p>
        </p:txBody>
      </p:sp>
    </p:spTree>
    <p:extLst>
      <p:ext uri="{BB962C8B-B14F-4D97-AF65-F5344CB8AC3E}">
        <p14:creationId xmlns:p14="http://schemas.microsoft.com/office/powerpoint/2010/main" val="32778046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B65D8-1FCA-6224-2795-855C882B55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C331AC-4EB7-28B6-E65D-5D0E78DAD0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672A0C-B42F-7155-8E11-FA584E234F03}"/>
              </a:ext>
            </a:extLst>
          </p:cNvPr>
          <p:cNvSpPr>
            <a:spLocks noGrp="1"/>
          </p:cNvSpPr>
          <p:nvPr>
            <p:ph type="body" idx="1"/>
          </p:nvPr>
        </p:nvSpPr>
        <p:spPr/>
        <p:txBody>
          <a:bodyPr/>
          <a:lstStyle/>
          <a:p>
            <a:pPr rtl="0"/>
            <a:r>
              <a:rPr lang="en-CA" sz="1200" kern="1200" dirty="0">
                <a:solidFill>
                  <a:schemeClr val="tx1"/>
                </a:solidFill>
                <a:effectLst/>
                <a:latin typeface="+mn-lt"/>
                <a:ea typeface="+mn-ea"/>
                <a:cs typeface="+mn-cs"/>
              </a:rPr>
              <a:t>Now lastly, Gen Alpha. It looks like the message for Gen Alpha is missing entirely. We could address this in two ways. The first is by adding another ELSE-IF:</a:t>
            </a:r>
            <a:br>
              <a:rPr lang="en-CA" dirty="0">
                <a:effectLst/>
              </a:rPr>
            </a:br>
            <a:endParaRPr lang="en-CA" dirty="0">
              <a:effectLst/>
            </a:endParaRPr>
          </a:p>
          <a:p>
            <a:pPr rtl="0"/>
            <a:r>
              <a:rPr lang="en-CA" sz="1200" kern="1200" dirty="0">
                <a:solidFill>
                  <a:schemeClr val="tx1"/>
                </a:solidFill>
                <a:effectLst/>
                <a:latin typeface="+mn-lt"/>
                <a:ea typeface="+mn-ea"/>
                <a:cs typeface="+mn-cs"/>
              </a:rPr>
              <a:t>ELSE IF age &gt;= 0 THEN</a:t>
            </a:r>
            <a:br>
              <a:rPr lang="en-CA" dirty="0">
                <a:effectLst/>
              </a:rPr>
            </a:br>
            <a:r>
              <a:rPr lang="en-CA" dirty="0">
                <a:effectLst/>
              </a:rPr>
              <a:t>	</a:t>
            </a:r>
            <a:r>
              <a:rPr lang="en-CA" sz="1200" kern="1200" dirty="0">
                <a:solidFill>
                  <a:schemeClr val="tx1"/>
                </a:solidFill>
                <a:effectLst/>
                <a:latin typeface="+mn-lt"/>
                <a:ea typeface="+mn-ea"/>
                <a:cs typeface="+mn-cs"/>
              </a:rPr>
              <a:t>PRINT “You are Gen Alpha”</a:t>
            </a:r>
          </a:p>
          <a:p>
            <a:pPr rtl="0"/>
            <a:br>
              <a:rPr lang="en-CA" dirty="0">
                <a:effectLst/>
              </a:rPr>
            </a:br>
            <a:r>
              <a:rPr lang="en-CA" sz="1200" kern="1200" dirty="0">
                <a:solidFill>
                  <a:schemeClr val="tx1"/>
                </a:solidFill>
                <a:effectLst/>
                <a:latin typeface="+mn-lt"/>
                <a:ea typeface="+mn-ea"/>
                <a:cs typeface="+mn-cs"/>
              </a:rPr>
              <a:t>But this is unnecessary. Since there are no other conditions to check for in our requirements, so we can just use an ELSE:</a:t>
            </a:r>
          </a:p>
          <a:p>
            <a:pPr rtl="0"/>
            <a:br>
              <a:rPr lang="en-CA" dirty="0">
                <a:effectLst/>
              </a:rPr>
            </a:br>
            <a:br>
              <a:rPr lang="en-CA" sz="1200" b="0" i="0" kern="1200" dirty="0">
                <a:solidFill>
                  <a:schemeClr val="tx1"/>
                </a:solidFill>
                <a:effectLst/>
                <a:latin typeface="+mn-lt"/>
                <a:ea typeface="+mn-ea"/>
                <a:cs typeface="+mn-cs"/>
              </a:rPr>
            </a:br>
            <a:endParaRPr lang="en-CA" dirty="0">
              <a:effectLst/>
            </a:endParaRPr>
          </a:p>
          <a:p>
            <a:endParaRPr lang="en-CA" dirty="0"/>
          </a:p>
        </p:txBody>
      </p:sp>
      <p:sp>
        <p:nvSpPr>
          <p:cNvPr id="4" name="Slide Number Placeholder 3">
            <a:extLst>
              <a:ext uri="{FF2B5EF4-FFF2-40B4-BE49-F238E27FC236}">
                <a16:creationId xmlns:a16="http://schemas.microsoft.com/office/drawing/2014/main" id="{75D9CD73-4F25-7DCF-19E9-C2572FCF2248}"/>
              </a:ext>
            </a:extLst>
          </p:cNvPr>
          <p:cNvSpPr>
            <a:spLocks noGrp="1"/>
          </p:cNvSpPr>
          <p:nvPr>
            <p:ph type="sldNum" sz="quarter" idx="5"/>
          </p:nvPr>
        </p:nvSpPr>
        <p:spPr/>
        <p:txBody>
          <a:bodyPr/>
          <a:lstStyle/>
          <a:p>
            <a:fld id="{CFE641A9-FDE3-4583-B812-65C4064188F6}" type="slidenum">
              <a:rPr lang="en-CA" smtClean="0"/>
              <a:t>35</a:t>
            </a:fld>
            <a:endParaRPr lang="en-CA"/>
          </a:p>
        </p:txBody>
      </p:sp>
    </p:spTree>
    <p:extLst>
      <p:ext uri="{BB962C8B-B14F-4D97-AF65-F5344CB8AC3E}">
        <p14:creationId xmlns:p14="http://schemas.microsoft.com/office/powerpoint/2010/main" val="5382297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E93B2-DF98-91AA-7575-89328709C4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5A9107-D8C3-2D8C-6FE9-78260F48B5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E24CA6-1AE0-A44F-9835-C6D79E9AAB2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ELSE</a:t>
            </a:r>
            <a:br>
              <a:rPr lang="en-CA" dirty="0">
                <a:effectLst/>
              </a:rPr>
            </a:br>
            <a:r>
              <a:rPr lang="en-CA" dirty="0">
                <a:effectLst/>
              </a:rPr>
              <a:t>	</a:t>
            </a:r>
            <a:r>
              <a:rPr lang="en-CA" sz="1200" kern="1200" dirty="0">
                <a:solidFill>
                  <a:schemeClr val="tx1"/>
                </a:solidFill>
                <a:effectLst/>
                <a:latin typeface="+mn-lt"/>
                <a:ea typeface="+mn-ea"/>
                <a:cs typeface="+mn-cs"/>
              </a:rPr>
              <a:t>PRINT “You are Gen Alpha”</a:t>
            </a:r>
          </a:p>
          <a:p>
            <a:pPr marL="0" marR="0" lvl="0" indent="0" algn="l" defTabSz="914400" rtl="0" eaLnBrk="1" fontAlgn="auto" latinLnBrk="0" hangingPunct="1">
              <a:lnSpc>
                <a:spcPct val="100000"/>
              </a:lnSpc>
              <a:spcBef>
                <a:spcPts val="0"/>
              </a:spcBef>
              <a:spcAft>
                <a:spcPts val="0"/>
              </a:spcAft>
              <a:buClrTx/>
              <a:buSzTx/>
              <a:buFontTx/>
              <a:buNone/>
              <a:tabLst/>
              <a:defRPr/>
            </a:pPr>
            <a:br>
              <a:rPr lang="en-CA" dirty="0">
                <a:effectLst/>
              </a:rPr>
            </a:br>
            <a:br>
              <a:rPr lang="en-CA" dirty="0">
                <a:effectLst/>
              </a:rPr>
            </a:br>
            <a:endParaRPr lang="en-CA" dirty="0"/>
          </a:p>
        </p:txBody>
      </p:sp>
      <p:sp>
        <p:nvSpPr>
          <p:cNvPr id="4" name="Slide Number Placeholder 3">
            <a:extLst>
              <a:ext uri="{FF2B5EF4-FFF2-40B4-BE49-F238E27FC236}">
                <a16:creationId xmlns:a16="http://schemas.microsoft.com/office/drawing/2014/main" id="{1466B633-CCE1-155E-B383-18D80210F27A}"/>
              </a:ext>
            </a:extLst>
          </p:cNvPr>
          <p:cNvSpPr>
            <a:spLocks noGrp="1"/>
          </p:cNvSpPr>
          <p:nvPr>
            <p:ph type="sldNum" sz="quarter" idx="5"/>
          </p:nvPr>
        </p:nvSpPr>
        <p:spPr/>
        <p:txBody>
          <a:bodyPr/>
          <a:lstStyle/>
          <a:p>
            <a:fld id="{CFE641A9-FDE3-4583-B812-65C4064188F6}" type="slidenum">
              <a:rPr lang="en-CA" smtClean="0"/>
              <a:t>36</a:t>
            </a:fld>
            <a:endParaRPr lang="en-CA"/>
          </a:p>
        </p:txBody>
      </p:sp>
    </p:spTree>
    <p:extLst>
      <p:ext uri="{BB962C8B-B14F-4D97-AF65-F5344CB8AC3E}">
        <p14:creationId xmlns:p14="http://schemas.microsoft.com/office/powerpoint/2010/main" val="7994253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DA18A-5157-9F53-07B2-0663BAED16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FA6E0D-6BAB-81B8-85E0-CB107B515F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D37D9F-07B8-7734-AA99-208BF272D90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That captures all of the IF statements.</a:t>
            </a:r>
          </a:p>
          <a:p>
            <a:endParaRPr lang="en-CA" dirty="0"/>
          </a:p>
          <a:p>
            <a:endParaRPr lang="en-CA" dirty="0"/>
          </a:p>
          <a:p>
            <a:r>
              <a:rPr lang="en-CA" dirty="0"/>
              <a:t>Is there anything else?</a:t>
            </a:r>
          </a:p>
        </p:txBody>
      </p:sp>
      <p:sp>
        <p:nvSpPr>
          <p:cNvPr id="4" name="Slide Number Placeholder 3">
            <a:extLst>
              <a:ext uri="{FF2B5EF4-FFF2-40B4-BE49-F238E27FC236}">
                <a16:creationId xmlns:a16="http://schemas.microsoft.com/office/drawing/2014/main" id="{FF5F70D9-6CE5-8153-0A25-6EADC735A728}"/>
              </a:ext>
            </a:extLst>
          </p:cNvPr>
          <p:cNvSpPr>
            <a:spLocks noGrp="1"/>
          </p:cNvSpPr>
          <p:nvPr>
            <p:ph type="sldNum" sz="quarter" idx="5"/>
          </p:nvPr>
        </p:nvSpPr>
        <p:spPr/>
        <p:txBody>
          <a:bodyPr/>
          <a:lstStyle/>
          <a:p>
            <a:fld id="{CFE641A9-FDE3-4583-B812-65C4064188F6}" type="slidenum">
              <a:rPr lang="en-CA" smtClean="0"/>
              <a:t>37</a:t>
            </a:fld>
            <a:endParaRPr lang="en-CA"/>
          </a:p>
        </p:txBody>
      </p:sp>
    </p:spTree>
    <p:extLst>
      <p:ext uri="{BB962C8B-B14F-4D97-AF65-F5344CB8AC3E}">
        <p14:creationId xmlns:p14="http://schemas.microsoft.com/office/powerpoint/2010/main" val="11889263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86B56-C570-FF79-439F-DB2BE2C99D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92758B-D5C3-3057-E91F-528B2E7288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07E18A-5767-1A0B-B2C0-EDAF008A56E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One last thing before moving on to refinement.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Every IF-THEN-ELSE statement should have an ENDIF, but that is missing from our solution.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This must be addressed before moving on.</a:t>
            </a:r>
          </a:p>
          <a:p>
            <a:pPr marL="0" marR="0" lvl="0" indent="0" algn="l" defTabSz="914400" rtl="0" eaLnBrk="1" fontAlgn="auto" latinLnBrk="0" hangingPunct="1">
              <a:lnSpc>
                <a:spcPct val="100000"/>
              </a:lnSpc>
              <a:spcBef>
                <a:spcPts val="0"/>
              </a:spcBef>
              <a:spcAft>
                <a:spcPts val="0"/>
              </a:spcAft>
              <a:buClrTx/>
              <a:buSzTx/>
              <a:buFontTx/>
              <a:buNone/>
              <a:tabLst/>
              <a:defRPr/>
            </a:pPr>
            <a:br>
              <a:rPr lang="en-CA" dirty="0">
                <a:effectLst/>
              </a:rPr>
            </a:br>
            <a:r>
              <a:rPr lang="en-CA" sz="1200" kern="1200" dirty="0">
                <a:solidFill>
                  <a:schemeClr val="tx1"/>
                </a:solidFill>
                <a:effectLst/>
                <a:latin typeface="+mn-lt"/>
                <a:ea typeface="+mn-ea"/>
                <a:cs typeface="+mn-cs"/>
              </a:rPr>
              <a:t>ELSE</a:t>
            </a:r>
            <a:br>
              <a:rPr lang="en-CA" dirty="0">
                <a:effectLst/>
              </a:rPr>
            </a:br>
            <a:r>
              <a:rPr lang="en-CA" dirty="0">
                <a:effectLst/>
              </a:rPr>
              <a:t>	</a:t>
            </a:r>
            <a:r>
              <a:rPr lang="en-CA" sz="1200" kern="1200" dirty="0">
                <a:solidFill>
                  <a:schemeClr val="tx1"/>
                </a:solidFill>
                <a:effectLst/>
                <a:latin typeface="+mn-lt"/>
                <a:ea typeface="+mn-ea"/>
                <a:cs typeface="+mn-cs"/>
              </a:rPr>
              <a:t>PRINT “You are Gen Alpha”</a:t>
            </a:r>
            <a:br>
              <a:rPr lang="en-CA" dirty="0">
                <a:effectLst/>
              </a:rPr>
            </a:br>
            <a:r>
              <a:rPr lang="en-CA" sz="1200" kern="1200" dirty="0">
                <a:solidFill>
                  <a:schemeClr val="tx1"/>
                </a:solidFill>
                <a:effectLst/>
                <a:latin typeface="+mn-lt"/>
                <a:ea typeface="+mn-ea"/>
                <a:cs typeface="+mn-cs"/>
              </a:rPr>
              <a:t>ENDIF</a:t>
            </a:r>
            <a:endParaRPr lang="en-CA" dirty="0">
              <a:effectLst/>
            </a:endParaRPr>
          </a:p>
          <a:p>
            <a:endParaRPr lang="en-CA" dirty="0"/>
          </a:p>
          <a:p>
            <a:r>
              <a:rPr lang="en-CA" dirty="0"/>
              <a:t>So t</a:t>
            </a:r>
            <a:r>
              <a:rPr lang="en-CA" sz="1200" b="0" i="0" kern="1200" dirty="0">
                <a:solidFill>
                  <a:schemeClr val="tx1"/>
                </a:solidFill>
                <a:effectLst/>
                <a:latin typeface="+mn-lt"/>
                <a:ea typeface="+mn-ea"/>
                <a:cs typeface="+mn-cs"/>
              </a:rPr>
              <a:t>he final updated version now should look like this.</a:t>
            </a:r>
            <a:endParaRPr lang="en-CA" dirty="0"/>
          </a:p>
        </p:txBody>
      </p:sp>
      <p:sp>
        <p:nvSpPr>
          <p:cNvPr id="4" name="Slide Number Placeholder 3">
            <a:extLst>
              <a:ext uri="{FF2B5EF4-FFF2-40B4-BE49-F238E27FC236}">
                <a16:creationId xmlns:a16="http://schemas.microsoft.com/office/drawing/2014/main" id="{27408B55-4B45-57B7-215F-DB44B171345B}"/>
              </a:ext>
            </a:extLst>
          </p:cNvPr>
          <p:cNvSpPr>
            <a:spLocks noGrp="1"/>
          </p:cNvSpPr>
          <p:nvPr>
            <p:ph type="sldNum" sz="quarter" idx="5"/>
          </p:nvPr>
        </p:nvSpPr>
        <p:spPr/>
        <p:txBody>
          <a:bodyPr/>
          <a:lstStyle/>
          <a:p>
            <a:fld id="{CFE641A9-FDE3-4583-B812-65C4064188F6}" type="slidenum">
              <a:rPr lang="en-CA" smtClean="0"/>
              <a:t>38</a:t>
            </a:fld>
            <a:endParaRPr lang="en-CA"/>
          </a:p>
        </p:txBody>
      </p:sp>
    </p:spTree>
    <p:extLst>
      <p:ext uri="{BB962C8B-B14F-4D97-AF65-F5344CB8AC3E}">
        <p14:creationId xmlns:p14="http://schemas.microsoft.com/office/powerpoint/2010/main" val="15339680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Now to refine the solution.</a:t>
            </a:r>
            <a:endParaRPr lang="en-US" dirty="0"/>
          </a:p>
        </p:txBody>
      </p:sp>
      <p:sp>
        <p:nvSpPr>
          <p:cNvPr id="4" name="Slide Number Placeholder 3"/>
          <p:cNvSpPr>
            <a:spLocks noGrp="1"/>
          </p:cNvSpPr>
          <p:nvPr>
            <p:ph type="sldNum" sz="quarter" idx="5"/>
          </p:nvPr>
        </p:nvSpPr>
        <p:spPr/>
        <p:txBody>
          <a:bodyPr/>
          <a:lstStyle/>
          <a:p>
            <a:fld id="{CFE641A9-FDE3-4583-B812-65C4064188F6}" type="slidenum">
              <a:rPr lang="en-CA" smtClean="0"/>
              <a:t>39</a:t>
            </a:fld>
            <a:endParaRPr lang="en-CA"/>
          </a:p>
        </p:txBody>
      </p:sp>
    </p:spTree>
    <p:extLst>
      <p:ext uri="{BB962C8B-B14F-4D97-AF65-F5344CB8AC3E}">
        <p14:creationId xmlns:p14="http://schemas.microsoft.com/office/powerpoint/2010/main" val="5271309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DF6AA-BA23-CBC8-04EA-48C3295F7C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FD99ED-B8FB-6FF3-7C2F-7E7D71E427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74A406-7833-E9FD-41C0-AC4ADA863CC6}"/>
              </a:ext>
            </a:extLst>
          </p:cNvPr>
          <p:cNvSpPr>
            <a:spLocks noGrp="1"/>
          </p:cNvSpPr>
          <p:nvPr>
            <p:ph type="body" idx="1"/>
          </p:nvPr>
        </p:nvSpPr>
        <p:spPr/>
        <p:txBody>
          <a:bodyPr/>
          <a:lstStyle/>
          <a:p>
            <a:r>
              <a:rPr lang="en-CA" sz="1200" b="0" i="0" kern="1200" dirty="0">
                <a:solidFill>
                  <a:schemeClr val="tx1"/>
                </a:solidFill>
                <a:effectLst/>
                <a:latin typeface="+mn-lt"/>
                <a:ea typeface="+mn-ea"/>
                <a:cs typeface="+mn-cs"/>
              </a:rPr>
              <a:t>The solution as it stands has been debugged, but there is still room for improvement. </a:t>
            </a:r>
          </a:p>
          <a:p>
            <a:r>
              <a:rPr lang="en-CA" sz="1200" b="0" i="0" kern="1200" dirty="0">
                <a:solidFill>
                  <a:schemeClr val="tx1"/>
                </a:solidFill>
                <a:effectLst/>
                <a:latin typeface="+mn-lt"/>
                <a:ea typeface="+mn-ea"/>
                <a:cs typeface="+mn-cs"/>
              </a:rPr>
              <a:t>Once again, let’s break it into smaller pieces, starting with the age input.</a:t>
            </a:r>
          </a:p>
          <a:p>
            <a:endParaRPr lang="en-CA" sz="1200" b="0" i="0" kern="1200" dirty="0">
              <a:solidFill>
                <a:schemeClr val="tx1"/>
              </a:solidFill>
              <a:effectLst/>
              <a:latin typeface="+mn-lt"/>
              <a:ea typeface="+mn-ea"/>
              <a:cs typeface="+mn-cs"/>
            </a:endParaRPr>
          </a:p>
          <a:p>
            <a:pPr rtl="0"/>
            <a:r>
              <a:rPr lang="en-CA" sz="1200" kern="1200" dirty="0">
                <a:solidFill>
                  <a:schemeClr val="tx1"/>
                </a:solidFill>
                <a:effectLst/>
                <a:latin typeface="+mn-lt"/>
                <a:ea typeface="+mn-ea"/>
                <a:cs typeface="+mn-cs"/>
              </a:rPr>
              <a:t>While the logic is correct, it isn’t as readable as it could be. </a:t>
            </a:r>
            <a:br>
              <a:rPr lang="en-CA" sz="1200" b="0" i="0" kern="1200" dirty="0">
                <a:solidFill>
                  <a:schemeClr val="tx1"/>
                </a:solidFill>
                <a:effectLst/>
                <a:latin typeface="+mn-lt"/>
                <a:ea typeface="+mn-ea"/>
                <a:cs typeface="+mn-cs"/>
              </a:rPr>
            </a:br>
            <a:endParaRPr lang="en-CA" dirty="0">
              <a:effectLst/>
            </a:endParaRPr>
          </a:p>
          <a:p>
            <a:endParaRPr lang="en-CA" dirty="0"/>
          </a:p>
        </p:txBody>
      </p:sp>
      <p:sp>
        <p:nvSpPr>
          <p:cNvPr id="4" name="Slide Number Placeholder 3">
            <a:extLst>
              <a:ext uri="{FF2B5EF4-FFF2-40B4-BE49-F238E27FC236}">
                <a16:creationId xmlns:a16="http://schemas.microsoft.com/office/drawing/2014/main" id="{DE818FB8-0C06-5388-04C6-014906C348B9}"/>
              </a:ext>
            </a:extLst>
          </p:cNvPr>
          <p:cNvSpPr>
            <a:spLocks noGrp="1"/>
          </p:cNvSpPr>
          <p:nvPr>
            <p:ph type="sldNum" sz="quarter" idx="5"/>
          </p:nvPr>
        </p:nvSpPr>
        <p:spPr/>
        <p:txBody>
          <a:bodyPr/>
          <a:lstStyle/>
          <a:p>
            <a:fld id="{CFE641A9-FDE3-4583-B812-65C4064188F6}" type="slidenum">
              <a:rPr lang="en-CA" smtClean="0"/>
              <a:t>40</a:t>
            </a:fld>
            <a:endParaRPr lang="en-CA"/>
          </a:p>
        </p:txBody>
      </p:sp>
    </p:spTree>
    <p:extLst>
      <p:ext uri="{BB962C8B-B14F-4D97-AF65-F5344CB8AC3E}">
        <p14:creationId xmlns:p14="http://schemas.microsoft.com/office/powerpoint/2010/main" val="40605040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08751-B6CF-340D-73DC-CF82878E93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7C0EE1-C08B-1488-D699-1789E3B92B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73622D-4BE9-EF46-8BD7-04391B88E6C3}"/>
              </a:ext>
            </a:extLst>
          </p:cNvPr>
          <p:cNvSpPr>
            <a:spLocks noGrp="1"/>
          </p:cNvSpPr>
          <p:nvPr>
            <p:ph type="body" idx="1"/>
          </p:nvPr>
        </p:nvSpPr>
        <p:spPr/>
        <p:txBody>
          <a:bodyPr/>
          <a:lstStyle/>
          <a:p>
            <a:pPr rtl="0"/>
            <a:r>
              <a:rPr lang="en-CA" sz="1200" kern="1200" dirty="0">
                <a:solidFill>
                  <a:schemeClr val="tx1"/>
                </a:solidFill>
                <a:effectLst/>
                <a:latin typeface="+mn-lt"/>
                <a:ea typeface="+mn-ea"/>
                <a:cs typeface="+mn-cs"/>
              </a:rPr>
              <a:t>To follow best practices, everything inside of the DO-UNTIL loop should be indented.</a:t>
            </a:r>
            <a:br>
              <a:rPr lang="en-CA" dirty="0">
                <a:effectLst/>
              </a:rPr>
            </a:br>
            <a:endParaRPr lang="en-CA" dirty="0">
              <a:effectLst/>
            </a:endParaRPr>
          </a:p>
          <a:p>
            <a:pPr rtl="0"/>
            <a:r>
              <a:rPr lang="en-CA" sz="1200" kern="1200" dirty="0">
                <a:solidFill>
                  <a:schemeClr val="tx1"/>
                </a:solidFill>
                <a:effectLst/>
                <a:latin typeface="+mn-lt"/>
                <a:ea typeface="+mn-ea"/>
                <a:cs typeface="+mn-cs"/>
              </a:rPr>
              <a:t>Additionally, the error message isn’t as user friendly as it could be. </a:t>
            </a:r>
          </a:p>
          <a:p>
            <a:pPr rtl="0"/>
            <a:r>
              <a:rPr lang="en-CA" sz="1200" kern="1200" dirty="0">
                <a:solidFill>
                  <a:schemeClr val="tx1"/>
                </a:solidFill>
                <a:effectLst/>
                <a:latin typeface="+mn-lt"/>
                <a:ea typeface="+mn-ea"/>
                <a:cs typeface="+mn-cs"/>
              </a:rPr>
              <a:t>It would be better to use language than the greater than symbol.</a:t>
            </a:r>
            <a:endParaRPr lang="en-CA" dirty="0">
              <a:effectLst/>
            </a:endParaRPr>
          </a:p>
          <a:p>
            <a:endParaRPr lang="en-CA" dirty="0"/>
          </a:p>
        </p:txBody>
      </p:sp>
      <p:sp>
        <p:nvSpPr>
          <p:cNvPr id="4" name="Slide Number Placeholder 3">
            <a:extLst>
              <a:ext uri="{FF2B5EF4-FFF2-40B4-BE49-F238E27FC236}">
                <a16:creationId xmlns:a16="http://schemas.microsoft.com/office/drawing/2014/main" id="{E8082337-F45D-6802-0AF1-ED09352E5EC1}"/>
              </a:ext>
            </a:extLst>
          </p:cNvPr>
          <p:cNvSpPr>
            <a:spLocks noGrp="1"/>
          </p:cNvSpPr>
          <p:nvPr>
            <p:ph type="sldNum" sz="quarter" idx="5"/>
          </p:nvPr>
        </p:nvSpPr>
        <p:spPr/>
        <p:txBody>
          <a:bodyPr/>
          <a:lstStyle/>
          <a:p>
            <a:fld id="{CFE641A9-FDE3-4583-B812-65C4064188F6}" type="slidenum">
              <a:rPr lang="en-CA" smtClean="0"/>
              <a:t>41</a:t>
            </a:fld>
            <a:endParaRPr lang="en-CA"/>
          </a:p>
        </p:txBody>
      </p:sp>
    </p:spTree>
    <p:extLst>
      <p:ext uri="{BB962C8B-B14F-4D97-AF65-F5344CB8AC3E}">
        <p14:creationId xmlns:p14="http://schemas.microsoft.com/office/powerpoint/2010/main" val="28351380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9C1B8-9CE4-3CFA-E553-ECF8E34C89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3160F7-FB04-0E97-5BC6-299B0E6F88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EE8290-31BA-5A86-5DB4-D83F63A2D2F7}"/>
              </a:ext>
            </a:extLst>
          </p:cNvPr>
          <p:cNvSpPr>
            <a:spLocks noGrp="1"/>
          </p:cNvSpPr>
          <p:nvPr>
            <p:ph type="body" idx="1"/>
          </p:nvPr>
        </p:nvSpPr>
        <p:spPr/>
        <p:txBody>
          <a:bodyPr/>
          <a:lstStyle/>
          <a:p>
            <a:r>
              <a:rPr lang="en-CA" sz="1200" b="0" i="0" kern="1200" dirty="0">
                <a:solidFill>
                  <a:schemeClr val="tx1"/>
                </a:solidFill>
                <a:effectLst/>
                <a:latin typeface="+mn-lt"/>
                <a:ea typeface="+mn-ea"/>
                <a:cs typeface="+mn-cs"/>
              </a:rPr>
              <a:t>Our solution for the Generation Check looks like this:</a:t>
            </a:r>
          </a:p>
          <a:p>
            <a:endParaRPr lang="en-CA" sz="1200" b="0" i="0" kern="1200" dirty="0">
              <a:solidFill>
                <a:schemeClr val="tx1"/>
              </a:solidFill>
              <a:effectLst/>
              <a:latin typeface="+mn-lt"/>
              <a:ea typeface="+mn-ea"/>
              <a:cs typeface="+mn-cs"/>
            </a:endParaRPr>
          </a:p>
          <a:p>
            <a:pPr rtl="0"/>
            <a:r>
              <a:rPr lang="en-CA" sz="1200" kern="1200" dirty="0">
                <a:solidFill>
                  <a:schemeClr val="tx1"/>
                </a:solidFill>
                <a:effectLst/>
                <a:latin typeface="+mn-lt"/>
                <a:ea typeface="+mn-ea"/>
                <a:cs typeface="+mn-cs"/>
              </a:rPr>
              <a:t>The indentation is correct, and the solution is readable. But the logic, while correct, is not consistent. </a:t>
            </a:r>
          </a:p>
          <a:p>
            <a:pPr rtl="0"/>
            <a:r>
              <a:rPr lang="en-CA" sz="1200" kern="1200" dirty="0">
                <a:solidFill>
                  <a:schemeClr val="tx1"/>
                </a:solidFill>
                <a:effectLst/>
                <a:latin typeface="+mn-lt"/>
                <a:ea typeface="+mn-ea"/>
                <a:cs typeface="+mn-cs"/>
              </a:rPr>
              <a:t>If we look closely, we notice that two of the IF statements use “greater than” symbols, and the other two use “greater than or equal to” symbols.</a:t>
            </a:r>
            <a:br>
              <a:rPr lang="en-CA" dirty="0">
                <a:effectLst/>
              </a:rPr>
            </a:br>
            <a:r>
              <a:rPr lang="en-CA" sz="1200" kern="1200" dirty="0">
                <a:solidFill>
                  <a:schemeClr val="tx1"/>
                </a:solidFill>
                <a:effectLst/>
                <a:latin typeface="+mn-lt"/>
                <a:ea typeface="+mn-ea"/>
                <a:cs typeface="+mn-cs"/>
              </a:rPr>
              <a:t>In programming, consistency is key to good coding. In this situation, we should update our logic to use either all “greater than” symbols or all “greater than or equal" symbols. Let’s choose the “greater than” symbols.</a:t>
            </a:r>
            <a:endParaRPr lang="en-CA" dirty="0">
              <a:effectLst/>
            </a:endParaRPr>
          </a:p>
          <a:p>
            <a:pPr rtl="0"/>
            <a:br>
              <a:rPr lang="en-CA" sz="1200" b="0" i="0" kern="1200" dirty="0">
                <a:solidFill>
                  <a:schemeClr val="tx1"/>
                </a:solidFill>
                <a:effectLst/>
                <a:latin typeface="+mn-lt"/>
                <a:ea typeface="+mn-ea"/>
                <a:cs typeface="+mn-cs"/>
              </a:rPr>
            </a:br>
            <a:endParaRPr lang="en-CA" dirty="0">
              <a:effectLst/>
            </a:endParaRPr>
          </a:p>
          <a:p>
            <a:endParaRPr lang="en-CA" dirty="0"/>
          </a:p>
        </p:txBody>
      </p:sp>
      <p:sp>
        <p:nvSpPr>
          <p:cNvPr id="4" name="Slide Number Placeholder 3">
            <a:extLst>
              <a:ext uri="{FF2B5EF4-FFF2-40B4-BE49-F238E27FC236}">
                <a16:creationId xmlns:a16="http://schemas.microsoft.com/office/drawing/2014/main" id="{2DA440A8-B0C9-FE8A-10DE-9D885C5EB5FE}"/>
              </a:ext>
            </a:extLst>
          </p:cNvPr>
          <p:cNvSpPr>
            <a:spLocks noGrp="1"/>
          </p:cNvSpPr>
          <p:nvPr>
            <p:ph type="sldNum" sz="quarter" idx="5"/>
          </p:nvPr>
        </p:nvSpPr>
        <p:spPr/>
        <p:txBody>
          <a:bodyPr/>
          <a:lstStyle/>
          <a:p>
            <a:fld id="{CFE641A9-FDE3-4583-B812-65C4064188F6}" type="slidenum">
              <a:rPr lang="en-CA" smtClean="0"/>
              <a:t>42</a:t>
            </a:fld>
            <a:endParaRPr lang="en-CA"/>
          </a:p>
        </p:txBody>
      </p:sp>
    </p:spTree>
    <p:extLst>
      <p:ext uri="{BB962C8B-B14F-4D97-AF65-F5344CB8AC3E}">
        <p14:creationId xmlns:p14="http://schemas.microsoft.com/office/powerpoint/2010/main" val="35722046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64F56-9614-BD58-2298-6D97D94564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37F154-6391-7AF2-5038-9B3BADADB4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798E3F-2C5C-2248-DA99-0DE39F03E060}"/>
              </a:ext>
            </a:extLst>
          </p:cNvPr>
          <p:cNvSpPr>
            <a:spLocks noGrp="1"/>
          </p:cNvSpPr>
          <p:nvPr>
            <p:ph type="body" idx="1"/>
          </p:nvPr>
        </p:nvSpPr>
        <p:spPr/>
        <p:txBody>
          <a:bodyPr/>
          <a:lstStyle/>
          <a:p>
            <a:r>
              <a:rPr lang="en-CA" sz="1200" b="0" i="0" kern="1200" dirty="0">
                <a:solidFill>
                  <a:schemeClr val="tx1"/>
                </a:solidFill>
                <a:effectLst/>
                <a:latin typeface="+mn-lt"/>
                <a:ea typeface="+mn-ea"/>
                <a:cs typeface="+mn-cs"/>
              </a:rPr>
              <a:t>Notice how when the symbol changed, the number we were comparing against also had to change so that our logic continued as expected.</a:t>
            </a:r>
            <a:endParaRPr lang="en-CA" dirty="0"/>
          </a:p>
        </p:txBody>
      </p:sp>
      <p:sp>
        <p:nvSpPr>
          <p:cNvPr id="4" name="Slide Number Placeholder 3">
            <a:extLst>
              <a:ext uri="{FF2B5EF4-FFF2-40B4-BE49-F238E27FC236}">
                <a16:creationId xmlns:a16="http://schemas.microsoft.com/office/drawing/2014/main" id="{B616D9F5-BB88-75C7-7B5E-6AA81146598A}"/>
              </a:ext>
            </a:extLst>
          </p:cNvPr>
          <p:cNvSpPr>
            <a:spLocks noGrp="1"/>
          </p:cNvSpPr>
          <p:nvPr>
            <p:ph type="sldNum" sz="quarter" idx="5"/>
          </p:nvPr>
        </p:nvSpPr>
        <p:spPr/>
        <p:txBody>
          <a:bodyPr/>
          <a:lstStyle/>
          <a:p>
            <a:fld id="{CFE641A9-FDE3-4583-B812-65C4064188F6}" type="slidenum">
              <a:rPr lang="en-CA" smtClean="0"/>
              <a:t>43</a:t>
            </a:fld>
            <a:endParaRPr lang="en-CA"/>
          </a:p>
        </p:txBody>
      </p:sp>
    </p:spTree>
    <p:extLst>
      <p:ext uri="{BB962C8B-B14F-4D97-AF65-F5344CB8AC3E}">
        <p14:creationId xmlns:p14="http://schemas.microsoft.com/office/powerpoint/2010/main" val="188856599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49954-9D5F-53CB-9C21-4743666106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6A4651-0745-4FD2-6DFB-55D1F9DD51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1C733-5C4E-C368-430D-DD1896F98A23}"/>
              </a:ext>
            </a:extLst>
          </p:cNvPr>
          <p:cNvSpPr>
            <a:spLocks noGrp="1"/>
          </p:cNvSpPr>
          <p:nvPr>
            <p:ph type="body" idx="1"/>
          </p:nvPr>
        </p:nvSpPr>
        <p:spPr/>
        <p:txBody>
          <a:bodyPr/>
          <a:lstStyle/>
          <a:p>
            <a:r>
              <a:rPr lang="en-CA" dirty="0"/>
              <a:t>So here is our Original Solution with Errors.</a:t>
            </a:r>
          </a:p>
        </p:txBody>
      </p:sp>
      <p:sp>
        <p:nvSpPr>
          <p:cNvPr id="4" name="Slide Number Placeholder 3">
            <a:extLst>
              <a:ext uri="{FF2B5EF4-FFF2-40B4-BE49-F238E27FC236}">
                <a16:creationId xmlns:a16="http://schemas.microsoft.com/office/drawing/2014/main" id="{9A3824AF-D391-5D83-A093-5522A564D5CE}"/>
              </a:ext>
            </a:extLst>
          </p:cNvPr>
          <p:cNvSpPr>
            <a:spLocks noGrp="1"/>
          </p:cNvSpPr>
          <p:nvPr>
            <p:ph type="sldNum" sz="quarter" idx="5"/>
          </p:nvPr>
        </p:nvSpPr>
        <p:spPr/>
        <p:txBody>
          <a:bodyPr/>
          <a:lstStyle/>
          <a:p>
            <a:fld id="{CFE641A9-FDE3-4583-B812-65C4064188F6}" type="slidenum">
              <a:rPr lang="en-CA" smtClean="0"/>
              <a:t>44</a:t>
            </a:fld>
            <a:endParaRPr lang="en-CA"/>
          </a:p>
        </p:txBody>
      </p:sp>
    </p:spTree>
    <p:extLst>
      <p:ext uri="{BB962C8B-B14F-4D97-AF65-F5344CB8AC3E}">
        <p14:creationId xmlns:p14="http://schemas.microsoft.com/office/powerpoint/2010/main" val="250434339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F4118-6EA7-B5E2-4E08-6B4A83136B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04ED6F-5F39-A158-5020-6EF31555DF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AD3576-FE20-3ABF-A6F0-24301FBAD403}"/>
              </a:ext>
            </a:extLst>
          </p:cNvPr>
          <p:cNvSpPr>
            <a:spLocks noGrp="1"/>
          </p:cNvSpPr>
          <p:nvPr>
            <p:ph type="body" idx="1"/>
          </p:nvPr>
        </p:nvSpPr>
        <p:spPr/>
        <p:txBody>
          <a:bodyPr/>
          <a:lstStyle/>
          <a:p>
            <a:r>
              <a:rPr lang="en-CA" dirty="0"/>
              <a:t>And here is our Complete, Debugged, and Refined solution.</a:t>
            </a:r>
          </a:p>
        </p:txBody>
      </p:sp>
      <p:sp>
        <p:nvSpPr>
          <p:cNvPr id="4" name="Slide Number Placeholder 3">
            <a:extLst>
              <a:ext uri="{FF2B5EF4-FFF2-40B4-BE49-F238E27FC236}">
                <a16:creationId xmlns:a16="http://schemas.microsoft.com/office/drawing/2014/main" id="{4719AFA4-3549-8AAE-89C1-2B5CDB003F1C}"/>
              </a:ext>
            </a:extLst>
          </p:cNvPr>
          <p:cNvSpPr>
            <a:spLocks noGrp="1"/>
          </p:cNvSpPr>
          <p:nvPr>
            <p:ph type="sldNum" sz="quarter" idx="5"/>
          </p:nvPr>
        </p:nvSpPr>
        <p:spPr/>
        <p:txBody>
          <a:bodyPr/>
          <a:lstStyle/>
          <a:p>
            <a:fld id="{CFE641A9-FDE3-4583-B812-65C4064188F6}" type="slidenum">
              <a:rPr lang="en-CA" smtClean="0"/>
              <a:t>45</a:t>
            </a:fld>
            <a:endParaRPr lang="en-CA"/>
          </a:p>
        </p:txBody>
      </p:sp>
    </p:spTree>
    <p:extLst>
      <p:ext uri="{BB962C8B-B14F-4D97-AF65-F5344CB8AC3E}">
        <p14:creationId xmlns:p14="http://schemas.microsoft.com/office/powerpoint/2010/main" val="427361830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Refactoring is the process of going back to existing, working code and improving it. As applications grow, they can become more complex, and some design patterns that made sense at the time are no longer applicable to a larger application.</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It may be necessary to update the legacy code and update or replace existing design patterns.</a:t>
            </a:r>
          </a:p>
          <a:p>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There are a couple main reasons to minimize the need for refactoring.</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1. It can be very time consuming. Depending on the task, you might need to update many parts of the application. A major refactor could take weeks or months to complete.</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2. With any code change, there is the risk of introducing errors. The more complex the code change, the higher the risk. Replacing working design patterns with new ones could easily introduce errors if not done carefully.</a:t>
            </a:r>
          </a:p>
          <a:p>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We can reduce the need for any refactoring by writing code right the first time. Things to keep in mind is scalability, efficiency, and ease of understanding.</a:t>
            </a:r>
            <a:endParaRPr lang="en-CA" dirty="0"/>
          </a:p>
        </p:txBody>
      </p:sp>
      <p:sp>
        <p:nvSpPr>
          <p:cNvPr id="4" name="Slide Number Placeholder 3"/>
          <p:cNvSpPr>
            <a:spLocks noGrp="1"/>
          </p:cNvSpPr>
          <p:nvPr>
            <p:ph type="sldNum" sz="quarter" idx="5"/>
          </p:nvPr>
        </p:nvSpPr>
        <p:spPr/>
        <p:txBody>
          <a:bodyPr/>
          <a:lstStyle/>
          <a:p>
            <a:fld id="{CFE641A9-FDE3-4583-B812-65C4064188F6}" type="slidenum">
              <a:rPr lang="en-CA" smtClean="0"/>
              <a:t>46</a:t>
            </a:fld>
            <a:endParaRPr lang="en-CA"/>
          </a:p>
        </p:txBody>
      </p:sp>
    </p:spTree>
    <p:extLst>
      <p:ext uri="{BB962C8B-B14F-4D97-AF65-F5344CB8AC3E}">
        <p14:creationId xmlns:p14="http://schemas.microsoft.com/office/powerpoint/2010/main" val="6336526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D3B4F-1BEA-18DC-4A7F-CC95B7C9AF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F24213-6612-5947-FE59-271751E317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CA1C36-203F-6F71-CB74-E4CB4BC02B1E}"/>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414786C7-A0B9-7164-FDFE-01FE5C692EDE}"/>
              </a:ext>
            </a:extLst>
          </p:cNvPr>
          <p:cNvSpPr>
            <a:spLocks noGrp="1"/>
          </p:cNvSpPr>
          <p:nvPr>
            <p:ph type="sldNum" sz="quarter" idx="5"/>
          </p:nvPr>
        </p:nvSpPr>
        <p:spPr/>
        <p:txBody>
          <a:bodyPr/>
          <a:lstStyle/>
          <a:p>
            <a:fld id="{CFE641A9-FDE3-4583-B812-65C4064188F6}" type="slidenum">
              <a:rPr lang="en-CA" smtClean="0"/>
              <a:t>47</a:t>
            </a:fld>
            <a:endParaRPr lang="en-CA"/>
          </a:p>
        </p:txBody>
      </p:sp>
    </p:spTree>
    <p:extLst>
      <p:ext uri="{BB962C8B-B14F-4D97-AF65-F5344CB8AC3E}">
        <p14:creationId xmlns:p14="http://schemas.microsoft.com/office/powerpoint/2010/main" val="14635951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85799" y="5078186"/>
            <a:ext cx="21210814" cy="2937782"/>
          </a:xfrm>
        </p:spPr>
        <p:txBody>
          <a:bodyPr anchor="t">
            <a:noAutofit/>
          </a:bodyPr>
          <a:lstStyle>
            <a:lvl1pPr algn="ctr">
              <a:lnSpc>
                <a:spcPct val="100000"/>
              </a:lnSpc>
              <a:defRPr sz="9600" cap="all" baseline="0">
                <a:solidFill>
                  <a:schemeClr val="bg2"/>
                </a:solidFill>
              </a:defRPr>
            </a:lvl1pPr>
          </a:lstStyle>
          <a:p>
            <a:r>
              <a:rPr lang="en-US"/>
              <a:t>Click to edit Master title style</a:t>
            </a:r>
            <a:endParaRPr lang="en-US" dirty="0"/>
          </a:p>
        </p:txBody>
      </p:sp>
      <p:sp>
        <p:nvSpPr>
          <p:cNvPr id="3" name="Subtitle 2"/>
          <p:cNvSpPr>
            <a:spLocks noGrp="1"/>
          </p:cNvSpPr>
          <p:nvPr>
            <p:ph type="subTitle" idx="1"/>
          </p:nvPr>
        </p:nvSpPr>
        <p:spPr>
          <a:xfrm>
            <a:off x="1585799" y="8752114"/>
            <a:ext cx="21210814" cy="2269673"/>
          </a:xfrm>
        </p:spPr>
        <p:txBody>
          <a:bodyPr/>
          <a:lstStyle>
            <a:lvl1pPr marL="0" indent="0" algn="ctr">
              <a:buNone/>
              <a:defRPr sz="4800">
                <a:solidFill>
                  <a:schemeClr val="bg2"/>
                </a:solidFill>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en-US"/>
              <a:t>Click to edit Master subtitle style</a:t>
            </a:r>
            <a:endParaRPr lang="en-US" dirty="0"/>
          </a:p>
        </p:txBody>
      </p:sp>
    </p:spTree>
    <p:extLst>
      <p:ext uri="{BB962C8B-B14F-4D97-AF65-F5344CB8AC3E}">
        <p14:creationId xmlns:p14="http://schemas.microsoft.com/office/powerpoint/2010/main" val="3018503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7200">
                <a:solidFill>
                  <a:schemeClr val="accent1"/>
                </a:solidFill>
              </a:defRPr>
            </a:lvl1pPr>
          </a:lstStyle>
          <a:p>
            <a:r>
              <a:rPr lang="en-US" dirty="0"/>
              <a:t>CLICK TO EDIT MASTER TITLE STYLE</a:t>
            </a:r>
          </a:p>
        </p:txBody>
      </p:sp>
      <p:sp>
        <p:nvSpPr>
          <p:cNvPr id="3" name="Content Placeholder 2"/>
          <p:cNvSpPr>
            <a:spLocks noGrp="1"/>
          </p:cNvSpPr>
          <p:nvPr>
            <p:ph idx="1"/>
          </p:nvPr>
        </p:nvSpPr>
        <p:spPr>
          <a:xfrm>
            <a:off x="1676291" y="3651250"/>
            <a:ext cx="21029831" cy="737380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Box 3">
            <a:extLst>
              <a:ext uri="{FF2B5EF4-FFF2-40B4-BE49-F238E27FC236}">
                <a16:creationId xmlns:a16="http://schemas.microsoft.com/office/drawing/2014/main" id="{67BAD23F-0E93-DF4A-8F98-CC7CE27E2020}"/>
              </a:ext>
            </a:extLst>
          </p:cNvPr>
          <p:cNvSpPr txBox="1"/>
          <p:nvPr userDrawn="1"/>
        </p:nvSpPr>
        <p:spPr>
          <a:xfrm>
            <a:off x="3962400" y="1359877"/>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025977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lumn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7200" cap="all" baseline="0"/>
            </a:lvl1pPr>
          </a:lstStyle>
          <a:p>
            <a:r>
              <a:rPr lang="en-US"/>
              <a:t>Click to edit Master title style</a:t>
            </a:r>
            <a:endParaRPr lang="en-US" dirty="0"/>
          </a:p>
        </p:txBody>
      </p:sp>
      <p:sp>
        <p:nvSpPr>
          <p:cNvPr id="3" name="Content Placeholder 2"/>
          <p:cNvSpPr>
            <a:spLocks noGrp="1"/>
          </p:cNvSpPr>
          <p:nvPr>
            <p:ph sz="half" idx="1"/>
          </p:nvPr>
        </p:nvSpPr>
        <p:spPr>
          <a:xfrm>
            <a:off x="1676291" y="3651249"/>
            <a:ext cx="10362526" cy="91013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2343596" y="3651250"/>
            <a:ext cx="10362526" cy="75664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19497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Highlight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7200" cap="all" baseline="0">
                <a:solidFill>
                  <a:schemeClr val="bg2"/>
                </a:solidFill>
              </a:defRPr>
            </a:lvl1pPr>
          </a:lstStyle>
          <a:p>
            <a:r>
              <a:rPr lang="en-US"/>
              <a:t>Click to edit Master title style</a:t>
            </a:r>
            <a:endParaRPr lang="en-US" dirty="0"/>
          </a:p>
        </p:txBody>
      </p:sp>
      <p:sp>
        <p:nvSpPr>
          <p:cNvPr id="3" name="Content Placeholder 2"/>
          <p:cNvSpPr>
            <a:spLocks noGrp="1"/>
          </p:cNvSpPr>
          <p:nvPr>
            <p:ph idx="1"/>
          </p:nvPr>
        </p:nvSpPr>
        <p:spPr>
          <a:xfrm>
            <a:off x="1676291" y="3651250"/>
            <a:ext cx="21029831" cy="6962321"/>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945748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AADA339-B7CC-2B4C-9CB9-A33E03B63410}"/>
              </a:ext>
            </a:extLst>
          </p:cNvPr>
          <p:cNvSpPr>
            <a:spLocks noGrp="1"/>
          </p:cNvSpPr>
          <p:nvPr>
            <p:ph type="ctrTitle"/>
          </p:nvPr>
        </p:nvSpPr>
        <p:spPr>
          <a:xfrm>
            <a:off x="1585799" y="5570555"/>
            <a:ext cx="21210814" cy="2937782"/>
          </a:xfrm>
        </p:spPr>
        <p:txBody>
          <a:bodyPr anchor="t">
            <a:noAutofit/>
          </a:bodyPr>
          <a:lstStyle>
            <a:lvl1pPr algn="ctr">
              <a:lnSpc>
                <a:spcPct val="100000"/>
              </a:lnSpc>
              <a:defRPr sz="8000" cap="all" baseline="0">
                <a:solidFill>
                  <a:schemeClr val="bg2"/>
                </a:solidFill>
              </a:defRPr>
            </a:lvl1pPr>
          </a:lstStyle>
          <a:p>
            <a:r>
              <a:rPr lang="en-US"/>
              <a:t>Click to edit Master title style</a:t>
            </a:r>
            <a:endParaRPr lang="en-US" dirty="0"/>
          </a:p>
        </p:txBody>
      </p:sp>
    </p:spTree>
    <p:extLst>
      <p:ext uri="{BB962C8B-B14F-4D97-AF65-F5344CB8AC3E}">
        <p14:creationId xmlns:p14="http://schemas.microsoft.com/office/powerpoint/2010/main" val="3391353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for large charts/images/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5877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starburs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6875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6291" y="730251"/>
            <a:ext cx="21029831" cy="2651126"/>
          </a:xfrm>
          <a:prstGeom prst="rect">
            <a:avLst/>
          </a:prstGeom>
        </p:spPr>
        <p:txBody>
          <a:bodyPr vert="horz" lIns="91440" tIns="45720" rIns="91440" bIns="45720" rtlCol="0" anchor="ctr">
            <a:normAutofit/>
          </a:bodyPr>
          <a:lstStyle/>
          <a:p>
            <a:r>
              <a:rPr lang="en-US" dirty="0"/>
              <a:t>CLICK ADD TITLE</a:t>
            </a:r>
          </a:p>
        </p:txBody>
      </p:sp>
      <p:sp>
        <p:nvSpPr>
          <p:cNvPr id="3" name="Text Placeholder 2"/>
          <p:cNvSpPr>
            <a:spLocks noGrp="1"/>
          </p:cNvSpPr>
          <p:nvPr>
            <p:ph type="body" idx="1"/>
          </p:nvPr>
        </p:nvSpPr>
        <p:spPr>
          <a:xfrm>
            <a:off x="1676291" y="3651250"/>
            <a:ext cx="21029831" cy="87026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676291" y="12712701"/>
            <a:ext cx="5486043" cy="730250"/>
          </a:xfrm>
          <a:prstGeom prst="rect">
            <a:avLst/>
          </a:prstGeom>
        </p:spPr>
        <p:txBody>
          <a:bodyPr vert="horz" lIns="91440" tIns="45720" rIns="91440" bIns="45720" rtlCol="0" anchor="ctr"/>
          <a:lstStyle>
            <a:lvl1pPr algn="l">
              <a:defRPr sz="2400" b="0" i="0">
                <a:solidFill>
                  <a:schemeClr val="tx1">
                    <a:tint val="75000"/>
                  </a:schemeClr>
                </a:solidFill>
                <a:latin typeface="Arial" panose="020B0604020202020204" pitchFamily="34" charset="0"/>
                <a:cs typeface="Arial" panose="020B0604020202020204" pitchFamily="34" charset="0"/>
              </a:defRPr>
            </a:lvl1pPr>
          </a:lstStyle>
          <a:p>
            <a:fld id="{1D4256BD-EBF6-F04C-B88C-52582AC3F228}" type="datetimeFigureOut">
              <a:rPr lang="en-US" smtClean="0"/>
              <a:pPr/>
              <a:t>5/12/26</a:t>
            </a:fld>
            <a:endParaRPr lang="en-US"/>
          </a:p>
        </p:txBody>
      </p:sp>
      <p:sp>
        <p:nvSpPr>
          <p:cNvPr id="5" name="Footer Placeholder 4"/>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b="0" i="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p:cNvSpPr>
            <a:spLocks noGrp="1"/>
          </p:cNvSpPr>
          <p:nvPr>
            <p:ph type="sldNum" sz="quarter" idx="4"/>
          </p:nvPr>
        </p:nvSpPr>
        <p:spPr>
          <a:xfrm>
            <a:off x="17220079" y="12712701"/>
            <a:ext cx="5486043" cy="730250"/>
          </a:xfrm>
          <a:prstGeom prst="rect">
            <a:avLst/>
          </a:prstGeom>
        </p:spPr>
        <p:txBody>
          <a:bodyPr vert="horz" lIns="91440" tIns="45720" rIns="91440" bIns="45720" rtlCol="0" anchor="ctr"/>
          <a:lstStyle>
            <a:lvl1pPr algn="r">
              <a:defRPr sz="2400" b="0" i="0">
                <a:solidFill>
                  <a:schemeClr val="tx1">
                    <a:tint val="75000"/>
                  </a:schemeClr>
                </a:solidFill>
                <a:latin typeface="Arial" panose="020B0604020202020204" pitchFamily="34" charset="0"/>
                <a:cs typeface="Arial" panose="020B0604020202020204" pitchFamily="34" charset="0"/>
              </a:defRPr>
            </a:lvl1pPr>
          </a:lstStyle>
          <a:p>
            <a:fld id="{43E0FCCE-2EC3-1049-A592-35D9C6652762}" type="slidenum">
              <a:rPr lang="en-US" smtClean="0"/>
              <a:pPr/>
              <a:t>‹#›</a:t>
            </a:fld>
            <a:endParaRPr lang="en-US"/>
          </a:p>
        </p:txBody>
      </p:sp>
    </p:spTree>
    <p:extLst>
      <p:ext uri="{BB962C8B-B14F-4D97-AF65-F5344CB8AC3E}">
        <p14:creationId xmlns:p14="http://schemas.microsoft.com/office/powerpoint/2010/main" val="2033442270"/>
      </p:ext>
    </p:extLst>
  </p:cSld>
  <p:clrMap bg1="lt1" tx1="dk1" bg2="lt2" tx2="dk2" accent1="accent1" accent2="accent2" accent3="accent3" accent4="accent4" accent5="accent5" accent6="accent6" hlink="hlink" folHlink="folHlink"/>
  <p:sldLayoutIdLst>
    <p:sldLayoutId id="2147483700" r:id="rId1"/>
    <p:sldLayoutId id="2147483698" r:id="rId2"/>
    <p:sldLayoutId id="2147483695" r:id="rId3"/>
    <p:sldLayoutId id="2147483676" r:id="rId4"/>
    <p:sldLayoutId id="2147483703" r:id="rId5"/>
    <p:sldLayoutId id="2147483704" r:id="rId6"/>
    <p:sldLayoutId id="2147483705" r:id="rId7"/>
  </p:sldLayoutIdLst>
  <p:txStyles>
    <p:titleStyle>
      <a:lvl1pPr algn="l" defTabSz="1828709" rtl="0" eaLnBrk="1" latinLnBrk="0" hangingPunct="1">
        <a:lnSpc>
          <a:spcPct val="90000"/>
        </a:lnSpc>
        <a:spcBef>
          <a:spcPct val="0"/>
        </a:spcBef>
        <a:buNone/>
        <a:defRPr sz="7200" b="1" i="0" kern="1200">
          <a:solidFill>
            <a:schemeClr val="accent1"/>
          </a:solidFill>
          <a:latin typeface="Arial" panose="020B0604020202020204" pitchFamily="34" charset="0"/>
          <a:ea typeface="+mj-ea"/>
          <a:cs typeface="Arial" panose="020B0604020202020204" pitchFamily="34" charset="0"/>
        </a:defRPr>
      </a:lvl1pPr>
    </p:titleStyle>
    <p:bodyStyle>
      <a:lvl1pPr marL="457177" indent="-457177" algn="l" defTabSz="1828709" rtl="0" eaLnBrk="1" latinLnBrk="0" hangingPunct="1">
        <a:lnSpc>
          <a:spcPct val="90000"/>
        </a:lnSpc>
        <a:spcBef>
          <a:spcPts val="2000"/>
        </a:spcBef>
        <a:buFont typeface="Arial" panose="020B0604020202020204" pitchFamily="34" charset="0"/>
        <a:buChar char="•"/>
        <a:defRPr sz="5600" b="0" i="0" kern="1200">
          <a:solidFill>
            <a:schemeClr val="tx1"/>
          </a:solidFill>
          <a:latin typeface="Arial" panose="020B0604020202020204" pitchFamily="34" charset="0"/>
          <a:ea typeface="+mn-ea"/>
          <a:cs typeface="Arial" panose="020B0604020202020204" pitchFamily="34" charset="0"/>
        </a:defRPr>
      </a:lvl1pPr>
      <a:lvl2pPr marL="1371531" indent="-457177" algn="l" defTabSz="1828709" rtl="0" eaLnBrk="1" latinLnBrk="0" hangingPunct="1">
        <a:lnSpc>
          <a:spcPct val="90000"/>
        </a:lnSpc>
        <a:spcBef>
          <a:spcPts val="1000"/>
        </a:spcBef>
        <a:buFont typeface="Arial" panose="020B0604020202020204" pitchFamily="34" charset="0"/>
        <a:buChar char="•"/>
        <a:defRPr sz="4800" b="0" i="0" kern="1200">
          <a:solidFill>
            <a:schemeClr val="tx1"/>
          </a:solidFill>
          <a:latin typeface="Arial" panose="020B0604020202020204" pitchFamily="34" charset="0"/>
          <a:ea typeface="+mn-ea"/>
          <a:cs typeface="Arial" panose="020B0604020202020204" pitchFamily="34" charset="0"/>
        </a:defRPr>
      </a:lvl2pPr>
      <a:lvl3pPr marL="2285886" indent="-457177" algn="l" defTabSz="1828709" rtl="0" eaLnBrk="1" latinLnBrk="0" hangingPunct="1">
        <a:lnSpc>
          <a:spcPct val="90000"/>
        </a:lnSpc>
        <a:spcBef>
          <a:spcPts val="1000"/>
        </a:spcBef>
        <a:buFont typeface="Arial" panose="020B0604020202020204" pitchFamily="34" charset="0"/>
        <a:buChar char="•"/>
        <a:defRPr sz="4000" b="0" i="0" kern="1200">
          <a:solidFill>
            <a:schemeClr val="tx1"/>
          </a:solidFill>
          <a:latin typeface="Arial" panose="020B0604020202020204" pitchFamily="34" charset="0"/>
          <a:ea typeface="+mn-ea"/>
          <a:cs typeface="Arial" panose="020B0604020202020204" pitchFamily="34" charset="0"/>
        </a:defRPr>
      </a:lvl3pPr>
      <a:lvl4pPr marL="3200240" indent="-457177" algn="l" defTabSz="1828709" rtl="0" eaLnBrk="1" latinLnBrk="0" hangingPunct="1">
        <a:lnSpc>
          <a:spcPct val="90000"/>
        </a:lnSpc>
        <a:spcBef>
          <a:spcPts val="1000"/>
        </a:spcBef>
        <a:buFont typeface="Arial" panose="020B0604020202020204" pitchFamily="34" charset="0"/>
        <a:buChar char="•"/>
        <a:defRPr sz="3600" b="0" i="0" kern="1200">
          <a:solidFill>
            <a:schemeClr val="tx1"/>
          </a:solidFill>
          <a:latin typeface="Arial" panose="020B0604020202020204" pitchFamily="34" charset="0"/>
          <a:ea typeface="+mn-ea"/>
          <a:cs typeface="Arial" panose="020B0604020202020204" pitchFamily="34" charset="0"/>
        </a:defRPr>
      </a:lvl4pPr>
      <a:lvl5pPr marL="4114594" indent="-457177" algn="l" defTabSz="1828709" rtl="0" eaLnBrk="1" latinLnBrk="0" hangingPunct="1">
        <a:lnSpc>
          <a:spcPct val="90000"/>
        </a:lnSpc>
        <a:spcBef>
          <a:spcPts val="1000"/>
        </a:spcBef>
        <a:buFont typeface="Arial" panose="020B0604020202020204" pitchFamily="34" charset="0"/>
        <a:buChar char="•"/>
        <a:defRPr sz="3600" b="0" i="0" kern="1200">
          <a:solidFill>
            <a:schemeClr val="tx1"/>
          </a:solidFill>
          <a:latin typeface="Arial" panose="020B0604020202020204" pitchFamily="34" charset="0"/>
          <a:ea typeface="+mn-ea"/>
          <a:cs typeface="Arial" panose="020B0604020202020204" pitchFamily="34" charset="0"/>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709" rtl="0" eaLnBrk="1" latinLnBrk="0" hangingPunct="1">
        <a:defRPr sz="3600" kern="1200">
          <a:solidFill>
            <a:schemeClr val="tx1"/>
          </a:solidFill>
          <a:latin typeface="+mn-lt"/>
          <a:ea typeface="+mn-ea"/>
          <a:cs typeface="+mn-cs"/>
        </a:defRPr>
      </a:lvl1pPr>
      <a:lvl2pPr marL="914354" algn="l" defTabSz="1828709" rtl="0" eaLnBrk="1" latinLnBrk="0" hangingPunct="1">
        <a:defRPr sz="3600" kern="1200">
          <a:solidFill>
            <a:schemeClr val="tx1"/>
          </a:solidFill>
          <a:latin typeface="+mn-lt"/>
          <a:ea typeface="+mn-ea"/>
          <a:cs typeface="+mn-cs"/>
        </a:defRPr>
      </a:lvl2pPr>
      <a:lvl3pPr marL="1828709" algn="l" defTabSz="1828709" rtl="0" eaLnBrk="1" latinLnBrk="0" hangingPunct="1">
        <a:defRPr sz="3600" kern="1200">
          <a:solidFill>
            <a:schemeClr val="tx1"/>
          </a:solidFill>
          <a:latin typeface="+mn-lt"/>
          <a:ea typeface="+mn-ea"/>
          <a:cs typeface="+mn-cs"/>
        </a:defRPr>
      </a:lvl3pPr>
      <a:lvl4pPr marL="2743063" algn="l" defTabSz="1828709" rtl="0" eaLnBrk="1" latinLnBrk="0" hangingPunct="1">
        <a:defRPr sz="3600" kern="1200">
          <a:solidFill>
            <a:schemeClr val="tx1"/>
          </a:solidFill>
          <a:latin typeface="+mn-lt"/>
          <a:ea typeface="+mn-ea"/>
          <a:cs typeface="+mn-cs"/>
        </a:defRPr>
      </a:lvl4pPr>
      <a:lvl5pPr marL="3657417" algn="l" defTabSz="1828709" rtl="0" eaLnBrk="1" latinLnBrk="0" hangingPunct="1">
        <a:defRPr sz="3600" kern="1200">
          <a:solidFill>
            <a:schemeClr val="tx1"/>
          </a:solidFill>
          <a:latin typeface="+mn-lt"/>
          <a:ea typeface="+mn-ea"/>
          <a:cs typeface="+mn-cs"/>
        </a:defRPr>
      </a:lvl5pPr>
      <a:lvl6pPr marL="4571771" algn="l" defTabSz="1828709" rtl="0" eaLnBrk="1" latinLnBrk="0" hangingPunct="1">
        <a:defRPr sz="3600" kern="1200">
          <a:solidFill>
            <a:schemeClr val="tx1"/>
          </a:solidFill>
          <a:latin typeface="+mn-lt"/>
          <a:ea typeface="+mn-ea"/>
          <a:cs typeface="+mn-cs"/>
        </a:defRPr>
      </a:lvl6pPr>
      <a:lvl7pPr marL="5486126" algn="l" defTabSz="1828709" rtl="0" eaLnBrk="1" latinLnBrk="0" hangingPunct="1">
        <a:defRPr sz="3600" kern="1200">
          <a:solidFill>
            <a:schemeClr val="tx1"/>
          </a:solidFill>
          <a:latin typeface="+mn-lt"/>
          <a:ea typeface="+mn-ea"/>
          <a:cs typeface="+mn-cs"/>
        </a:defRPr>
      </a:lvl7pPr>
      <a:lvl8pPr marL="6400480" algn="l" defTabSz="1828709" rtl="0" eaLnBrk="1" latinLnBrk="0" hangingPunct="1">
        <a:defRPr sz="3600" kern="1200">
          <a:solidFill>
            <a:schemeClr val="tx1"/>
          </a:solidFill>
          <a:latin typeface="+mn-lt"/>
          <a:ea typeface="+mn-ea"/>
          <a:cs typeface="+mn-cs"/>
        </a:defRPr>
      </a:lvl8pPr>
      <a:lvl9pPr marL="7314834" algn="l" defTabSz="1828709"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customXml" Target="../ink/ink5.xml"/><Relationship Id="rId18" Type="http://schemas.openxmlformats.org/officeDocument/2006/relationships/image" Target="../media/image18.png"/><Relationship Id="rId3" Type="http://schemas.openxmlformats.org/officeDocument/2006/relationships/image" Target="../media/image10.png"/><Relationship Id="rId7" Type="http://schemas.openxmlformats.org/officeDocument/2006/relationships/customXml" Target="../ink/ink2.xml"/><Relationship Id="rId12" Type="http://schemas.openxmlformats.org/officeDocument/2006/relationships/image" Target="../media/image15.png"/><Relationship Id="rId17" Type="http://schemas.openxmlformats.org/officeDocument/2006/relationships/customXml" Target="../ink/ink7.xml"/><Relationship Id="rId2" Type="http://schemas.openxmlformats.org/officeDocument/2006/relationships/notesSlide" Target="../notesSlides/notesSlide18.xml"/><Relationship Id="rId16"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customXml" Target="../ink/ink4.xml"/><Relationship Id="rId5" Type="http://schemas.openxmlformats.org/officeDocument/2006/relationships/customXml" Target="../ink/ink1.xml"/><Relationship Id="rId15" Type="http://schemas.openxmlformats.org/officeDocument/2006/relationships/customXml" Target="../ink/ink6.xml"/><Relationship Id="rId10" Type="http://schemas.openxmlformats.org/officeDocument/2006/relationships/image" Target="../media/image14.png"/><Relationship Id="rId4" Type="http://schemas.openxmlformats.org/officeDocument/2006/relationships/image" Target="../media/image11.png"/><Relationship Id="rId9" Type="http://schemas.openxmlformats.org/officeDocument/2006/relationships/customXml" Target="../ink/ink3.xml"/><Relationship Id="rId14"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customXml" Target="../ink/ink12.xml"/><Relationship Id="rId18" Type="http://schemas.openxmlformats.org/officeDocument/2006/relationships/image" Target="../media/image18.png"/><Relationship Id="rId3" Type="http://schemas.openxmlformats.org/officeDocument/2006/relationships/image" Target="../media/image10.png"/><Relationship Id="rId7" Type="http://schemas.openxmlformats.org/officeDocument/2006/relationships/customXml" Target="../ink/ink9.xml"/><Relationship Id="rId12" Type="http://schemas.openxmlformats.org/officeDocument/2006/relationships/image" Target="../media/image15.png"/><Relationship Id="rId17" Type="http://schemas.openxmlformats.org/officeDocument/2006/relationships/customXml" Target="../ink/ink14.xml"/><Relationship Id="rId2" Type="http://schemas.openxmlformats.org/officeDocument/2006/relationships/notesSlide" Target="../notesSlides/notesSlide41.xml"/><Relationship Id="rId16"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customXml" Target="../ink/ink11.xml"/><Relationship Id="rId5" Type="http://schemas.openxmlformats.org/officeDocument/2006/relationships/customXml" Target="../ink/ink8.xml"/><Relationship Id="rId15" Type="http://schemas.openxmlformats.org/officeDocument/2006/relationships/customXml" Target="../ink/ink13.xml"/><Relationship Id="rId10" Type="http://schemas.openxmlformats.org/officeDocument/2006/relationships/image" Target="../media/image14.png"/><Relationship Id="rId4" Type="http://schemas.openxmlformats.org/officeDocument/2006/relationships/image" Target="../media/image11.png"/><Relationship Id="rId9" Type="http://schemas.openxmlformats.org/officeDocument/2006/relationships/customXml" Target="../ink/ink10.xml"/><Relationship Id="rId14" Type="http://schemas.openxmlformats.org/officeDocument/2006/relationships/image" Target="../media/image16.png"/></Relationships>
</file>

<file path=ppt/slides/_rels/slide45.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6.png"/><Relationship Id="rId7" Type="http://schemas.openxmlformats.org/officeDocument/2006/relationships/customXml" Target="../ink/ink16.xml"/><Relationship Id="rId12" Type="http://schemas.openxmlformats.org/officeDocument/2006/relationships/image" Target="../media/image41.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customXml" Target="../ink/ink18.xml"/><Relationship Id="rId5" Type="http://schemas.openxmlformats.org/officeDocument/2006/relationships/customXml" Target="../ink/ink15.xml"/><Relationship Id="rId10" Type="http://schemas.openxmlformats.org/officeDocument/2006/relationships/image" Target="../media/image40.png"/><Relationship Id="rId4" Type="http://schemas.openxmlformats.org/officeDocument/2006/relationships/image" Target="../media/image37.png"/><Relationship Id="rId9" Type="http://schemas.openxmlformats.org/officeDocument/2006/relationships/customXml" Target="../ink/ink1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34F75-93C1-9D40-86A3-4C13A50E20D0}"/>
              </a:ext>
            </a:extLst>
          </p:cNvPr>
          <p:cNvSpPr>
            <a:spLocks noGrp="1"/>
          </p:cNvSpPr>
          <p:nvPr>
            <p:ph type="ctrTitle"/>
          </p:nvPr>
        </p:nvSpPr>
        <p:spPr/>
        <p:txBody>
          <a:bodyPr/>
          <a:lstStyle/>
          <a:p>
            <a:r>
              <a:rPr lang="en-US" dirty="0"/>
              <a:t>Common logical errors and debugging techniques</a:t>
            </a:r>
          </a:p>
        </p:txBody>
      </p:sp>
    </p:spTree>
    <p:extLst>
      <p:ext uri="{BB962C8B-B14F-4D97-AF65-F5344CB8AC3E}">
        <p14:creationId xmlns:p14="http://schemas.microsoft.com/office/powerpoint/2010/main" val="10885977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C76CB-5933-4F51-D8B5-7E197B2AF8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C3032F-E78A-AAA9-014D-6139C866B69A}"/>
              </a:ext>
            </a:extLst>
          </p:cNvPr>
          <p:cNvSpPr>
            <a:spLocks noGrp="1"/>
          </p:cNvSpPr>
          <p:nvPr>
            <p:ph type="title"/>
          </p:nvPr>
        </p:nvSpPr>
        <p:spPr/>
        <p:txBody>
          <a:bodyPr>
            <a:normAutofit/>
          </a:bodyPr>
          <a:lstStyle/>
          <a:p>
            <a:r>
              <a:rPr lang="en-CA" sz="9600" dirty="0"/>
              <a:t>Lesson Objectives</a:t>
            </a:r>
          </a:p>
        </p:txBody>
      </p:sp>
      <p:sp>
        <p:nvSpPr>
          <p:cNvPr id="3" name="Content Placeholder 2">
            <a:extLst>
              <a:ext uri="{FF2B5EF4-FFF2-40B4-BE49-F238E27FC236}">
                <a16:creationId xmlns:a16="http://schemas.microsoft.com/office/drawing/2014/main" id="{A4885D3A-655D-86A2-8042-A1D049A6AC98}"/>
              </a:ext>
            </a:extLst>
          </p:cNvPr>
          <p:cNvSpPr>
            <a:spLocks noGrp="1"/>
          </p:cNvSpPr>
          <p:nvPr>
            <p:ph idx="1"/>
          </p:nvPr>
        </p:nvSpPr>
        <p:spPr/>
        <p:txBody>
          <a:bodyPr>
            <a:normAutofit/>
          </a:bodyPr>
          <a:lstStyle/>
          <a:p>
            <a:r>
              <a:rPr lang="en-CA" sz="7200" dirty="0"/>
              <a:t>Identify common logical errors in pseudocode</a:t>
            </a:r>
          </a:p>
          <a:p>
            <a:r>
              <a:rPr lang="en-CA" sz="7200" dirty="0"/>
              <a:t>Apply systematic debugging techniques to locate and fix errors</a:t>
            </a:r>
          </a:p>
          <a:p>
            <a:r>
              <a:rPr lang="en-CA" sz="7200" dirty="0"/>
              <a:t>Develop a structured approach to verifying the correctness of pseudocode</a:t>
            </a:r>
          </a:p>
          <a:p>
            <a:pPr marL="0" indent="0">
              <a:buNone/>
            </a:pPr>
            <a:endParaRPr lang="en-CA" sz="7200" dirty="0"/>
          </a:p>
        </p:txBody>
      </p:sp>
    </p:spTree>
    <p:extLst>
      <p:ext uri="{BB962C8B-B14F-4D97-AF65-F5344CB8AC3E}">
        <p14:creationId xmlns:p14="http://schemas.microsoft.com/office/powerpoint/2010/main" val="3254359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32E8B-E711-DDB5-B058-56095930BB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D26FA7-7F09-9744-0DB0-554BDAEE9D84}"/>
              </a:ext>
            </a:extLst>
          </p:cNvPr>
          <p:cNvSpPr>
            <a:spLocks noGrp="1"/>
          </p:cNvSpPr>
          <p:nvPr>
            <p:ph type="ctrTitle"/>
          </p:nvPr>
        </p:nvSpPr>
        <p:spPr/>
        <p:txBody>
          <a:bodyPr/>
          <a:lstStyle/>
          <a:p>
            <a:r>
              <a:rPr lang="en-US" dirty="0"/>
              <a:t>Logical errors</a:t>
            </a:r>
          </a:p>
        </p:txBody>
      </p:sp>
    </p:spTree>
    <p:extLst>
      <p:ext uri="{BB962C8B-B14F-4D97-AF65-F5344CB8AC3E}">
        <p14:creationId xmlns:p14="http://schemas.microsoft.com/office/powerpoint/2010/main" val="2126842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63863-BD7A-F737-85C2-C6888041F8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357BE3-9ECF-A22A-5A8F-472C15527D6F}"/>
              </a:ext>
            </a:extLst>
          </p:cNvPr>
          <p:cNvSpPr>
            <a:spLocks noGrp="1"/>
          </p:cNvSpPr>
          <p:nvPr>
            <p:ph type="title"/>
          </p:nvPr>
        </p:nvSpPr>
        <p:spPr/>
        <p:txBody>
          <a:bodyPr>
            <a:normAutofit/>
          </a:bodyPr>
          <a:lstStyle/>
          <a:p>
            <a:r>
              <a:rPr lang="en-CA" sz="9600" dirty="0"/>
              <a:t>Logical Errors</a:t>
            </a:r>
          </a:p>
        </p:txBody>
      </p:sp>
      <p:sp>
        <p:nvSpPr>
          <p:cNvPr id="3" name="Content Placeholder 2">
            <a:extLst>
              <a:ext uri="{FF2B5EF4-FFF2-40B4-BE49-F238E27FC236}">
                <a16:creationId xmlns:a16="http://schemas.microsoft.com/office/drawing/2014/main" id="{9EAEC469-597B-528E-1FE8-C91023BB31B3}"/>
              </a:ext>
            </a:extLst>
          </p:cNvPr>
          <p:cNvSpPr>
            <a:spLocks noGrp="1"/>
          </p:cNvSpPr>
          <p:nvPr>
            <p:ph idx="1"/>
          </p:nvPr>
        </p:nvSpPr>
        <p:spPr>
          <a:xfrm>
            <a:off x="1676291" y="3651250"/>
            <a:ext cx="21029831" cy="7373801"/>
          </a:xfrm>
        </p:spPr>
        <p:txBody>
          <a:bodyPr>
            <a:normAutofit/>
          </a:bodyPr>
          <a:lstStyle/>
          <a:p>
            <a:r>
              <a:rPr lang="en-CA" sz="7200" dirty="0"/>
              <a:t>Problem with the algorithm design that cause incorrect or unexpected behavior</a:t>
            </a:r>
          </a:p>
          <a:p>
            <a:r>
              <a:rPr lang="en-CA" sz="7200" dirty="0"/>
              <a:t>For example:</a:t>
            </a:r>
          </a:p>
          <a:p>
            <a:pPr lvl="1"/>
            <a:r>
              <a:rPr lang="en-CA" sz="6400" dirty="0"/>
              <a:t>Incorrect comparisons</a:t>
            </a:r>
          </a:p>
          <a:p>
            <a:pPr lvl="1"/>
            <a:r>
              <a:rPr lang="en-CA" sz="6400" dirty="0"/>
              <a:t>Logic flow in an incorrect order</a:t>
            </a:r>
          </a:p>
          <a:p>
            <a:pPr lvl="1"/>
            <a:r>
              <a:rPr lang="en-CA" sz="6400" dirty="0"/>
              <a:t>A single missing line</a:t>
            </a:r>
          </a:p>
        </p:txBody>
      </p:sp>
    </p:spTree>
    <p:extLst>
      <p:ext uri="{BB962C8B-B14F-4D97-AF65-F5344CB8AC3E}">
        <p14:creationId xmlns:p14="http://schemas.microsoft.com/office/powerpoint/2010/main" val="404014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0BCC4-3535-AC69-629E-AC3F777BC1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3BF244-20E6-8875-6134-A224B03D6605}"/>
              </a:ext>
            </a:extLst>
          </p:cNvPr>
          <p:cNvSpPr>
            <a:spLocks noGrp="1"/>
          </p:cNvSpPr>
          <p:nvPr>
            <p:ph type="title"/>
          </p:nvPr>
        </p:nvSpPr>
        <p:spPr/>
        <p:txBody>
          <a:bodyPr>
            <a:normAutofit/>
          </a:bodyPr>
          <a:lstStyle/>
          <a:p>
            <a:r>
              <a:rPr lang="en-CA" sz="9600" dirty="0"/>
              <a:t>Program to Count to 10</a:t>
            </a:r>
          </a:p>
        </p:txBody>
      </p:sp>
      <p:pic>
        <p:nvPicPr>
          <p:cNvPr id="8" name="Picture 7">
            <a:extLst>
              <a:ext uri="{FF2B5EF4-FFF2-40B4-BE49-F238E27FC236}">
                <a16:creationId xmlns:a16="http://schemas.microsoft.com/office/drawing/2014/main" id="{EAE409F5-F768-369C-8514-9B713CC5398B}"/>
              </a:ext>
            </a:extLst>
          </p:cNvPr>
          <p:cNvPicPr>
            <a:picLocks noChangeAspect="1"/>
          </p:cNvPicPr>
          <p:nvPr/>
        </p:nvPicPr>
        <p:blipFill>
          <a:blip r:embed="rId3"/>
          <a:stretch>
            <a:fillRect/>
          </a:stretch>
        </p:blipFill>
        <p:spPr>
          <a:xfrm>
            <a:off x="5573118" y="3381377"/>
            <a:ext cx="13588720" cy="9972673"/>
          </a:xfrm>
          <a:prstGeom prst="rect">
            <a:avLst/>
          </a:prstGeom>
        </p:spPr>
      </p:pic>
    </p:spTree>
    <p:extLst>
      <p:ext uri="{BB962C8B-B14F-4D97-AF65-F5344CB8AC3E}">
        <p14:creationId xmlns:p14="http://schemas.microsoft.com/office/powerpoint/2010/main" val="3756037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D3A42-2C50-36B4-53B3-A51A32B6C8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88BB84-5D3E-A11A-C4B5-7D1EE899C4F5}"/>
              </a:ext>
            </a:extLst>
          </p:cNvPr>
          <p:cNvSpPr>
            <a:spLocks noGrp="1"/>
          </p:cNvSpPr>
          <p:nvPr>
            <p:ph type="title"/>
          </p:nvPr>
        </p:nvSpPr>
        <p:spPr/>
        <p:txBody>
          <a:bodyPr>
            <a:normAutofit/>
          </a:bodyPr>
          <a:lstStyle/>
          <a:p>
            <a:r>
              <a:rPr lang="en-CA" sz="9600" dirty="0"/>
              <a:t>Program to Count to 10</a:t>
            </a:r>
          </a:p>
        </p:txBody>
      </p:sp>
      <p:pic>
        <p:nvPicPr>
          <p:cNvPr id="4" name="Picture 3">
            <a:extLst>
              <a:ext uri="{FF2B5EF4-FFF2-40B4-BE49-F238E27FC236}">
                <a16:creationId xmlns:a16="http://schemas.microsoft.com/office/drawing/2014/main" id="{F20C37BC-147B-BA10-27F7-E7F358E8E33B}"/>
              </a:ext>
            </a:extLst>
          </p:cNvPr>
          <p:cNvPicPr>
            <a:picLocks noChangeAspect="1"/>
          </p:cNvPicPr>
          <p:nvPr/>
        </p:nvPicPr>
        <p:blipFill>
          <a:blip r:embed="rId3"/>
          <a:stretch>
            <a:fillRect/>
          </a:stretch>
        </p:blipFill>
        <p:spPr>
          <a:xfrm>
            <a:off x="6159300" y="3776896"/>
            <a:ext cx="12063811" cy="9520003"/>
          </a:xfrm>
          <a:prstGeom prst="rect">
            <a:avLst/>
          </a:prstGeom>
        </p:spPr>
      </p:pic>
    </p:spTree>
    <p:extLst>
      <p:ext uri="{BB962C8B-B14F-4D97-AF65-F5344CB8AC3E}">
        <p14:creationId xmlns:p14="http://schemas.microsoft.com/office/powerpoint/2010/main" val="2718719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BE9A7-AC4F-F209-4453-C3D4E8ED11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83F01B-BF5C-5B8E-B4FC-8F19558253B2}"/>
              </a:ext>
            </a:extLst>
          </p:cNvPr>
          <p:cNvSpPr>
            <a:spLocks noGrp="1"/>
          </p:cNvSpPr>
          <p:nvPr>
            <p:ph type="title"/>
          </p:nvPr>
        </p:nvSpPr>
        <p:spPr>
          <a:xfrm>
            <a:off x="1676290" y="730251"/>
            <a:ext cx="21029831" cy="2651126"/>
          </a:xfrm>
        </p:spPr>
        <p:txBody>
          <a:bodyPr>
            <a:normAutofit/>
          </a:bodyPr>
          <a:lstStyle/>
          <a:p>
            <a:r>
              <a:rPr lang="en-CA" sz="9600" dirty="0"/>
              <a:t>Sum a Series of Numbers</a:t>
            </a:r>
          </a:p>
        </p:txBody>
      </p:sp>
      <p:sp>
        <p:nvSpPr>
          <p:cNvPr id="3" name="Content Placeholder 2">
            <a:extLst>
              <a:ext uri="{FF2B5EF4-FFF2-40B4-BE49-F238E27FC236}">
                <a16:creationId xmlns:a16="http://schemas.microsoft.com/office/drawing/2014/main" id="{DB5D592E-CBB7-07D5-9253-BF2C577B8A6B}"/>
              </a:ext>
            </a:extLst>
          </p:cNvPr>
          <p:cNvSpPr>
            <a:spLocks noGrp="1"/>
          </p:cNvSpPr>
          <p:nvPr>
            <p:ph idx="1"/>
          </p:nvPr>
        </p:nvSpPr>
        <p:spPr>
          <a:xfrm>
            <a:off x="1676291" y="3651250"/>
            <a:ext cx="21029831" cy="7373801"/>
          </a:xfrm>
        </p:spPr>
        <p:txBody>
          <a:bodyPr>
            <a:normAutofit/>
          </a:bodyPr>
          <a:lstStyle/>
          <a:p>
            <a:r>
              <a:rPr lang="en-CA" sz="7200" dirty="0"/>
              <a:t>User enters whole number</a:t>
            </a:r>
          </a:p>
          <a:p>
            <a:r>
              <a:rPr lang="en-CA" sz="7200" dirty="0"/>
              <a:t>Calculate sum of all numbers starting from 1 up to the user’s number</a:t>
            </a:r>
          </a:p>
          <a:p>
            <a:r>
              <a:rPr lang="en-CA" sz="7200" dirty="0"/>
              <a:t>Display total sum</a:t>
            </a:r>
          </a:p>
          <a:p>
            <a:r>
              <a:rPr lang="en-CA" sz="7200" dirty="0"/>
              <a:t>E.g. user enters 5, sum 1 + 2 + 3 + 4 + 5</a:t>
            </a:r>
          </a:p>
        </p:txBody>
      </p:sp>
    </p:spTree>
    <p:extLst>
      <p:ext uri="{BB962C8B-B14F-4D97-AF65-F5344CB8AC3E}">
        <p14:creationId xmlns:p14="http://schemas.microsoft.com/office/powerpoint/2010/main" val="3543313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F421E-C574-D1CA-61A6-7AE3C5D241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EF5B4B-3C00-7E00-EDBE-5D05361901E3}"/>
              </a:ext>
            </a:extLst>
          </p:cNvPr>
          <p:cNvSpPr>
            <a:spLocks noGrp="1"/>
          </p:cNvSpPr>
          <p:nvPr>
            <p:ph type="title"/>
          </p:nvPr>
        </p:nvSpPr>
        <p:spPr>
          <a:xfrm>
            <a:off x="1676290" y="730251"/>
            <a:ext cx="21029831" cy="2651126"/>
          </a:xfrm>
        </p:spPr>
        <p:txBody>
          <a:bodyPr>
            <a:normAutofit/>
          </a:bodyPr>
          <a:lstStyle/>
          <a:p>
            <a:r>
              <a:rPr lang="en-CA" sz="9600" dirty="0"/>
              <a:t>Sum a Series of Numbers</a:t>
            </a:r>
          </a:p>
        </p:txBody>
      </p:sp>
      <p:pic>
        <p:nvPicPr>
          <p:cNvPr id="4" name="Picture 3">
            <a:extLst>
              <a:ext uri="{FF2B5EF4-FFF2-40B4-BE49-F238E27FC236}">
                <a16:creationId xmlns:a16="http://schemas.microsoft.com/office/drawing/2014/main" id="{F30F0E22-6954-7AC3-A4AE-E0D79E0E5703}"/>
              </a:ext>
            </a:extLst>
          </p:cNvPr>
          <p:cNvPicPr>
            <a:picLocks noChangeAspect="1"/>
          </p:cNvPicPr>
          <p:nvPr/>
        </p:nvPicPr>
        <p:blipFill>
          <a:blip r:embed="rId3"/>
          <a:stretch>
            <a:fillRect/>
          </a:stretch>
        </p:blipFill>
        <p:spPr>
          <a:xfrm>
            <a:off x="7065462" y="3485679"/>
            <a:ext cx="10251487" cy="9500070"/>
          </a:xfrm>
          <a:prstGeom prst="rect">
            <a:avLst/>
          </a:prstGeom>
        </p:spPr>
      </p:pic>
    </p:spTree>
    <p:extLst>
      <p:ext uri="{BB962C8B-B14F-4D97-AF65-F5344CB8AC3E}">
        <p14:creationId xmlns:p14="http://schemas.microsoft.com/office/powerpoint/2010/main" val="3325747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D10F1-13FC-45F8-79EE-F685759BE5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79CBD7-FD60-415A-C37A-5B83CA789971}"/>
              </a:ext>
            </a:extLst>
          </p:cNvPr>
          <p:cNvSpPr>
            <a:spLocks noGrp="1"/>
          </p:cNvSpPr>
          <p:nvPr>
            <p:ph type="title"/>
          </p:nvPr>
        </p:nvSpPr>
        <p:spPr>
          <a:xfrm>
            <a:off x="1676290" y="730251"/>
            <a:ext cx="21029831" cy="2651126"/>
          </a:xfrm>
        </p:spPr>
        <p:txBody>
          <a:bodyPr>
            <a:normAutofit/>
          </a:bodyPr>
          <a:lstStyle/>
          <a:p>
            <a:r>
              <a:rPr lang="en-CA" sz="9600" dirty="0"/>
              <a:t>Sum a Series of Numbers - </a:t>
            </a:r>
            <a:r>
              <a:rPr lang="en-US" altLang="zh-CN" sz="9600" dirty="0"/>
              <a:t>Errors</a:t>
            </a:r>
            <a:endParaRPr lang="en-CA" sz="9600" dirty="0"/>
          </a:p>
        </p:txBody>
      </p:sp>
      <p:sp>
        <p:nvSpPr>
          <p:cNvPr id="3" name="Content Placeholder 2">
            <a:extLst>
              <a:ext uri="{FF2B5EF4-FFF2-40B4-BE49-F238E27FC236}">
                <a16:creationId xmlns:a16="http://schemas.microsoft.com/office/drawing/2014/main" id="{9B408990-5F81-3017-7458-CC9A1DD44BC9}"/>
              </a:ext>
            </a:extLst>
          </p:cNvPr>
          <p:cNvSpPr>
            <a:spLocks noGrp="1"/>
          </p:cNvSpPr>
          <p:nvPr>
            <p:ph idx="1"/>
          </p:nvPr>
        </p:nvSpPr>
        <p:spPr>
          <a:xfrm>
            <a:off x="1676291" y="3651250"/>
            <a:ext cx="21029831" cy="7373801"/>
          </a:xfrm>
        </p:spPr>
        <p:txBody>
          <a:bodyPr>
            <a:normAutofit/>
          </a:bodyPr>
          <a:lstStyle/>
          <a:p>
            <a:r>
              <a:rPr lang="en-CA" sz="7200" dirty="0"/>
              <a:t>Never declared “sum” variable</a:t>
            </a:r>
          </a:p>
          <a:p>
            <a:r>
              <a:rPr lang="en-CA" sz="7200" dirty="0"/>
              <a:t>Never performed the sum operation of the numbers in our while loop</a:t>
            </a:r>
          </a:p>
        </p:txBody>
      </p:sp>
    </p:spTree>
    <p:extLst>
      <p:ext uri="{BB962C8B-B14F-4D97-AF65-F5344CB8AC3E}">
        <p14:creationId xmlns:p14="http://schemas.microsoft.com/office/powerpoint/2010/main" val="23407826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1D697-F99B-97B9-021F-0E305BF3F7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DCACBA-1E8D-391A-0067-B37CDADB3FA9}"/>
              </a:ext>
            </a:extLst>
          </p:cNvPr>
          <p:cNvSpPr>
            <a:spLocks noGrp="1"/>
          </p:cNvSpPr>
          <p:nvPr>
            <p:ph type="title"/>
          </p:nvPr>
        </p:nvSpPr>
        <p:spPr>
          <a:xfrm>
            <a:off x="1676290" y="730251"/>
            <a:ext cx="21029831" cy="2651126"/>
          </a:xfrm>
        </p:spPr>
        <p:txBody>
          <a:bodyPr>
            <a:normAutofit/>
          </a:bodyPr>
          <a:lstStyle/>
          <a:p>
            <a:r>
              <a:rPr lang="en-CA" sz="9600" dirty="0"/>
              <a:t>Sum a Series of Numbers - </a:t>
            </a:r>
            <a:r>
              <a:rPr lang="en-US" altLang="zh-CN" sz="9600" dirty="0"/>
              <a:t>Fix</a:t>
            </a:r>
            <a:endParaRPr lang="en-CA" sz="9600" dirty="0"/>
          </a:p>
        </p:txBody>
      </p:sp>
      <p:pic>
        <p:nvPicPr>
          <p:cNvPr id="4" name="Picture 3">
            <a:extLst>
              <a:ext uri="{FF2B5EF4-FFF2-40B4-BE49-F238E27FC236}">
                <a16:creationId xmlns:a16="http://schemas.microsoft.com/office/drawing/2014/main" id="{400EC361-282A-AD1C-9A8B-2E04B87DD32C}"/>
              </a:ext>
            </a:extLst>
          </p:cNvPr>
          <p:cNvPicPr>
            <a:picLocks noChangeAspect="1"/>
          </p:cNvPicPr>
          <p:nvPr/>
        </p:nvPicPr>
        <p:blipFill>
          <a:blip r:embed="rId3"/>
          <a:stretch>
            <a:fillRect/>
          </a:stretch>
        </p:blipFill>
        <p:spPr>
          <a:xfrm>
            <a:off x="7475524" y="2947699"/>
            <a:ext cx="9431363" cy="10444451"/>
          </a:xfrm>
          <a:prstGeom prst="rect">
            <a:avLst/>
          </a:prstGeom>
        </p:spPr>
      </p:pic>
    </p:spTree>
    <p:extLst>
      <p:ext uri="{BB962C8B-B14F-4D97-AF65-F5344CB8AC3E}">
        <p14:creationId xmlns:p14="http://schemas.microsoft.com/office/powerpoint/2010/main" val="2131613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23452-DA60-53EB-131B-FEE5A60D19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BA4D41-BFD2-93FF-3F5C-A7BB1F7C62DA}"/>
              </a:ext>
            </a:extLst>
          </p:cNvPr>
          <p:cNvSpPr>
            <a:spLocks noGrp="1"/>
          </p:cNvSpPr>
          <p:nvPr>
            <p:ph type="title"/>
          </p:nvPr>
        </p:nvSpPr>
        <p:spPr>
          <a:xfrm>
            <a:off x="1676290" y="730251"/>
            <a:ext cx="21029831" cy="2651126"/>
          </a:xfrm>
        </p:spPr>
        <p:txBody>
          <a:bodyPr>
            <a:normAutofit/>
          </a:bodyPr>
          <a:lstStyle/>
          <a:p>
            <a:r>
              <a:rPr lang="en-CA" sz="9600" dirty="0"/>
              <a:t>Infinite Loops</a:t>
            </a:r>
          </a:p>
        </p:txBody>
      </p:sp>
      <p:sp>
        <p:nvSpPr>
          <p:cNvPr id="3" name="Content Placeholder 2">
            <a:extLst>
              <a:ext uri="{FF2B5EF4-FFF2-40B4-BE49-F238E27FC236}">
                <a16:creationId xmlns:a16="http://schemas.microsoft.com/office/drawing/2014/main" id="{4D6EB2DB-2CEB-01E4-6C1E-ADB85AC8978F}"/>
              </a:ext>
            </a:extLst>
          </p:cNvPr>
          <p:cNvSpPr>
            <a:spLocks noGrp="1"/>
          </p:cNvSpPr>
          <p:nvPr>
            <p:ph idx="1"/>
          </p:nvPr>
        </p:nvSpPr>
        <p:spPr>
          <a:xfrm>
            <a:off x="1676291" y="3651250"/>
            <a:ext cx="21029831" cy="7373801"/>
          </a:xfrm>
        </p:spPr>
        <p:txBody>
          <a:bodyPr>
            <a:normAutofit/>
          </a:bodyPr>
          <a:lstStyle/>
          <a:p>
            <a:r>
              <a:rPr lang="en-CA" sz="7200" dirty="0"/>
              <a:t>Looping construct that runs forever</a:t>
            </a:r>
          </a:p>
          <a:p>
            <a:r>
              <a:rPr lang="en-CA" sz="7200" dirty="0"/>
              <a:t>Often due to logical errors</a:t>
            </a:r>
          </a:p>
          <a:p>
            <a:r>
              <a:rPr lang="en-US" altLang="zh-CN" sz="7200" dirty="0"/>
              <a:t>Can be very destructive to an application</a:t>
            </a:r>
            <a:endParaRPr lang="en-CA" sz="7200" dirty="0"/>
          </a:p>
        </p:txBody>
      </p:sp>
    </p:spTree>
    <p:extLst>
      <p:ext uri="{BB962C8B-B14F-4D97-AF65-F5344CB8AC3E}">
        <p14:creationId xmlns:p14="http://schemas.microsoft.com/office/powerpoint/2010/main" val="15372250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A7C47-0D74-B36C-8E73-8CD42B3CB2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3677D2-8507-04CD-5B61-13BFF3C2276A}"/>
              </a:ext>
            </a:extLst>
          </p:cNvPr>
          <p:cNvSpPr>
            <a:spLocks noGrp="1"/>
          </p:cNvSpPr>
          <p:nvPr>
            <p:ph type="title"/>
          </p:nvPr>
        </p:nvSpPr>
        <p:spPr>
          <a:xfrm>
            <a:off x="1676290" y="730251"/>
            <a:ext cx="21029831" cy="2651126"/>
          </a:xfrm>
        </p:spPr>
        <p:txBody>
          <a:bodyPr>
            <a:normAutofit/>
          </a:bodyPr>
          <a:lstStyle/>
          <a:p>
            <a:r>
              <a:rPr lang="en-CA" sz="9600" dirty="0"/>
              <a:t>Infinite Loop - Example</a:t>
            </a:r>
          </a:p>
        </p:txBody>
      </p:sp>
      <p:pic>
        <p:nvPicPr>
          <p:cNvPr id="7" name="Picture 6">
            <a:extLst>
              <a:ext uri="{FF2B5EF4-FFF2-40B4-BE49-F238E27FC236}">
                <a16:creationId xmlns:a16="http://schemas.microsoft.com/office/drawing/2014/main" id="{B0A49122-8677-9D3E-E14E-43FF15797F07}"/>
              </a:ext>
            </a:extLst>
          </p:cNvPr>
          <p:cNvPicPr>
            <a:picLocks noChangeAspect="1"/>
          </p:cNvPicPr>
          <p:nvPr/>
        </p:nvPicPr>
        <p:blipFill>
          <a:blip r:embed="rId3"/>
          <a:stretch>
            <a:fillRect/>
          </a:stretch>
        </p:blipFill>
        <p:spPr>
          <a:xfrm>
            <a:off x="5666156" y="3381377"/>
            <a:ext cx="13050100" cy="9972614"/>
          </a:xfrm>
          <a:prstGeom prst="rect">
            <a:avLst/>
          </a:prstGeom>
        </p:spPr>
      </p:pic>
    </p:spTree>
    <p:extLst>
      <p:ext uri="{BB962C8B-B14F-4D97-AF65-F5344CB8AC3E}">
        <p14:creationId xmlns:p14="http://schemas.microsoft.com/office/powerpoint/2010/main" val="23233278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FEBC6-8E3D-DBCF-C015-CC87905C4E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528D6F-E1B7-B0D8-0398-D49BB109E9B0}"/>
              </a:ext>
            </a:extLst>
          </p:cNvPr>
          <p:cNvSpPr>
            <a:spLocks noGrp="1"/>
          </p:cNvSpPr>
          <p:nvPr>
            <p:ph type="ctrTitle"/>
          </p:nvPr>
        </p:nvSpPr>
        <p:spPr/>
        <p:txBody>
          <a:bodyPr/>
          <a:lstStyle/>
          <a:p>
            <a:r>
              <a:rPr lang="en-US" dirty="0"/>
              <a:t>debugging</a:t>
            </a:r>
          </a:p>
        </p:txBody>
      </p:sp>
    </p:spTree>
    <p:extLst>
      <p:ext uri="{BB962C8B-B14F-4D97-AF65-F5344CB8AC3E}">
        <p14:creationId xmlns:p14="http://schemas.microsoft.com/office/powerpoint/2010/main" val="2538879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2F555-FA81-842A-139B-D4E1783FE8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0451C3-8EF4-DD49-24CF-83C7B536516F}"/>
              </a:ext>
            </a:extLst>
          </p:cNvPr>
          <p:cNvSpPr>
            <a:spLocks noGrp="1"/>
          </p:cNvSpPr>
          <p:nvPr>
            <p:ph type="title"/>
          </p:nvPr>
        </p:nvSpPr>
        <p:spPr/>
        <p:txBody>
          <a:bodyPr>
            <a:normAutofit/>
          </a:bodyPr>
          <a:lstStyle/>
          <a:p>
            <a:r>
              <a:rPr lang="en-CA" sz="9600" dirty="0"/>
              <a:t>Debugging</a:t>
            </a:r>
          </a:p>
        </p:txBody>
      </p:sp>
      <p:sp>
        <p:nvSpPr>
          <p:cNvPr id="3" name="Content Placeholder 2">
            <a:extLst>
              <a:ext uri="{FF2B5EF4-FFF2-40B4-BE49-F238E27FC236}">
                <a16:creationId xmlns:a16="http://schemas.microsoft.com/office/drawing/2014/main" id="{FA07143F-EF32-29CE-F94D-109E3EDABFC0}"/>
              </a:ext>
            </a:extLst>
          </p:cNvPr>
          <p:cNvSpPr>
            <a:spLocks noGrp="1"/>
          </p:cNvSpPr>
          <p:nvPr>
            <p:ph idx="1"/>
          </p:nvPr>
        </p:nvSpPr>
        <p:spPr>
          <a:xfrm>
            <a:off x="1676291" y="3651250"/>
            <a:ext cx="21029831" cy="7373801"/>
          </a:xfrm>
        </p:spPr>
        <p:txBody>
          <a:bodyPr>
            <a:normAutofit/>
          </a:bodyPr>
          <a:lstStyle/>
          <a:p>
            <a:r>
              <a:rPr lang="en-CA" sz="7200" dirty="0"/>
              <a:t>The process of troubleshooting code</a:t>
            </a:r>
          </a:p>
          <a:p>
            <a:r>
              <a:rPr lang="en-CA" sz="7200" dirty="0"/>
              <a:t>How the causes of errors are identified and fixed</a:t>
            </a:r>
          </a:p>
          <a:p>
            <a:r>
              <a:rPr lang="en-CA" sz="7200" dirty="0"/>
              <a:t>Very important skill for software developers</a:t>
            </a:r>
          </a:p>
        </p:txBody>
      </p:sp>
    </p:spTree>
    <p:extLst>
      <p:ext uri="{BB962C8B-B14F-4D97-AF65-F5344CB8AC3E}">
        <p14:creationId xmlns:p14="http://schemas.microsoft.com/office/powerpoint/2010/main" val="10673107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502E7-BFCA-5C4B-AEFE-CE929AB0D4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58E26-1205-0661-93D0-B7D89A3DDC2C}"/>
              </a:ext>
            </a:extLst>
          </p:cNvPr>
          <p:cNvSpPr>
            <a:spLocks noGrp="1"/>
          </p:cNvSpPr>
          <p:nvPr>
            <p:ph type="title"/>
          </p:nvPr>
        </p:nvSpPr>
        <p:spPr/>
        <p:txBody>
          <a:bodyPr>
            <a:normAutofit/>
          </a:bodyPr>
          <a:lstStyle/>
          <a:p>
            <a:r>
              <a:rPr lang="en-CA" sz="9600" dirty="0"/>
              <a:t>Debugging - Steps</a:t>
            </a:r>
          </a:p>
        </p:txBody>
      </p:sp>
      <p:sp>
        <p:nvSpPr>
          <p:cNvPr id="3" name="Content Placeholder 2">
            <a:extLst>
              <a:ext uri="{FF2B5EF4-FFF2-40B4-BE49-F238E27FC236}">
                <a16:creationId xmlns:a16="http://schemas.microsoft.com/office/drawing/2014/main" id="{18052B69-51EE-E0FD-141D-3B157755D5FA}"/>
              </a:ext>
            </a:extLst>
          </p:cNvPr>
          <p:cNvSpPr>
            <a:spLocks noGrp="1"/>
          </p:cNvSpPr>
          <p:nvPr>
            <p:ph idx="1"/>
          </p:nvPr>
        </p:nvSpPr>
        <p:spPr>
          <a:xfrm>
            <a:off x="1676291" y="3651250"/>
            <a:ext cx="21029831" cy="7373801"/>
          </a:xfrm>
        </p:spPr>
        <p:txBody>
          <a:bodyPr>
            <a:normAutofit/>
          </a:bodyPr>
          <a:lstStyle/>
          <a:p>
            <a:pPr marL="1143000" indent="-1143000">
              <a:buFont typeface="+mj-lt"/>
              <a:buAutoNum type="arabicPeriod"/>
            </a:pPr>
            <a:r>
              <a:rPr lang="en-US" sz="7200" dirty="0"/>
              <a:t>Understand the problem,</a:t>
            </a:r>
          </a:p>
          <a:p>
            <a:pPr marL="1143000" indent="-1143000">
              <a:buFont typeface="+mj-lt"/>
              <a:buAutoNum type="arabicPeriod"/>
            </a:pPr>
            <a:r>
              <a:rPr lang="en-US" sz="7200" dirty="0"/>
              <a:t>Determine requirements</a:t>
            </a:r>
          </a:p>
          <a:p>
            <a:pPr marL="1143000" indent="-1143000">
              <a:buFont typeface="+mj-lt"/>
              <a:buAutoNum type="arabicPeriod"/>
            </a:pPr>
            <a:r>
              <a:rPr lang="en-US" sz="7200" dirty="0"/>
              <a:t>Focus on small pieces at a time</a:t>
            </a:r>
          </a:p>
          <a:p>
            <a:pPr marL="1143000" indent="-1143000">
              <a:buFont typeface="+mj-lt"/>
              <a:buAutoNum type="arabicPeriod"/>
            </a:pPr>
            <a:r>
              <a:rPr lang="en-US" sz="7200" dirty="0"/>
              <a:t>Verify solution meets the requirements</a:t>
            </a:r>
          </a:p>
          <a:p>
            <a:pPr marL="1143000" indent="-1143000">
              <a:buFont typeface="+mj-lt"/>
              <a:buAutoNum type="arabicPeriod"/>
            </a:pPr>
            <a:r>
              <a:rPr lang="en-US" sz="7200" dirty="0"/>
              <a:t>Refine the solution (if necessary)</a:t>
            </a:r>
            <a:endParaRPr lang="en-CA" sz="7200" dirty="0"/>
          </a:p>
        </p:txBody>
      </p:sp>
    </p:spTree>
    <p:extLst>
      <p:ext uri="{BB962C8B-B14F-4D97-AF65-F5344CB8AC3E}">
        <p14:creationId xmlns:p14="http://schemas.microsoft.com/office/powerpoint/2010/main" val="27017811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207E9-F171-2138-2A18-6D90266B3A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6B74C4-4450-465D-366B-A4E951A61130}"/>
              </a:ext>
            </a:extLst>
          </p:cNvPr>
          <p:cNvSpPr>
            <a:spLocks noGrp="1"/>
          </p:cNvSpPr>
          <p:nvPr>
            <p:ph type="ctrTitle"/>
          </p:nvPr>
        </p:nvSpPr>
        <p:spPr/>
        <p:txBody>
          <a:bodyPr/>
          <a:lstStyle/>
          <a:p>
            <a:r>
              <a:rPr lang="en-US" dirty="0"/>
              <a:t>Debugging example</a:t>
            </a:r>
          </a:p>
        </p:txBody>
      </p:sp>
    </p:spTree>
    <p:extLst>
      <p:ext uri="{BB962C8B-B14F-4D97-AF65-F5344CB8AC3E}">
        <p14:creationId xmlns:p14="http://schemas.microsoft.com/office/powerpoint/2010/main" val="40425219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3AE29-9415-7267-84C1-1A3A674180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88A927-50F9-6DE6-385B-D6F86FDAADDE}"/>
              </a:ext>
            </a:extLst>
          </p:cNvPr>
          <p:cNvSpPr>
            <a:spLocks noGrp="1"/>
          </p:cNvSpPr>
          <p:nvPr>
            <p:ph type="title"/>
          </p:nvPr>
        </p:nvSpPr>
        <p:spPr/>
        <p:txBody>
          <a:bodyPr>
            <a:normAutofit/>
          </a:bodyPr>
          <a:lstStyle/>
          <a:p>
            <a:r>
              <a:rPr lang="en-CA" sz="9600" dirty="0"/>
              <a:t>Generation Calculator</a:t>
            </a:r>
          </a:p>
        </p:txBody>
      </p:sp>
      <p:sp>
        <p:nvSpPr>
          <p:cNvPr id="3" name="Content Placeholder 2">
            <a:extLst>
              <a:ext uri="{FF2B5EF4-FFF2-40B4-BE49-F238E27FC236}">
                <a16:creationId xmlns:a16="http://schemas.microsoft.com/office/drawing/2014/main" id="{2C535E9A-CF41-6A15-1F8E-EB3D8B6EF73F}"/>
              </a:ext>
            </a:extLst>
          </p:cNvPr>
          <p:cNvSpPr>
            <a:spLocks noGrp="1"/>
          </p:cNvSpPr>
          <p:nvPr>
            <p:ph idx="1"/>
          </p:nvPr>
        </p:nvSpPr>
        <p:spPr/>
        <p:txBody>
          <a:bodyPr>
            <a:normAutofit/>
          </a:bodyPr>
          <a:lstStyle/>
          <a:p>
            <a:r>
              <a:rPr lang="en-CA" sz="7200" dirty="0"/>
              <a:t>User enters their age</a:t>
            </a:r>
          </a:p>
          <a:p>
            <a:r>
              <a:rPr lang="en-CA" sz="7200" dirty="0"/>
              <a:t>Program will repeatedly ask the user to enter a positive number. </a:t>
            </a:r>
          </a:p>
          <a:p>
            <a:r>
              <a:rPr lang="en-CA" sz="7200" dirty="0"/>
              <a:t>Error should print if they enter a negative number.</a:t>
            </a:r>
          </a:p>
        </p:txBody>
      </p:sp>
    </p:spTree>
    <p:extLst>
      <p:ext uri="{BB962C8B-B14F-4D97-AF65-F5344CB8AC3E}">
        <p14:creationId xmlns:p14="http://schemas.microsoft.com/office/powerpoint/2010/main" val="28530753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87BEE-E700-ACBF-9772-DAE58FB824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03F5E5-F289-CD10-7D34-D6720B7961A4}"/>
              </a:ext>
            </a:extLst>
          </p:cNvPr>
          <p:cNvSpPr>
            <a:spLocks noGrp="1"/>
          </p:cNvSpPr>
          <p:nvPr>
            <p:ph type="title"/>
          </p:nvPr>
        </p:nvSpPr>
        <p:spPr/>
        <p:txBody>
          <a:bodyPr>
            <a:normAutofit/>
          </a:bodyPr>
          <a:lstStyle/>
          <a:p>
            <a:r>
              <a:rPr lang="en-CA" sz="9600" dirty="0"/>
              <a:t>Generation Calculator</a:t>
            </a:r>
          </a:p>
        </p:txBody>
      </p:sp>
      <p:sp>
        <p:nvSpPr>
          <p:cNvPr id="3" name="Content Placeholder 2">
            <a:extLst>
              <a:ext uri="{FF2B5EF4-FFF2-40B4-BE49-F238E27FC236}">
                <a16:creationId xmlns:a16="http://schemas.microsoft.com/office/drawing/2014/main" id="{8F4C24DA-1567-4B88-CAE0-B1B04676C6E6}"/>
              </a:ext>
            </a:extLst>
          </p:cNvPr>
          <p:cNvSpPr>
            <a:spLocks noGrp="1"/>
          </p:cNvSpPr>
          <p:nvPr>
            <p:ph idx="1"/>
          </p:nvPr>
        </p:nvSpPr>
        <p:spPr/>
        <p:txBody>
          <a:bodyPr>
            <a:normAutofit/>
          </a:bodyPr>
          <a:lstStyle/>
          <a:p>
            <a:r>
              <a:rPr lang="en-US" sz="7200" dirty="0"/>
              <a:t>B</a:t>
            </a:r>
            <a:r>
              <a:rPr lang="en-CA" sz="7200" dirty="0"/>
              <a:t>aby boomer: age 60+</a:t>
            </a:r>
          </a:p>
          <a:p>
            <a:r>
              <a:rPr lang="en-CA" sz="7200" dirty="0"/>
              <a:t>Gen X: age 45-60</a:t>
            </a:r>
          </a:p>
          <a:p>
            <a:r>
              <a:rPr lang="en-CA" sz="7200" dirty="0"/>
              <a:t>Millennial: age 29-44</a:t>
            </a:r>
          </a:p>
          <a:p>
            <a:r>
              <a:rPr lang="en-CA" sz="7200" dirty="0"/>
              <a:t>Gen Z: age 13-28</a:t>
            </a:r>
          </a:p>
          <a:p>
            <a:r>
              <a:rPr lang="en-CA" sz="7200" dirty="0"/>
              <a:t>Gen Alpha: age 0-12</a:t>
            </a:r>
          </a:p>
        </p:txBody>
      </p:sp>
    </p:spTree>
    <p:extLst>
      <p:ext uri="{BB962C8B-B14F-4D97-AF65-F5344CB8AC3E}">
        <p14:creationId xmlns:p14="http://schemas.microsoft.com/office/powerpoint/2010/main" val="6751112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35A24-9887-E868-2380-66FAE30168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7D7CD2-58BE-D8C9-BAE7-DEC59142D014}"/>
              </a:ext>
            </a:extLst>
          </p:cNvPr>
          <p:cNvSpPr>
            <a:spLocks noGrp="1"/>
          </p:cNvSpPr>
          <p:nvPr>
            <p:ph type="title"/>
          </p:nvPr>
        </p:nvSpPr>
        <p:spPr/>
        <p:txBody>
          <a:bodyPr>
            <a:normAutofit/>
          </a:bodyPr>
          <a:lstStyle/>
          <a:p>
            <a:r>
              <a:rPr lang="en-CA" sz="9600" dirty="0"/>
              <a:t>Solution with errors</a:t>
            </a:r>
          </a:p>
        </p:txBody>
      </p:sp>
      <p:pic>
        <p:nvPicPr>
          <p:cNvPr id="10" name="Picture 9">
            <a:extLst>
              <a:ext uri="{FF2B5EF4-FFF2-40B4-BE49-F238E27FC236}">
                <a16:creationId xmlns:a16="http://schemas.microsoft.com/office/drawing/2014/main" id="{075190F1-D47B-85AF-B541-9BA7CFEBCF6F}"/>
              </a:ext>
            </a:extLst>
          </p:cNvPr>
          <p:cNvPicPr>
            <a:picLocks noChangeAspect="1"/>
          </p:cNvPicPr>
          <p:nvPr/>
        </p:nvPicPr>
        <p:blipFill>
          <a:blip r:embed="rId3"/>
          <a:stretch>
            <a:fillRect/>
          </a:stretch>
        </p:blipFill>
        <p:spPr>
          <a:xfrm>
            <a:off x="1676291" y="3630850"/>
            <a:ext cx="10514915" cy="6575218"/>
          </a:xfrm>
          <a:prstGeom prst="rect">
            <a:avLst/>
          </a:prstGeom>
        </p:spPr>
      </p:pic>
      <p:pic>
        <p:nvPicPr>
          <p:cNvPr id="12" name="Picture 11">
            <a:extLst>
              <a:ext uri="{FF2B5EF4-FFF2-40B4-BE49-F238E27FC236}">
                <a16:creationId xmlns:a16="http://schemas.microsoft.com/office/drawing/2014/main" id="{E6B1A99A-0BE9-C750-EA7D-E1C80EA9A1BB}"/>
              </a:ext>
            </a:extLst>
          </p:cNvPr>
          <p:cNvPicPr>
            <a:picLocks noChangeAspect="1"/>
          </p:cNvPicPr>
          <p:nvPr/>
        </p:nvPicPr>
        <p:blipFill>
          <a:blip r:embed="rId4"/>
          <a:stretch>
            <a:fillRect/>
          </a:stretch>
        </p:blipFill>
        <p:spPr>
          <a:xfrm>
            <a:off x="12751137" y="3630850"/>
            <a:ext cx="10318413" cy="7708320"/>
          </a:xfrm>
          <a:prstGeom prst="rect">
            <a:avLst/>
          </a:prstGeom>
        </p:spPr>
      </p:pic>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5619EF14-0771-C799-9486-917B870D2820}"/>
                  </a:ext>
                </a:extLst>
              </p14:cNvPr>
              <p14:cNvContentPartPr/>
              <p14:nvPr/>
            </p14:nvContentPartPr>
            <p14:xfrm>
              <a:off x="1733310" y="3961050"/>
              <a:ext cx="2112840" cy="40680"/>
            </p14:xfrm>
          </p:contentPart>
        </mc:Choice>
        <mc:Fallback xmlns="">
          <p:pic>
            <p:nvPicPr>
              <p:cNvPr id="13" name="Ink 12">
                <a:extLst>
                  <a:ext uri="{FF2B5EF4-FFF2-40B4-BE49-F238E27FC236}">
                    <a16:creationId xmlns:a16="http://schemas.microsoft.com/office/drawing/2014/main" id="{5619EF14-0771-C799-9486-917B870D2820}"/>
                  </a:ext>
                </a:extLst>
              </p:cNvPr>
              <p:cNvPicPr/>
              <p:nvPr/>
            </p:nvPicPr>
            <p:blipFill>
              <a:blip r:embed="rId6"/>
              <a:stretch>
                <a:fillRect/>
              </a:stretch>
            </p:blipFill>
            <p:spPr>
              <a:xfrm>
                <a:off x="1679310" y="3853410"/>
                <a:ext cx="222048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57D1D884-A267-C4BB-1A4E-05B5481642F3}"/>
                  </a:ext>
                </a:extLst>
              </p14:cNvPr>
              <p14:cNvContentPartPr/>
              <p14:nvPr/>
            </p14:nvContentPartPr>
            <p14:xfrm>
              <a:off x="2019150" y="4075530"/>
              <a:ext cx="1907280" cy="20160"/>
            </p14:xfrm>
          </p:contentPart>
        </mc:Choice>
        <mc:Fallback xmlns="">
          <p:pic>
            <p:nvPicPr>
              <p:cNvPr id="14" name="Ink 13">
                <a:extLst>
                  <a:ext uri="{FF2B5EF4-FFF2-40B4-BE49-F238E27FC236}">
                    <a16:creationId xmlns:a16="http://schemas.microsoft.com/office/drawing/2014/main" id="{57D1D884-A267-C4BB-1A4E-05B5481642F3}"/>
                  </a:ext>
                </a:extLst>
              </p:cNvPr>
              <p:cNvPicPr/>
              <p:nvPr/>
            </p:nvPicPr>
            <p:blipFill>
              <a:blip r:embed="rId8"/>
              <a:stretch>
                <a:fillRect/>
              </a:stretch>
            </p:blipFill>
            <p:spPr>
              <a:xfrm>
                <a:off x="1965150" y="3967890"/>
                <a:ext cx="201492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BBBFC313-3A16-7EC3-05A7-5A6048E67453}"/>
                  </a:ext>
                </a:extLst>
              </p14:cNvPr>
              <p14:cNvContentPartPr/>
              <p14:nvPr/>
            </p14:nvContentPartPr>
            <p14:xfrm>
              <a:off x="2133630" y="4170570"/>
              <a:ext cx="1719000" cy="77760"/>
            </p14:xfrm>
          </p:contentPart>
        </mc:Choice>
        <mc:Fallback xmlns="">
          <p:pic>
            <p:nvPicPr>
              <p:cNvPr id="15" name="Ink 14">
                <a:extLst>
                  <a:ext uri="{FF2B5EF4-FFF2-40B4-BE49-F238E27FC236}">
                    <a16:creationId xmlns:a16="http://schemas.microsoft.com/office/drawing/2014/main" id="{BBBFC313-3A16-7EC3-05A7-5A6048E67453}"/>
                  </a:ext>
                </a:extLst>
              </p:cNvPr>
              <p:cNvPicPr/>
              <p:nvPr/>
            </p:nvPicPr>
            <p:blipFill>
              <a:blip r:embed="rId10"/>
              <a:stretch>
                <a:fillRect/>
              </a:stretch>
            </p:blipFill>
            <p:spPr>
              <a:xfrm>
                <a:off x="2079630" y="4062930"/>
                <a:ext cx="1826640" cy="2934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0E4A482D-BA63-A0B8-2C9D-76C14CA96780}"/>
                  </a:ext>
                </a:extLst>
              </p14:cNvPr>
              <p14:cNvContentPartPr/>
              <p14:nvPr/>
            </p14:nvContentPartPr>
            <p14:xfrm>
              <a:off x="12915630" y="10590810"/>
              <a:ext cx="1160280" cy="79920"/>
            </p14:xfrm>
          </p:contentPart>
        </mc:Choice>
        <mc:Fallback xmlns="">
          <p:pic>
            <p:nvPicPr>
              <p:cNvPr id="16" name="Ink 15">
                <a:extLst>
                  <a:ext uri="{FF2B5EF4-FFF2-40B4-BE49-F238E27FC236}">
                    <a16:creationId xmlns:a16="http://schemas.microsoft.com/office/drawing/2014/main" id="{0E4A482D-BA63-A0B8-2C9D-76C14CA96780}"/>
                  </a:ext>
                </a:extLst>
              </p:cNvPr>
              <p:cNvPicPr/>
              <p:nvPr/>
            </p:nvPicPr>
            <p:blipFill>
              <a:blip r:embed="rId12"/>
              <a:stretch>
                <a:fillRect/>
              </a:stretch>
            </p:blipFill>
            <p:spPr>
              <a:xfrm>
                <a:off x="12861630" y="10483170"/>
                <a:ext cx="1267920" cy="2955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7" name="Ink 16">
                <a:extLst>
                  <a:ext uri="{FF2B5EF4-FFF2-40B4-BE49-F238E27FC236}">
                    <a16:creationId xmlns:a16="http://schemas.microsoft.com/office/drawing/2014/main" id="{80F7BD4B-639B-3964-DD3C-737185BED8B5}"/>
                  </a:ext>
                </a:extLst>
              </p14:cNvPr>
              <p14:cNvContentPartPr/>
              <p14:nvPr/>
            </p14:nvContentPartPr>
            <p14:xfrm>
              <a:off x="12935070" y="10838130"/>
              <a:ext cx="1198440" cy="78120"/>
            </p14:xfrm>
          </p:contentPart>
        </mc:Choice>
        <mc:Fallback xmlns="">
          <p:pic>
            <p:nvPicPr>
              <p:cNvPr id="17" name="Ink 16">
                <a:extLst>
                  <a:ext uri="{FF2B5EF4-FFF2-40B4-BE49-F238E27FC236}">
                    <a16:creationId xmlns:a16="http://schemas.microsoft.com/office/drawing/2014/main" id="{80F7BD4B-639B-3964-DD3C-737185BED8B5}"/>
                  </a:ext>
                </a:extLst>
              </p:cNvPr>
              <p:cNvPicPr/>
              <p:nvPr/>
            </p:nvPicPr>
            <p:blipFill>
              <a:blip r:embed="rId14"/>
              <a:stretch>
                <a:fillRect/>
              </a:stretch>
            </p:blipFill>
            <p:spPr>
              <a:xfrm>
                <a:off x="12881070" y="10730490"/>
                <a:ext cx="1306080" cy="2937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8" name="Ink 17">
                <a:extLst>
                  <a:ext uri="{FF2B5EF4-FFF2-40B4-BE49-F238E27FC236}">
                    <a16:creationId xmlns:a16="http://schemas.microsoft.com/office/drawing/2014/main" id="{072EA2E1-58D9-92DB-D96D-F27ADBE5798E}"/>
                  </a:ext>
                </a:extLst>
              </p14:cNvPr>
              <p14:cNvContentPartPr/>
              <p14:nvPr/>
            </p14:nvContentPartPr>
            <p14:xfrm>
              <a:off x="12915630" y="10590450"/>
              <a:ext cx="1102680" cy="40680"/>
            </p14:xfrm>
          </p:contentPart>
        </mc:Choice>
        <mc:Fallback xmlns="">
          <p:pic>
            <p:nvPicPr>
              <p:cNvPr id="18" name="Ink 17">
                <a:extLst>
                  <a:ext uri="{FF2B5EF4-FFF2-40B4-BE49-F238E27FC236}">
                    <a16:creationId xmlns:a16="http://schemas.microsoft.com/office/drawing/2014/main" id="{072EA2E1-58D9-92DB-D96D-F27ADBE5798E}"/>
                  </a:ext>
                </a:extLst>
              </p:cNvPr>
              <p:cNvPicPr/>
              <p:nvPr/>
            </p:nvPicPr>
            <p:blipFill>
              <a:blip r:embed="rId16"/>
              <a:stretch>
                <a:fillRect/>
              </a:stretch>
            </p:blipFill>
            <p:spPr>
              <a:xfrm>
                <a:off x="12861630" y="10482810"/>
                <a:ext cx="121032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9" name="Ink 18">
                <a:extLst>
                  <a:ext uri="{FF2B5EF4-FFF2-40B4-BE49-F238E27FC236}">
                    <a16:creationId xmlns:a16="http://schemas.microsoft.com/office/drawing/2014/main" id="{CFF8C4B2-CE09-8BB5-9A48-CC4C556E29C1}"/>
                  </a:ext>
                </a:extLst>
              </p14:cNvPr>
              <p14:cNvContentPartPr/>
              <p14:nvPr/>
            </p14:nvContentPartPr>
            <p14:xfrm>
              <a:off x="12905190" y="10742010"/>
              <a:ext cx="1063800" cy="157680"/>
            </p14:xfrm>
          </p:contentPart>
        </mc:Choice>
        <mc:Fallback xmlns="">
          <p:pic>
            <p:nvPicPr>
              <p:cNvPr id="19" name="Ink 18">
                <a:extLst>
                  <a:ext uri="{FF2B5EF4-FFF2-40B4-BE49-F238E27FC236}">
                    <a16:creationId xmlns:a16="http://schemas.microsoft.com/office/drawing/2014/main" id="{CFF8C4B2-CE09-8BB5-9A48-CC4C556E29C1}"/>
                  </a:ext>
                </a:extLst>
              </p:cNvPr>
              <p:cNvPicPr/>
              <p:nvPr/>
            </p:nvPicPr>
            <p:blipFill>
              <a:blip r:embed="rId18"/>
              <a:stretch>
                <a:fillRect/>
              </a:stretch>
            </p:blipFill>
            <p:spPr>
              <a:xfrm>
                <a:off x="12851190" y="10634010"/>
                <a:ext cx="1171440" cy="373320"/>
              </a:xfrm>
              <a:prstGeom prst="rect">
                <a:avLst/>
              </a:prstGeom>
            </p:spPr>
          </p:pic>
        </mc:Fallback>
      </mc:AlternateContent>
    </p:spTree>
    <p:extLst>
      <p:ext uri="{BB962C8B-B14F-4D97-AF65-F5344CB8AC3E}">
        <p14:creationId xmlns:p14="http://schemas.microsoft.com/office/powerpoint/2010/main" val="35204043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69603-91EE-9447-5F20-F1A22CAB11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50EF1B-EFD0-3CB0-DB98-A12C6CF123B4}"/>
              </a:ext>
            </a:extLst>
          </p:cNvPr>
          <p:cNvSpPr>
            <a:spLocks noGrp="1"/>
          </p:cNvSpPr>
          <p:nvPr>
            <p:ph type="ctrTitle"/>
          </p:nvPr>
        </p:nvSpPr>
        <p:spPr/>
        <p:txBody>
          <a:bodyPr/>
          <a:lstStyle/>
          <a:p>
            <a:r>
              <a:rPr lang="en-US" dirty="0"/>
              <a:t>Debugging – Age Input</a:t>
            </a:r>
          </a:p>
        </p:txBody>
      </p:sp>
    </p:spTree>
    <p:extLst>
      <p:ext uri="{BB962C8B-B14F-4D97-AF65-F5344CB8AC3E}">
        <p14:creationId xmlns:p14="http://schemas.microsoft.com/office/powerpoint/2010/main" val="15547734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DA2E0-6A8A-4E9A-49FC-729C2099BB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0D39F5-63C9-ECB8-F7F4-184248308837}"/>
              </a:ext>
            </a:extLst>
          </p:cNvPr>
          <p:cNvSpPr>
            <a:spLocks noGrp="1"/>
          </p:cNvSpPr>
          <p:nvPr>
            <p:ph type="title"/>
          </p:nvPr>
        </p:nvSpPr>
        <p:spPr/>
        <p:txBody>
          <a:bodyPr>
            <a:normAutofit fontScale="90000"/>
          </a:bodyPr>
          <a:lstStyle/>
          <a:p>
            <a:r>
              <a:rPr lang="en-CA" sz="9600" dirty="0"/>
              <a:t>Debugging – Age Input Requirements</a:t>
            </a:r>
          </a:p>
        </p:txBody>
      </p:sp>
      <p:sp>
        <p:nvSpPr>
          <p:cNvPr id="3" name="Content Placeholder 2">
            <a:extLst>
              <a:ext uri="{FF2B5EF4-FFF2-40B4-BE49-F238E27FC236}">
                <a16:creationId xmlns:a16="http://schemas.microsoft.com/office/drawing/2014/main" id="{E4B6CBBE-970E-7DF9-CE46-BA74AB579BFE}"/>
              </a:ext>
            </a:extLst>
          </p:cNvPr>
          <p:cNvSpPr>
            <a:spLocks noGrp="1"/>
          </p:cNvSpPr>
          <p:nvPr>
            <p:ph idx="1"/>
          </p:nvPr>
        </p:nvSpPr>
        <p:spPr/>
        <p:txBody>
          <a:bodyPr>
            <a:normAutofit/>
          </a:bodyPr>
          <a:lstStyle/>
          <a:p>
            <a:r>
              <a:rPr lang="en-US" sz="7200" dirty="0"/>
              <a:t>Input: User’s age</a:t>
            </a:r>
            <a:endParaRPr lang="en-CA" sz="7200" dirty="0"/>
          </a:p>
          <a:p>
            <a:r>
              <a:rPr lang="en-CA" sz="7200" dirty="0"/>
              <a:t>Validation of user input</a:t>
            </a:r>
          </a:p>
          <a:p>
            <a:r>
              <a:rPr lang="en-CA" sz="7200" dirty="0"/>
              <a:t>Error message on negative number</a:t>
            </a:r>
          </a:p>
          <a:p>
            <a:r>
              <a:rPr lang="en-CA" sz="7200" dirty="0"/>
              <a:t>Repeat until positive number is given</a:t>
            </a:r>
          </a:p>
          <a:p>
            <a:r>
              <a:rPr lang="en-CA" sz="7200" dirty="0"/>
              <a:t>Age must be greater than 0</a:t>
            </a:r>
          </a:p>
        </p:txBody>
      </p:sp>
    </p:spTree>
    <p:extLst>
      <p:ext uri="{BB962C8B-B14F-4D97-AF65-F5344CB8AC3E}">
        <p14:creationId xmlns:p14="http://schemas.microsoft.com/office/powerpoint/2010/main" val="2641564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A5CF0-F050-7B6C-974A-3EEA8E42A9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2FF5E8-C5FB-F133-8C49-ACA44130C512}"/>
              </a:ext>
            </a:extLst>
          </p:cNvPr>
          <p:cNvSpPr>
            <a:spLocks noGrp="1"/>
          </p:cNvSpPr>
          <p:nvPr>
            <p:ph type="title"/>
          </p:nvPr>
        </p:nvSpPr>
        <p:spPr/>
        <p:txBody>
          <a:bodyPr>
            <a:normAutofit/>
          </a:bodyPr>
          <a:lstStyle/>
          <a:p>
            <a:r>
              <a:rPr lang="en-US" sz="9600" dirty="0"/>
              <a:t>D</a:t>
            </a:r>
            <a:r>
              <a:rPr lang="en-CA" sz="9600" dirty="0"/>
              <a:t>ebugging – Age Input</a:t>
            </a:r>
          </a:p>
        </p:txBody>
      </p:sp>
      <p:pic>
        <p:nvPicPr>
          <p:cNvPr id="8" name="Picture 7">
            <a:extLst>
              <a:ext uri="{FF2B5EF4-FFF2-40B4-BE49-F238E27FC236}">
                <a16:creationId xmlns:a16="http://schemas.microsoft.com/office/drawing/2014/main" id="{9A878E59-AE0F-6D4F-7C77-5CC67CAB74E0}"/>
              </a:ext>
            </a:extLst>
          </p:cNvPr>
          <p:cNvPicPr>
            <a:picLocks noChangeAspect="1"/>
          </p:cNvPicPr>
          <p:nvPr/>
        </p:nvPicPr>
        <p:blipFill>
          <a:blip r:embed="rId3"/>
          <a:stretch>
            <a:fillRect/>
          </a:stretch>
        </p:blipFill>
        <p:spPr>
          <a:xfrm>
            <a:off x="5552646" y="4038518"/>
            <a:ext cx="13277119" cy="8515431"/>
          </a:xfrm>
          <a:prstGeom prst="rect">
            <a:avLst/>
          </a:prstGeom>
        </p:spPr>
      </p:pic>
    </p:spTree>
    <p:extLst>
      <p:ext uri="{BB962C8B-B14F-4D97-AF65-F5344CB8AC3E}">
        <p14:creationId xmlns:p14="http://schemas.microsoft.com/office/powerpoint/2010/main" val="2137893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50C26-8816-752E-2F93-12EAF70008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FB22EF-2045-B1BD-C433-BC889CDEDEDF}"/>
              </a:ext>
            </a:extLst>
          </p:cNvPr>
          <p:cNvSpPr>
            <a:spLocks noGrp="1"/>
          </p:cNvSpPr>
          <p:nvPr>
            <p:ph type="title"/>
          </p:nvPr>
        </p:nvSpPr>
        <p:spPr/>
        <p:txBody>
          <a:bodyPr>
            <a:normAutofit/>
          </a:bodyPr>
          <a:lstStyle/>
          <a:p>
            <a:r>
              <a:rPr lang="en-US" sz="9600" dirty="0"/>
              <a:t>D</a:t>
            </a:r>
            <a:r>
              <a:rPr lang="en-CA" sz="9600" dirty="0"/>
              <a:t>ebugging – Age Input</a:t>
            </a:r>
          </a:p>
        </p:txBody>
      </p:sp>
      <p:pic>
        <p:nvPicPr>
          <p:cNvPr id="4" name="Picture 3">
            <a:extLst>
              <a:ext uri="{FF2B5EF4-FFF2-40B4-BE49-F238E27FC236}">
                <a16:creationId xmlns:a16="http://schemas.microsoft.com/office/drawing/2014/main" id="{3229C2B5-908B-F795-C523-012AC9982487}"/>
              </a:ext>
            </a:extLst>
          </p:cNvPr>
          <p:cNvPicPr>
            <a:picLocks noChangeAspect="1"/>
          </p:cNvPicPr>
          <p:nvPr/>
        </p:nvPicPr>
        <p:blipFill>
          <a:blip r:embed="rId3"/>
          <a:stretch>
            <a:fillRect/>
          </a:stretch>
        </p:blipFill>
        <p:spPr>
          <a:xfrm>
            <a:off x="5795660" y="3550640"/>
            <a:ext cx="12791092" cy="9287589"/>
          </a:xfrm>
          <a:prstGeom prst="rect">
            <a:avLst/>
          </a:prstGeom>
        </p:spPr>
      </p:pic>
    </p:spTree>
    <p:extLst>
      <p:ext uri="{BB962C8B-B14F-4D97-AF65-F5344CB8AC3E}">
        <p14:creationId xmlns:p14="http://schemas.microsoft.com/office/powerpoint/2010/main" val="5783229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FD813-BD00-9D01-C459-7A0E8A2115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0A4F26-14C1-E7C5-E3CB-10E6F9711359}"/>
              </a:ext>
            </a:extLst>
          </p:cNvPr>
          <p:cNvSpPr>
            <a:spLocks noGrp="1"/>
          </p:cNvSpPr>
          <p:nvPr>
            <p:ph type="title"/>
          </p:nvPr>
        </p:nvSpPr>
        <p:spPr/>
        <p:txBody>
          <a:bodyPr>
            <a:normAutofit/>
          </a:bodyPr>
          <a:lstStyle/>
          <a:p>
            <a:r>
              <a:rPr lang="en-US" sz="9600" dirty="0"/>
              <a:t>D</a:t>
            </a:r>
            <a:r>
              <a:rPr lang="en-CA" sz="9600" dirty="0"/>
              <a:t>ebugging – Age Input</a:t>
            </a:r>
          </a:p>
        </p:txBody>
      </p:sp>
      <p:pic>
        <p:nvPicPr>
          <p:cNvPr id="5" name="Picture 4">
            <a:extLst>
              <a:ext uri="{FF2B5EF4-FFF2-40B4-BE49-F238E27FC236}">
                <a16:creationId xmlns:a16="http://schemas.microsoft.com/office/drawing/2014/main" id="{5AAA8E9B-723C-CD98-147E-EB306BA8952D}"/>
              </a:ext>
            </a:extLst>
          </p:cNvPr>
          <p:cNvPicPr>
            <a:picLocks noChangeAspect="1"/>
          </p:cNvPicPr>
          <p:nvPr/>
        </p:nvPicPr>
        <p:blipFill>
          <a:blip r:embed="rId3"/>
          <a:stretch>
            <a:fillRect/>
          </a:stretch>
        </p:blipFill>
        <p:spPr>
          <a:xfrm>
            <a:off x="5837926" y="3381377"/>
            <a:ext cx="12706560" cy="9324973"/>
          </a:xfrm>
          <a:prstGeom prst="rect">
            <a:avLst/>
          </a:prstGeom>
        </p:spPr>
      </p:pic>
    </p:spTree>
    <p:extLst>
      <p:ext uri="{BB962C8B-B14F-4D97-AF65-F5344CB8AC3E}">
        <p14:creationId xmlns:p14="http://schemas.microsoft.com/office/powerpoint/2010/main" val="40288104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1FB14-2A44-4692-6356-A68918330B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DB3EE6-8EC4-651B-B203-CCA2C12182D9}"/>
              </a:ext>
            </a:extLst>
          </p:cNvPr>
          <p:cNvSpPr>
            <a:spLocks noGrp="1"/>
          </p:cNvSpPr>
          <p:nvPr>
            <p:ph type="title"/>
          </p:nvPr>
        </p:nvSpPr>
        <p:spPr/>
        <p:txBody>
          <a:bodyPr>
            <a:normAutofit/>
          </a:bodyPr>
          <a:lstStyle/>
          <a:p>
            <a:r>
              <a:rPr lang="en-US" sz="9600" dirty="0"/>
              <a:t>D</a:t>
            </a:r>
            <a:r>
              <a:rPr lang="en-CA" sz="9600" dirty="0"/>
              <a:t>ebugging – Age Input</a:t>
            </a:r>
          </a:p>
        </p:txBody>
      </p:sp>
      <p:pic>
        <p:nvPicPr>
          <p:cNvPr id="4" name="Picture 3">
            <a:extLst>
              <a:ext uri="{FF2B5EF4-FFF2-40B4-BE49-F238E27FC236}">
                <a16:creationId xmlns:a16="http://schemas.microsoft.com/office/drawing/2014/main" id="{00FD35DE-4C44-EE4F-9416-FCDBC09F4551}"/>
              </a:ext>
            </a:extLst>
          </p:cNvPr>
          <p:cNvPicPr>
            <a:picLocks noChangeAspect="1"/>
          </p:cNvPicPr>
          <p:nvPr/>
        </p:nvPicPr>
        <p:blipFill>
          <a:blip r:embed="rId3"/>
          <a:stretch>
            <a:fillRect/>
          </a:stretch>
        </p:blipFill>
        <p:spPr>
          <a:xfrm>
            <a:off x="5831856" y="3455024"/>
            <a:ext cx="12718700" cy="9530725"/>
          </a:xfrm>
          <a:prstGeom prst="rect">
            <a:avLst/>
          </a:prstGeom>
        </p:spPr>
      </p:pic>
    </p:spTree>
    <p:extLst>
      <p:ext uri="{BB962C8B-B14F-4D97-AF65-F5344CB8AC3E}">
        <p14:creationId xmlns:p14="http://schemas.microsoft.com/office/powerpoint/2010/main" val="18022502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492D8-2B80-B72F-067C-C880206EA6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08C899-F080-552D-6420-5C765D1D0491}"/>
              </a:ext>
            </a:extLst>
          </p:cNvPr>
          <p:cNvSpPr>
            <a:spLocks noGrp="1"/>
          </p:cNvSpPr>
          <p:nvPr>
            <p:ph type="ctrTitle"/>
          </p:nvPr>
        </p:nvSpPr>
        <p:spPr/>
        <p:txBody>
          <a:bodyPr/>
          <a:lstStyle/>
          <a:p>
            <a:r>
              <a:rPr lang="en-US" dirty="0"/>
              <a:t>Debugging – Generation Check</a:t>
            </a:r>
          </a:p>
        </p:txBody>
      </p:sp>
    </p:spTree>
    <p:extLst>
      <p:ext uri="{BB962C8B-B14F-4D97-AF65-F5344CB8AC3E}">
        <p14:creationId xmlns:p14="http://schemas.microsoft.com/office/powerpoint/2010/main" val="42215059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6D91D-3EA8-CAAB-B012-B6D6F0F436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633F4C-B755-270C-4C50-DFE013116D17}"/>
              </a:ext>
            </a:extLst>
          </p:cNvPr>
          <p:cNvSpPr>
            <a:spLocks noGrp="1"/>
          </p:cNvSpPr>
          <p:nvPr>
            <p:ph type="title"/>
          </p:nvPr>
        </p:nvSpPr>
        <p:spPr/>
        <p:txBody>
          <a:bodyPr>
            <a:normAutofit fontScale="90000"/>
          </a:bodyPr>
          <a:lstStyle/>
          <a:p>
            <a:r>
              <a:rPr lang="en-CA" sz="9600" dirty="0"/>
              <a:t>Debugging – Generation Check Requirements</a:t>
            </a:r>
          </a:p>
        </p:txBody>
      </p:sp>
      <p:sp>
        <p:nvSpPr>
          <p:cNvPr id="3" name="Content Placeholder 2">
            <a:extLst>
              <a:ext uri="{FF2B5EF4-FFF2-40B4-BE49-F238E27FC236}">
                <a16:creationId xmlns:a16="http://schemas.microsoft.com/office/drawing/2014/main" id="{9386FF8B-1002-0779-1374-5A16AA7A32CB}"/>
              </a:ext>
            </a:extLst>
          </p:cNvPr>
          <p:cNvSpPr>
            <a:spLocks noGrp="1"/>
          </p:cNvSpPr>
          <p:nvPr>
            <p:ph idx="1"/>
          </p:nvPr>
        </p:nvSpPr>
        <p:spPr/>
        <p:txBody>
          <a:bodyPr>
            <a:normAutofit/>
          </a:bodyPr>
          <a:lstStyle/>
          <a:p>
            <a:r>
              <a:rPr lang="en-US" sz="7200" dirty="0"/>
              <a:t>Output: Message to user</a:t>
            </a:r>
          </a:p>
          <a:p>
            <a:r>
              <a:rPr lang="en-US" sz="7200" dirty="0"/>
              <a:t>Conditionals based on age:</a:t>
            </a:r>
          </a:p>
          <a:p>
            <a:pPr lvl="1"/>
            <a:r>
              <a:rPr lang="en-US" sz="6400" dirty="0"/>
              <a:t>B</a:t>
            </a:r>
            <a:r>
              <a:rPr lang="en-CA" sz="6400" dirty="0"/>
              <a:t>aby boomer: age </a:t>
            </a:r>
            <a:r>
              <a:rPr lang="en-CA" sz="6400" u="sng" dirty="0"/>
              <a:t>60+</a:t>
            </a:r>
          </a:p>
          <a:p>
            <a:pPr lvl="1"/>
            <a:r>
              <a:rPr lang="en-CA" sz="6400" dirty="0"/>
              <a:t>Gen X: age </a:t>
            </a:r>
            <a:r>
              <a:rPr lang="en-CA" sz="6400" u="sng" dirty="0"/>
              <a:t>45-60</a:t>
            </a:r>
          </a:p>
          <a:p>
            <a:pPr lvl="1"/>
            <a:r>
              <a:rPr lang="en-CA" sz="6400" dirty="0"/>
              <a:t>Millennial: age </a:t>
            </a:r>
            <a:r>
              <a:rPr lang="en-CA" sz="6400" u="sng" dirty="0"/>
              <a:t>29-44</a:t>
            </a:r>
          </a:p>
          <a:p>
            <a:pPr lvl="1"/>
            <a:r>
              <a:rPr lang="en-CA" sz="6400" dirty="0"/>
              <a:t>Gen Z: age </a:t>
            </a:r>
            <a:r>
              <a:rPr lang="en-CA" sz="6400" u="sng" dirty="0"/>
              <a:t>13-28</a:t>
            </a:r>
          </a:p>
          <a:p>
            <a:pPr lvl="1"/>
            <a:r>
              <a:rPr lang="en-CA" sz="6400" dirty="0"/>
              <a:t>Gen Alpha: age </a:t>
            </a:r>
            <a:r>
              <a:rPr lang="en-CA" sz="6400" u="sng" dirty="0"/>
              <a:t>0-12</a:t>
            </a:r>
          </a:p>
          <a:p>
            <a:endParaRPr lang="en-CA" sz="7200" dirty="0"/>
          </a:p>
        </p:txBody>
      </p:sp>
    </p:spTree>
    <p:extLst>
      <p:ext uri="{BB962C8B-B14F-4D97-AF65-F5344CB8AC3E}">
        <p14:creationId xmlns:p14="http://schemas.microsoft.com/office/powerpoint/2010/main" val="29406050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400CF-6211-FA4B-A7CA-FF96CDF727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9947F5-E5F7-E988-8102-5D98F389866A}"/>
              </a:ext>
            </a:extLst>
          </p:cNvPr>
          <p:cNvSpPr>
            <a:spLocks noGrp="1"/>
          </p:cNvSpPr>
          <p:nvPr>
            <p:ph type="title"/>
          </p:nvPr>
        </p:nvSpPr>
        <p:spPr/>
        <p:txBody>
          <a:bodyPr>
            <a:normAutofit/>
          </a:bodyPr>
          <a:lstStyle/>
          <a:p>
            <a:r>
              <a:rPr lang="en-CA" sz="9600" dirty="0"/>
              <a:t>Debugging – Generation Check</a:t>
            </a:r>
          </a:p>
        </p:txBody>
      </p:sp>
      <p:pic>
        <p:nvPicPr>
          <p:cNvPr id="6" name="Picture 5">
            <a:extLst>
              <a:ext uri="{FF2B5EF4-FFF2-40B4-BE49-F238E27FC236}">
                <a16:creationId xmlns:a16="http://schemas.microsoft.com/office/drawing/2014/main" id="{C3CA6CD0-7AF2-1515-4AEA-82C70360C286}"/>
              </a:ext>
            </a:extLst>
          </p:cNvPr>
          <p:cNvPicPr>
            <a:picLocks noChangeAspect="1"/>
          </p:cNvPicPr>
          <p:nvPr/>
        </p:nvPicPr>
        <p:blipFill>
          <a:blip r:embed="rId3"/>
          <a:stretch>
            <a:fillRect/>
          </a:stretch>
        </p:blipFill>
        <p:spPr>
          <a:xfrm>
            <a:off x="5631824" y="3185442"/>
            <a:ext cx="13118763" cy="9800307"/>
          </a:xfrm>
          <a:prstGeom prst="rect">
            <a:avLst/>
          </a:prstGeom>
        </p:spPr>
      </p:pic>
    </p:spTree>
    <p:extLst>
      <p:ext uri="{BB962C8B-B14F-4D97-AF65-F5344CB8AC3E}">
        <p14:creationId xmlns:p14="http://schemas.microsoft.com/office/powerpoint/2010/main" val="19138389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EB58F-22AA-75FA-E0A7-C40B96B8AE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62041-C172-9072-5591-76E202B6708B}"/>
              </a:ext>
            </a:extLst>
          </p:cNvPr>
          <p:cNvSpPr>
            <a:spLocks noGrp="1"/>
          </p:cNvSpPr>
          <p:nvPr>
            <p:ph type="title"/>
          </p:nvPr>
        </p:nvSpPr>
        <p:spPr/>
        <p:txBody>
          <a:bodyPr>
            <a:normAutofit/>
          </a:bodyPr>
          <a:lstStyle/>
          <a:p>
            <a:r>
              <a:rPr lang="en-CA" sz="9600" dirty="0"/>
              <a:t>Debugging – Baby Boomer Check</a:t>
            </a:r>
          </a:p>
        </p:txBody>
      </p:sp>
      <p:pic>
        <p:nvPicPr>
          <p:cNvPr id="8" name="Picture 7">
            <a:extLst>
              <a:ext uri="{FF2B5EF4-FFF2-40B4-BE49-F238E27FC236}">
                <a16:creationId xmlns:a16="http://schemas.microsoft.com/office/drawing/2014/main" id="{32A3182C-29E3-A0C0-CD3B-8FFAA3E098F4}"/>
              </a:ext>
            </a:extLst>
          </p:cNvPr>
          <p:cNvPicPr>
            <a:picLocks noChangeAspect="1"/>
          </p:cNvPicPr>
          <p:nvPr/>
        </p:nvPicPr>
        <p:blipFill>
          <a:blip r:embed="rId3"/>
          <a:stretch>
            <a:fillRect/>
          </a:stretch>
        </p:blipFill>
        <p:spPr>
          <a:xfrm>
            <a:off x="1758603" y="5856286"/>
            <a:ext cx="20865205" cy="3306763"/>
          </a:xfrm>
          <a:prstGeom prst="rect">
            <a:avLst/>
          </a:prstGeom>
        </p:spPr>
      </p:pic>
    </p:spTree>
    <p:extLst>
      <p:ext uri="{BB962C8B-B14F-4D97-AF65-F5344CB8AC3E}">
        <p14:creationId xmlns:p14="http://schemas.microsoft.com/office/powerpoint/2010/main" val="20618492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D28DE-05F3-F63B-839A-DEE1B3763E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FFFEEF-7B7B-C70B-EBA0-6CBF817D9435}"/>
              </a:ext>
            </a:extLst>
          </p:cNvPr>
          <p:cNvSpPr>
            <a:spLocks noGrp="1"/>
          </p:cNvSpPr>
          <p:nvPr>
            <p:ph type="title"/>
          </p:nvPr>
        </p:nvSpPr>
        <p:spPr/>
        <p:txBody>
          <a:bodyPr>
            <a:normAutofit/>
          </a:bodyPr>
          <a:lstStyle/>
          <a:p>
            <a:r>
              <a:rPr lang="en-CA" sz="9600" dirty="0"/>
              <a:t>Debugging – Gen X Check</a:t>
            </a:r>
          </a:p>
        </p:txBody>
      </p:sp>
      <p:pic>
        <p:nvPicPr>
          <p:cNvPr id="4" name="Picture 3">
            <a:extLst>
              <a:ext uri="{FF2B5EF4-FFF2-40B4-BE49-F238E27FC236}">
                <a16:creationId xmlns:a16="http://schemas.microsoft.com/office/drawing/2014/main" id="{B0AFA521-DFAD-AC38-6743-C07798392332}"/>
              </a:ext>
            </a:extLst>
          </p:cNvPr>
          <p:cNvPicPr>
            <a:picLocks noChangeAspect="1"/>
          </p:cNvPicPr>
          <p:nvPr/>
        </p:nvPicPr>
        <p:blipFill>
          <a:blip r:embed="rId3"/>
          <a:stretch>
            <a:fillRect/>
          </a:stretch>
        </p:blipFill>
        <p:spPr>
          <a:xfrm>
            <a:off x="3780179" y="5859757"/>
            <a:ext cx="16822054" cy="3364409"/>
          </a:xfrm>
          <a:prstGeom prst="rect">
            <a:avLst/>
          </a:prstGeom>
        </p:spPr>
      </p:pic>
    </p:spTree>
    <p:extLst>
      <p:ext uri="{BB962C8B-B14F-4D97-AF65-F5344CB8AC3E}">
        <p14:creationId xmlns:p14="http://schemas.microsoft.com/office/powerpoint/2010/main" val="27949834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0BD1D-6641-353E-FE4C-094BBF66DB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EE451A-76B8-5459-72AA-ABAD001A0F35}"/>
              </a:ext>
            </a:extLst>
          </p:cNvPr>
          <p:cNvSpPr>
            <a:spLocks noGrp="1"/>
          </p:cNvSpPr>
          <p:nvPr>
            <p:ph type="title"/>
          </p:nvPr>
        </p:nvSpPr>
        <p:spPr/>
        <p:txBody>
          <a:bodyPr>
            <a:normAutofit/>
          </a:bodyPr>
          <a:lstStyle/>
          <a:p>
            <a:r>
              <a:rPr lang="en-CA" sz="9600" dirty="0"/>
              <a:t>Debugging – Gen X Check</a:t>
            </a:r>
          </a:p>
        </p:txBody>
      </p:sp>
      <p:pic>
        <p:nvPicPr>
          <p:cNvPr id="5" name="Picture 4">
            <a:extLst>
              <a:ext uri="{FF2B5EF4-FFF2-40B4-BE49-F238E27FC236}">
                <a16:creationId xmlns:a16="http://schemas.microsoft.com/office/drawing/2014/main" id="{FAB9F955-0A2C-D058-5FF6-AD22D591C43A}"/>
              </a:ext>
            </a:extLst>
          </p:cNvPr>
          <p:cNvPicPr>
            <a:picLocks noChangeAspect="1"/>
          </p:cNvPicPr>
          <p:nvPr/>
        </p:nvPicPr>
        <p:blipFill>
          <a:blip r:embed="rId3"/>
          <a:stretch>
            <a:fillRect/>
          </a:stretch>
        </p:blipFill>
        <p:spPr>
          <a:xfrm>
            <a:off x="3941311" y="5467323"/>
            <a:ext cx="16499789" cy="3905277"/>
          </a:xfrm>
          <a:prstGeom prst="rect">
            <a:avLst/>
          </a:prstGeom>
        </p:spPr>
      </p:pic>
    </p:spTree>
    <p:extLst>
      <p:ext uri="{BB962C8B-B14F-4D97-AF65-F5344CB8AC3E}">
        <p14:creationId xmlns:p14="http://schemas.microsoft.com/office/powerpoint/2010/main" val="28628526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0C857-DB84-19E5-E251-81E2CF101B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F5273A-3517-8C85-1D0D-3A8A648079EA}"/>
              </a:ext>
            </a:extLst>
          </p:cNvPr>
          <p:cNvSpPr>
            <a:spLocks noGrp="1"/>
          </p:cNvSpPr>
          <p:nvPr>
            <p:ph type="title"/>
          </p:nvPr>
        </p:nvSpPr>
        <p:spPr/>
        <p:txBody>
          <a:bodyPr>
            <a:normAutofit/>
          </a:bodyPr>
          <a:lstStyle/>
          <a:p>
            <a:r>
              <a:rPr lang="en-CA" sz="9600" dirty="0"/>
              <a:t>Debugging – Millennial Check</a:t>
            </a:r>
          </a:p>
        </p:txBody>
      </p:sp>
      <p:pic>
        <p:nvPicPr>
          <p:cNvPr id="4" name="Picture 3">
            <a:extLst>
              <a:ext uri="{FF2B5EF4-FFF2-40B4-BE49-F238E27FC236}">
                <a16:creationId xmlns:a16="http://schemas.microsoft.com/office/drawing/2014/main" id="{A57EEC82-F20A-6852-4167-ADDAB82C2CF2}"/>
              </a:ext>
            </a:extLst>
          </p:cNvPr>
          <p:cNvPicPr>
            <a:picLocks noChangeAspect="1"/>
          </p:cNvPicPr>
          <p:nvPr/>
        </p:nvPicPr>
        <p:blipFill>
          <a:blip r:embed="rId3"/>
          <a:stretch>
            <a:fillRect/>
          </a:stretch>
        </p:blipFill>
        <p:spPr>
          <a:xfrm>
            <a:off x="3208327" y="5673724"/>
            <a:ext cx="17965758" cy="3227092"/>
          </a:xfrm>
          <a:prstGeom prst="rect">
            <a:avLst/>
          </a:prstGeom>
        </p:spPr>
      </p:pic>
    </p:spTree>
    <p:extLst>
      <p:ext uri="{BB962C8B-B14F-4D97-AF65-F5344CB8AC3E}">
        <p14:creationId xmlns:p14="http://schemas.microsoft.com/office/powerpoint/2010/main" val="39528568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580FA-F486-FC62-AC5D-2B1B1CE558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C06525-7009-7DFE-617D-0B361510C1A0}"/>
              </a:ext>
            </a:extLst>
          </p:cNvPr>
          <p:cNvSpPr>
            <a:spLocks noGrp="1"/>
          </p:cNvSpPr>
          <p:nvPr>
            <p:ph type="title"/>
          </p:nvPr>
        </p:nvSpPr>
        <p:spPr/>
        <p:txBody>
          <a:bodyPr>
            <a:normAutofit/>
          </a:bodyPr>
          <a:lstStyle/>
          <a:p>
            <a:r>
              <a:rPr lang="en-CA" sz="9600" dirty="0"/>
              <a:t>Debugging – Millennial Check</a:t>
            </a:r>
          </a:p>
        </p:txBody>
      </p:sp>
      <p:pic>
        <p:nvPicPr>
          <p:cNvPr id="5" name="Picture 4">
            <a:extLst>
              <a:ext uri="{FF2B5EF4-FFF2-40B4-BE49-F238E27FC236}">
                <a16:creationId xmlns:a16="http://schemas.microsoft.com/office/drawing/2014/main" id="{11F46368-AAB9-5B89-0D9C-D082F0DBD889}"/>
              </a:ext>
            </a:extLst>
          </p:cNvPr>
          <p:cNvPicPr>
            <a:picLocks noChangeAspect="1"/>
          </p:cNvPicPr>
          <p:nvPr/>
        </p:nvPicPr>
        <p:blipFill>
          <a:blip r:embed="rId3"/>
          <a:stretch>
            <a:fillRect/>
          </a:stretch>
        </p:blipFill>
        <p:spPr>
          <a:xfrm>
            <a:off x="1523356" y="5721938"/>
            <a:ext cx="21335700" cy="3631612"/>
          </a:xfrm>
          <a:prstGeom prst="rect">
            <a:avLst/>
          </a:prstGeom>
        </p:spPr>
      </p:pic>
    </p:spTree>
    <p:extLst>
      <p:ext uri="{BB962C8B-B14F-4D97-AF65-F5344CB8AC3E}">
        <p14:creationId xmlns:p14="http://schemas.microsoft.com/office/powerpoint/2010/main" val="12296674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491AE-B57C-9A2F-1F5B-83912A6117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65FB9D-82A0-93E4-04A2-27447FE41603}"/>
              </a:ext>
            </a:extLst>
          </p:cNvPr>
          <p:cNvSpPr>
            <a:spLocks noGrp="1"/>
          </p:cNvSpPr>
          <p:nvPr>
            <p:ph type="title"/>
          </p:nvPr>
        </p:nvSpPr>
        <p:spPr/>
        <p:txBody>
          <a:bodyPr>
            <a:normAutofit/>
          </a:bodyPr>
          <a:lstStyle/>
          <a:p>
            <a:r>
              <a:rPr lang="en-CA" sz="9600" dirty="0"/>
              <a:t>Debugging – Gen Z Check</a:t>
            </a:r>
          </a:p>
        </p:txBody>
      </p:sp>
      <p:pic>
        <p:nvPicPr>
          <p:cNvPr id="4" name="Picture 3">
            <a:extLst>
              <a:ext uri="{FF2B5EF4-FFF2-40B4-BE49-F238E27FC236}">
                <a16:creationId xmlns:a16="http://schemas.microsoft.com/office/drawing/2014/main" id="{459AC05E-0CEB-944E-61B3-CBBF2CC5FB2A}"/>
              </a:ext>
            </a:extLst>
          </p:cNvPr>
          <p:cNvPicPr>
            <a:picLocks noChangeAspect="1"/>
          </p:cNvPicPr>
          <p:nvPr/>
        </p:nvPicPr>
        <p:blipFill>
          <a:blip r:embed="rId3"/>
          <a:stretch>
            <a:fillRect/>
          </a:stretch>
        </p:blipFill>
        <p:spPr>
          <a:xfrm>
            <a:off x="1891085" y="5562576"/>
            <a:ext cx="20600242" cy="4343423"/>
          </a:xfrm>
          <a:prstGeom prst="rect">
            <a:avLst/>
          </a:prstGeom>
        </p:spPr>
      </p:pic>
    </p:spTree>
    <p:extLst>
      <p:ext uri="{BB962C8B-B14F-4D97-AF65-F5344CB8AC3E}">
        <p14:creationId xmlns:p14="http://schemas.microsoft.com/office/powerpoint/2010/main" val="11981464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10590-EF08-6730-58ED-0050C90BE4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E1DEA7-C7B9-15FB-4FBB-56B5C771BDB1}"/>
              </a:ext>
            </a:extLst>
          </p:cNvPr>
          <p:cNvSpPr>
            <a:spLocks noGrp="1"/>
          </p:cNvSpPr>
          <p:nvPr>
            <p:ph type="title"/>
          </p:nvPr>
        </p:nvSpPr>
        <p:spPr/>
        <p:txBody>
          <a:bodyPr>
            <a:normAutofit/>
          </a:bodyPr>
          <a:lstStyle/>
          <a:p>
            <a:r>
              <a:rPr lang="en-CA" sz="9600" dirty="0"/>
              <a:t>Debugging – Gen Alpha Check</a:t>
            </a:r>
          </a:p>
        </p:txBody>
      </p:sp>
      <p:sp>
        <p:nvSpPr>
          <p:cNvPr id="4" name="TextBox 3">
            <a:extLst>
              <a:ext uri="{FF2B5EF4-FFF2-40B4-BE49-F238E27FC236}">
                <a16:creationId xmlns:a16="http://schemas.microsoft.com/office/drawing/2014/main" id="{681D365F-1E00-25E2-62D8-510450EC4822}"/>
              </a:ext>
            </a:extLst>
          </p:cNvPr>
          <p:cNvSpPr txBox="1"/>
          <p:nvPr/>
        </p:nvSpPr>
        <p:spPr>
          <a:xfrm>
            <a:off x="11010900" y="6134100"/>
            <a:ext cx="8153400" cy="1938992"/>
          </a:xfrm>
          <a:prstGeom prst="rect">
            <a:avLst/>
          </a:prstGeom>
          <a:noFill/>
        </p:spPr>
        <p:txBody>
          <a:bodyPr wrap="square" rtlCol="0">
            <a:spAutoFit/>
          </a:bodyPr>
          <a:lstStyle/>
          <a:p>
            <a:r>
              <a:rPr lang="en-US" sz="12000" dirty="0"/>
              <a:t>?</a:t>
            </a:r>
            <a:endParaRPr lang="en-CA" sz="12000" dirty="0"/>
          </a:p>
        </p:txBody>
      </p:sp>
    </p:spTree>
    <p:extLst>
      <p:ext uri="{BB962C8B-B14F-4D97-AF65-F5344CB8AC3E}">
        <p14:creationId xmlns:p14="http://schemas.microsoft.com/office/powerpoint/2010/main" val="36787818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13DB7-CD07-0046-9B3D-A91DE59D74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D1E8C8-EDFB-0C1C-2028-EB0CC77F2340}"/>
              </a:ext>
            </a:extLst>
          </p:cNvPr>
          <p:cNvSpPr>
            <a:spLocks noGrp="1"/>
          </p:cNvSpPr>
          <p:nvPr>
            <p:ph type="title"/>
          </p:nvPr>
        </p:nvSpPr>
        <p:spPr/>
        <p:txBody>
          <a:bodyPr>
            <a:normAutofit/>
          </a:bodyPr>
          <a:lstStyle/>
          <a:p>
            <a:r>
              <a:rPr lang="en-CA" sz="9600" dirty="0"/>
              <a:t>Debugging – Gen Alpha Check</a:t>
            </a:r>
          </a:p>
        </p:txBody>
      </p:sp>
      <p:pic>
        <p:nvPicPr>
          <p:cNvPr id="5" name="Picture 4">
            <a:extLst>
              <a:ext uri="{FF2B5EF4-FFF2-40B4-BE49-F238E27FC236}">
                <a16:creationId xmlns:a16="http://schemas.microsoft.com/office/drawing/2014/main" id="{536171ED-9F52-334D-4F93-19AE5EC51891}"/>
              </a:ext>
            </a:extLst>
          </p:cNvPr>
          <p:cNvPicPr>
            <a:picLocks noChangeAspect="1"/>
          </p:cNvPicPr>
          <p:nvPr/>
        </p:nvPicPr>
        <p:blipFill>
          <a:blip r:embed="rId3"/>
          <a:stretch>
            <a:fillRect/>
          </a:stretch>
        </p:blipFill>
        <p:spPr>
          <a:xfrm>
            <a:off x="2417601" y="5726406"/>
            <a:ext cx="19547209" cy="3684294"/>
          </a:xfrm>
          <a:prstGeom prst="rect">
            <a:avLst/>
          </a:prstGeom>
        </p:spPr>
      </p:pic>
    </p:spTree>
    <p:extLst>
      <p:ext uri="{BB962C8B-B14F-4D97-AF65-F5344CB8AC3E}">
        <p14:creationId xmlns:p14="http://schemas.microsoft.com/office/powerpoint/2010/main" val="354473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C5B31-451A-73ED-5374-BEA1C39134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79CAF2-789B-12B6-B83D-3D2580BF0780}"/>
              </a:ext>
            </a:extLst>
          </p:cNvPr>
          <p:cNvSpPr>
            <a:spLocks noGrp="1"/>
          </p:cNvSpPr>
          <p:nvPr>
            <p:ph type="title"/>
          </p:nvPr>
        </p:nvSpPr>
        <p:spPr/>
        <p:txBody>
          <a:bodyPr>
            <a:normAutofit/>
          </a:bodyPr>
          <a:lstStyle/>
          <a:p>
            <a:r>
              <a:rPr lang="en-CA" sz="9600" dirty="0"/>
              <a:t>Debugging – Generation Check</a:t>
            </a:r>
          </a:p>
        </p:txBody>
      </p:sp>
      <p:pic>
        <p:nvPicPr>
          <p:cNvPr id="4" name="Picture 3">
            <a:extLst>
              <a:ext uri="{FF2B5EF4-FFF2-40B4-BE49-F238E27FC236}">
                <a16:creationId xmlns:a16="http://schemas.microsoft.com/office/drawing/2014/main" id="{903D0B93-2D18-405B-8A8C-A87FCE214C49}"/>
              </a:ext>
            </a:extLst>
          </p:cNvPr>
          <p:cNvPicPr>
            <a:picLocks noChangeAspect="1"/>
          </p:cNvPicPr>
          <p:nvPr/>
        </p:nvPicPr>
        <p:blipFill>
          <a:blip r:embed="rId3"/>
          <a:stretch>
            <a:fillRect/>
          </a:stretch>
        </p:blipFill>
        <p:spPr>
          <a:xfrm>
            <a:off x="6812923" y="3190877"/>
            <a:ext cx="10756565" cy="9625617"/>
          </a:xfrm>
          <a:prstGeom prst="rect">
            <a:avLst/>
          </a:prstGeom>
        </p:spPr>
      </p:pic>
    </p:spTree>
    <p:extLst>
      <p:ext uri="{BB962C8B-B14F-4D97-AF65-F5344CB8AC3E}">
        <p14:creationId xmlns:p14="http://schemas.microsoft.com/office/powerpoint/2010/main" val="28401535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8974A-F0F7-5BE4-1580-8430BFCD69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7524FA-1C53-29FB-EF55-7B4A1CC6003D}"/>
              </a:ext>
            </a:extLst>
          </p:cNvPr>
          <p:cNvSpPr>
            <a:spLocks noGrp="1"/>
          </p:cNvSpPr>
          <p:nvPr>
            <p:ph type="title"/>
          </p:nvPr>
        </p:nvSpPr>
        <p:spPr/>
        <p:txBody>
          <a:bodyPr>
            <a:normAutofit/>
          </a:bodyPr>
          <a:lstStyle/>
          <a:p>
            <a:r>
              <a:rPr lang="en-CA" sz="9600" dirty="0"/>
              <a:t>Debugging – Generation Check</a:t>
            </a:r>
          </a:p>
        </p:txBody>
      </p:sp>
      <p:pic>
        <p:nvPicPr>
          <p:cNvPr id="5" name="Picture 4">
            <a:extLst>
              <a:ext uri="{FF2B5EF4-FFF2-40B4-BE49-F238E27FC236}">
                <a16:creationId xmlns:a16="http://schemas.microsoft.com/office/drawing/2014/main" id="{C62EC3C3-D6F4-FCE7-E1C3-A0E899694DAC}"/>
              </a:ext>
            </a:extLst>
          </p:cNvPr>
          <p:cNvPicPr>
            <a:picLocks noChangeAspect="1"/>
          </p:cNvPicPr>
          <p:nvPr/>
        </p:nvPicPr>
        <p:blipFill>
          <a:blip r:embed="rId3"/>
          <a:stretch>
            <a:fillRect/>
          </a:stretch>
        </p:blipFill>
        <p:spPr>
          <a:xfrm>
            <a:off x="7011166" y="2698800"/>
            <a:ext cx="10360079" cy="10286949"/>
          </a:xfrm>
          <a:prstGeom prst="rect">
            <a:avLst/>
          </a:prstGeom>
        </p:spPr>
      </p:pic>
    </p:spTree>
    <p:extLst>
      <p:ext uri="{BB962C8B-B14F-4D97-AF65-F5344CB8AC3E}">
        <p14:creationId xmlns:p14="http://schemas.microsoft.com/office/powerpoint/2010/main" val="39701198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BB15C-3390-4E91-9E4C-3C37EDF6BD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6F496D-396D-1EE8-BDA1-35C680F5BFAD}"/>
              </a:ext>
            </a:extLst>
          </p:cNvPr>
          <p:cNvSpPr>
            <a:spLocks noGrp="1"/>
          </p:cNvSpPr>
          <p:nvPr>
            <p:ph type="ctrTitle"/>
          </p:nvPr>
        </p:nvSpPr>
        <p:spPr/>
        <p:txBody>
          <a:bodyPr/>
          <a:lstStyle/>
          <a:p>
            <a:r>
              <a:rPr lang="en-US" dirty="0"/>
              <a:t>Refinement</a:t>
            </a:r>
          </a:p>
        </p:txBody>
      </p:sp>
    </p:spTree>
    <p:extLst>
      <p:ext uri="{BB962C8B-B14F-4D97-AF65-F5344CB8AC3E}">
        <p14:creationId xmlns:p14="http://schemas.microsoft.com/office/powerpoint/2010/main" val="7768835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35792-60B1-2E6A-F675-70A39F2398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F90E8-3FBB-4005-5304-D71022D70CEC}"/>
              </a:ext>
            </a:extLst>
          </p:cNvPr>
          <p:cNvSpPr>
            <a:spLocks noGrp="1"/>
          </p:cNvSpPr>
          <p:nvPr>
            <p:ph type="title"/>
          </p:nvPr>
        </p:nvSpPr>
        <p:spPr/>
        <p:txBody>
          <a:bodyPr>
            <a:normAutofit/>
          </a:bodyPr>
          <a:lstStyle/>
          <a:p>
            <a:r>
              <a:rPr lang="en-CA" sz="9600" dirty="0"/>
              <a:t>Refinement – Age Input</a:t>
            </a:r>
          </a:p>
        </p:txBody>
      </p:sp>
      <p:pic>
        <p:nvPicPr>
          <p:cNvPr id="4" name="Picture 3">
            <a:extLst>
              <a:ext uri="{FF2B5EF4-FFF2-40B4-BE49-F238E27FC236}">
                <a16:creationId xmlns:a16="http://schemas.microsoft.com/office/drawing/2014/main" id="{CD1A2280-7D34-0A39-D873-61DD209824BF}"/>
              </a:ext>
            </a:extLst>
          </p:cNvPr>
          <p:cNvPicPr>
            <a:picLocks noChangeAspect="1"/>
          </p:cNvPicPr>
          <p:nvPr/>
        </p:nvPicPr>
        <p:blipFill>
          <a:blip r:embed="rId3"/>
          <a:stretch>
            <a:fillRect/>
          </a:stretch>
        </p:blipFill>
        <p:spPr>
          <a:xfrm>
            <a:off x="6267328" y="3776479"/>
            <a:ext cx="11847755" cy="8758421"/>
          </a:xfrm>
          <a:prstGeom prst="rect">
            <a:avLst/>
          </a:prstGeom>
        </p:spPr>
      </p:pic>
    </p:spTree>
    <p:extLst>
      <p:ext uri="{BB962C8B-B14F-4D97-AF65-F5344CB8AC3E}">
        <p14:creationId xmlns:p14="http://schemas.microsoft.com/office/powerpoint/2010/main" val="30405405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EF8FE-A198-9F58-6856-49484307CF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CCB6F5-2AEF-A7F2-F09E-F91E33D651EE}"/>
              </a:ext>
            </a:extLst>
          </p:cNvPr>
          <p:cNvSpPr>
            <a:spLocks noGrp="1"/>
          </p:cNvSpPr>
          <p:nvPr>
            <p:ph type="title"/>
          </p:nvPr>
        </p:nvSpPr>
        <p:spPr/>
        <p:txBody>
          <a:bodyPr>
            <a:normAutofit/>
          </a:bodyPr>
          <a:lstStyle/>
          <a:p>
            <a:r>
              <a:rPr lang="en-CA" sz="9600" dirty="0"/>
              <a:t>Refinement – Age Input</a:t>
            </a:r>
          </a:p>
        </p:txBody>
      </p:sp>
      <p:pic>
        <p:nvPicPr>
          <p:cNvPr id="5" name="Picture 4">
            <a:extLst>
              <a:ext uri="{FF2B5EF4-FFF2-40B4-BE49-F238E27FC236}">
                <a16:creationId xmlns:a16="http://schemas.microsoft.com/office/drawing/2014/main" id="{1AE08DC9-92F6-004F-A837-84FC04C1D10B}"/>
              </a:ext>
            </a:extLst>
          </p:cNvPr>
          <p:cNvPicPr>
            <a:picLocks noChangeAspect="1"/>
          </p:cNvPicPr>
          <p:nvPr/>
        </p:nvPicPr>
        <p:blipFill>
          <a:blip r:embed="rId3"/>
          <a:stretch>
            <a:fillRect/>
          </a:stretch>
        </p:blipFill>
        <p:spPr>
          <a:xfrm>
            <a:off x="2075210" y="3381377"/>
            <a:ext cx="20797059" cy="8943973"/>
          </a:xfrm>
          <a:prstGeom prst="rect">
            <a:avLst/>
          </a:prstGeom>
        </p:spPr>
      </p:pic>
    </p:spTree>
    <p:extLst>
      <p:ext uri="{BB962C8B-B14F-4D97-AF65-F5344CB8AC3E}">
        <p14:creationId xmlns:p14="http://schemas.microsoft.com/office/powerpoint/2010/main" val="28835977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B19F8-4650-467D-102F-5CF7AAB303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47AE2A-3FBA-EF0F-7F33-AE25994F7055}"/>
              </a:ext>
            </a:extLst>
          </p:cNvPr>
          <p:cNvSpPr>
            <a:spLocks noGrp="1"/>
          </p:cNvSpPr>
          <p:nvPr>
            <p:ph type="title"/>
          </p:nvPr>
        </p:nvSpPr>
        <p:spPr/>
        <p:txBody>
          <a:bodyPr>
            <a:normAutofit/>
          </a:bodyPr>
          <a:lstStyle/>
          <a:p>
            <a:r>
              <a:rPr lang="en-CA" sz="9600" dirty="0"/>
              <a:t>Refinement – Generation Check</a:t>
            </a:r>
          </a:p>
        </p:txBody>
      </p:sp>
      <p:pic>
        <p:nvPicPr>
          <p:cNvPr id="4" name="Picture 3">
            <a:extLst>
              <a:ext uri="{FF2B5EF4-FFF2-40B4-BE49-F238E27FC236}">
                <a16:creationId xmlns:a16="http://schemas.microsoft.com/office/drawing/2014/main" id="{C2F4A72E-DEF5-B16B-00C2-85570B3D9C9F}"/>
              </a:ext>
            </a:extLst>
          </p:cNvPr>
          <p:cNvPicPr>
            <a:picLocks noChangeAspect="1"/>
          </p:cNvPicPr>
          <p:nvPr/>
        </p:nvPicPr>
        <p:blipFill>
          <a:blip r:embed="rId3"/>
          <a:stretch>
            <a:fillRect/>
          </a:stretch>
        </p:blipFill>
        <p:spPr>
          <a:xfrm>
            <a:off x="6880480" y="2940747"/>
            <a:ext cx="10621452" cy="10546653"/>
          </a:xfrm>
          <a:prstGeom prst="rect">
            <a:avLst/>
          </a:prstGeom>
        </p:spPr>
      </p:pic>
    </p:spTree>
    <p:extLst>
      <p:ext uri="{BB962C8B-B14F-4D97-AF65-F5344CB8AC3E}">
        <p14:creationId xmlns:p14="http://schemas.microsoft.com/office/powerpoint/2010/main" val="30687028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3F309-9A62-9670-FB88-6D7548E251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4C6C73-EEF6-E7CC-F831-3CF7EEDAF71F}"/>
              </a:ext>
            </a:extLst>
          </p:cNvPr>
          <p:cNvSpPr>
            <a:spLocks noGrp="1"/>
          </p:cNvSpPr>
          <p:nvPr>
            <p:ph type="title"/>
          </p:nvPr>
        </p:nvSpPr>
        <p:spPr/>
        <p:txBody>
          <a:bodyPr>
            <a:normAutofit/>
          </a:bodyPr>
          <a:lstStyle/>
          <a:p>
            <a:r>
              <a:rPr lang="en-CA" sz="9600" dirty="0"/>
              <a:t>Refinement – Generation Check</a:t>
            </a:r>
          </a:p>
        </p:txBody>
      </p:sp>
      <p:pic>
        <p:nvPicPr>
          <p:cNvPr id="5" name="Picture 4">
            <a:extLst>
              <a:ext uri="{FF2B5EF4-FFF2-40B4-BE49-F238E27FC236}">
                <a16:creationId xmlns:a16="http://schemas.microsoft.com/office/drawing/2014/main" id="{B90AA4A9-70DF-1B6E-30BA-7C58BDDEA9D9}"/>
              </a:ext>
            </a:extLst>
          </p:cNvPr>
          <p:cNvPicPr>
            <a:picLocks noChangeAspect="1"/>
          </p:cNvPicPr>
          <p:nvPr/>
        </p:nvPicPr>
        <p:blipFill>
          <a:blip r:embed="rId3"/>
          <a:stretch>
            <a:fillRect/>
          </a:stretch>
        </p:blipFill>
        <p:spPr>
          <a:xfrm>
            <a:off x="7128372" y="3381377"/>
            <a:ext cx="10149301" cy="9604372"/>
          </a:xfrm>
          <a:prstGeom prst="rect">
            <a:avLst/>
          </a:prstGeom>
        </p:spPr>
      </p:pic>
    </p:spTree>
    <p:extLst>
      <p:ext uri="{BB962C8B-B14F-4D97-AF65-F5344CB8AC3E}">
        <p14:creationId xmlns:p14="http://schemas.microsoft.com/office/powerpoint/2010/main" val="17705986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0A23A-14B2-8580-4B71-A98FA1394A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44D7A5-CD6B-C657-4FB7-DB1AEA104635}"/>
              </a:ext>
            </a:extLst>
          </p:cNvPr>
          <p:cNvSpPr>
            <a:spLocks noGrp="1"/>
          </p:cNvSpPr>
          <p:nvPr>
            <p:ph type="title"/>
          </p:nvPr>
        </p:nvSpPr>
        <p:spPr/>
        <p:txBody>
          <a:bodyPr>
            <a:normAutofit/>
          </a:bodyPr>
          <a:lstStyle/>
          <a:p>
            <a:r>
              <a:rPr lang="en-CA" sz="9600" dirty="0"/>
              <a:t>Original Solution with Errors</a:t>
            </a:r>
          </a:p>
        </p:txBody>
      </p:sp>
      <p:pic>
        <p:nvPicPr>
          <p:cNvPr id="10" name="Picture 9">
            <a:extLst>
              <a:ext uri="{FF2B5EF4-FFF2-40B4-BE49-F238E27FC236}">
                <a16:creationId xmlns:a16="http://schemas.microsoft.com/office/drawing/2014/main" id="{BD5133AA-D51F-C840-BCC8-20995411E29D}"/>
              </a:ext>
            </a:extLst>
          </p:cNvPr>
          <p:cNvPicPr>
            <a:picLocks noChangeAspect="1"/>
          </p:cNvPicPr>
          <p:nvPr/>
        </p:nvPicPr>
        <p:blipFill>
          <a:blip r:embed="rId3"/>
          <a:stretch>
            <a:fillRect/>
          </a:stretch>
        </p:blipFill>
        <p:spPr>
          <a:xfrm>
            <a:off x="1676291" y="3630850"/>
            <a:ext cx="10514915" cy="6575218"/>
          </a:xfrm>
          <a:prstGeom prst="rect">
            <a:avLst/>
          </a:prstGeom>
        </p:spPr>
      </p:pic>
      <p:pic>
        <p:nvPicPr>
          <p:cNvPr id="12" name="Picture 11">
            <a:extLst>
              <a:ext uri="{FF2B5EF4-FFF2-40B4-BE49-F238E27FC236}">
                <a16:creationId xmlns:a16="http://schemas.microsoft.com/office/drawing/2014/main" id="{C97F1FE7-4D2B-888B-4514-093AC68F4B98}"/>
              </a:ext>
            </a:extLst>
          </p:cNvPr>
          <p:cNvPicPr>
            <a:picLocks noChangeAspect="1"/>
          </p:cNvPicPr>
          <p:nvPr/>
        </p:nvPicPr>
        <p:blipFill>
          <a:blip r:embed="rId4"/>
          <a:stretch>
            <a:fillRect/>
          </a:stretch>
        </p:blipFill>
        <p:spPr>
          <a:xfrm>
            <a:off x="12751137" y="3630850"/>
            <a:ext cx="10318413" cy="7708320"/>
          </a:xfrm>
          <a:prstGeom prst="rect">
            <a:avLst/>
          </a:prstGeom>
        </p:spPr>
      </p:pic>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FBEE35E3-0BB7-D976-755C-61E1AD7BC91B}"/>
                  </a:ext>
                </a:extLst>
              </p14:cNvPr>
              <p14:cNvContentPartPr/>
              <p14:nvPr/>
            </p14:nvContentPartPr>
            <p14:xfrm>
              <a:off x="1733310" y="3961050"/>
              <a:ext cx="2112840" cy="40680"/>
            </p14:xfrm>
          </p:contentPart>
        </mc:Choice>
        <mc:Fallback xmlns="">
          <p:pic>
            <p:nvPicPr>
              <p:cNvPr id="13" name="Ink 12">
                <a:extLst>
                  <a:ext uri="{FF2B5EF4-FFF2-40B4-BE49-F238E27FC236}">
                    <a16:creationId xmlns:a16="http://schemas.microsoft.com/office/drawing/2014/main" id="{FBEE35E3-0BB7-D976-755C-61E1AD7BC91B}"/>
                  </a:ext>
                </a:extLst>
              </p:cNvPr>
              <p:cNvPicPr/>
              <p:nvPr/>
            </p:nvPicPr>
            <p:blipFill>
              <a:blip r:embed="rId6"/>
              <a:stretch>
                <a:fillRect/>
              </a:stretch>
            </p:blipFill>
            <p:spPr>
              <a:xfrm>
                <a:off x="1679310" y="3853410"/>
                <a:ext cx="222048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0EFADC3E-1FFC-4428-E134-EBAF4DC64FF6}"/>
                  </a:ext>
                </a:extLst>
              </p14:cNvPr>
              <p14:cNvContentPartPr/>
              <p14:nvPr/>
            </p14:nvContentPartPr>
            <p14:xfrm>
              <a:off x="2019150" y="4075530"/>
              <a:ext cx="1907280" cy="20160"/>
            </p14:xfrm>
          </p:contentPart>
        </mc:Choice>
        <mc:Fallback xmlns="">
          <p:pic>
            <p:nvPicPr>
              <p:cNvPr id="14" name="Ink 13">
                <a:extLst>
                  <a:ext uri="{FF2B5EF4-FFF2-40B4-BE49-F238E27FC236}">
                    <a16:creationId xmlns:a16="http://schemas.microsoft.com/office/drawing/2014/main" id="{0EFADC3E-1FFC-4428-E134-EBAF4DC64FF6}"/>
                  </a:ext>
                </a:extLst>
              </p:cNvPr>
              <p:cNvPicPr/>
              <p:nvPr/>
            </p:nvPicPr>
            <p:blipFill>
              <a:blip r:embed="rId8"/>
              <a:stretch>
                <a:fillRect/>
              </a:stretch>
            </p:blipFill>
            <p:spPr>
              <a:xfrm>
                <a:off x="1965150" y="3967890"/>
                <a:ext cx="201492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6F29CCC1-80F6-A905-971B-F332302FED92}"/>
                  </a:ext>
                </a:extLst>
              </p14:cNvPr>
              <p14:cNvContentPartPr/>
              <p14:nvPr/>
            </p14:nvContentPartPr>
            <p14:xfrm>
              <a:off x="2133630" y="4170570"/>
              <a:ext cx="1719000" cy="77760"/>
            </p14:xfrm>
          </p:contentPart>
        </mc:Choice>
        <mc:Fallback xmlns="">
          <p:pic>
            <p:nvPicPr>
              <p:cNvPr id="15" name="Ink 14">
                <a:extLst>
                  <a:ext uri="{FF2B5EF4-FFF2-40B4-BE49-F238E27FC236}">
                    <a16:creationId xmlns:a16="http://schemas.microsoft.com/office/drawing/2014/main" id="{6F29CCC1-80F6-A905-971B-F332302FED92}"/>
                  </a:ext>
                </a:extLst>
              </p:cNvPr>
              <p:cNvPicPr/>
              <p:nvPr/>
            </p:nvPicPr>
            <p:blipFill>
              <a:blip r:embed="rId10"/>
              <a:stretch>
                <a:fillRect/>
              </a:stretch>
            </p:blipFill>
            <p:spPr>
              <a:xfrm>
                <a:off x="2079630" y="4062930"/>
                <a:ext cx="1826640" cy="2934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FE4596C2-3C89-94F0-1CCD-9FB1D17F855B}"/>
                  </a:ext>
                </a:extLst>
              </p14:cNvPr>
              <p14:cNvContentPartPr/>
              <p14:nvPr/>
            </p14:nvContentPartPr>
            <p14:xfrm>
              <a:off x="12915630" y="10590810"/>
              <a:ext cx="1160280" cy="79920"/>
            </p14:xfrm>
          </p:contentPart>
        </mc:Choice>
        <mc:Fallback xmlns="">
          <p:pic>
            <p:nvPicPr>
              <p:cNvPr id="16" name="Ink 15">
                <a:extLst>
                  <a:ext uri="{FF2B5EF4-FFF2-40B4-BE49-F238E27FC236}">
                    <a16:creationId xmlns:a16="http://schemas.microsoft.com/office/drawing/2014/main" id="{FE4596C2-3C89-94F0-1CCD-9FB1D17F855B}"/>
                  </a:ext>
                </a:extLst>
              </p:cNvPr>
              <p:cNvPicPr/>
              <p:nvPr/>
            </p:nvPicPr>
            <p:blipFill>
              <a:blip r:embed="rId12"/>
              <a:stretch>
                <a:fillRect/>
              </a:stretch>
            </p:blipFill>
            <p:spPr>
              <a:xfrm>
                <a:off x="12861630" y="10483170"/>
                <a:ext cx="1267920" cy="2955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7" name="Ink 16">
                <a:extLst>
                  <a:ext uri="{FF2B5EF4-FFF2-40B4-BE49-F238E27FC236}">
                    <a16:creationId xmlns:a16="http://schemas.microsoft.com/office/drawing/2014/main" id="{8924D7B6-2E3C-CFEC-BF77-9BA2834B7D91}"/>
                  </a:ext>
                </a:extLst>
              </p14:cNvPr>
              <p14:cNvContentPartPr/>
              <p14:nvPr/>
            </p14:nvContentPartPr>
            <p14:xfrm>
              <a:off x="12935070" y="10838130"/>
              <a:ext cx="1198440" cy="78120"/>
            </p14:xfrm>
          </p:contentPart>
        </mc:Choice>
        <mc:Fallback xmlns="">
          <p:pic>
            <p:nvPicPr>
              <p:cNvPr id="17" name="Ink 16">
                <a:extLst>
                  <a:ext uri="{FF2B5EF4-FFF2-40B4-BE49-F238E27FC236}">
                    <a16:creationId xmlns:a16="http://schemas.microsoft.com/office/drawing/2014/main" id="{8924D7B6-2E3C-CFEC-BF77-9BA2834B7D91}"/>
                  </a:ext>
                </a:extLst>
              </p:cNvPr>
              <p:cNvPicPr/>
              <p:nvPr/>
            </p:nvPicPr>
            <p:blipFill>
              <a:blip r:embed="rId14"/>
              <a:stretch>
                <a:fillRect/>
              </a:stretch>
            </p:blipFill>
            <p:spPr>
              <a:xfrm>
                <a:off x="12881070" y="10730490"/>
                <a:ext cx="1306080" cy="2937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8" name="Ink 17">
                <a:extLst>
                  <a:ext uri="{FF2B5EF4-FFF2-40B4-BE49-F238E27FC236}">
                    <a16:creationId xmlns:a16="http://schemas.microsoft.com/office/drawing/2014/main" id="{2AC50D50-2443-BD13-DF12-DF6C173EB546}"/>
                  </a:ext>
                </a:extLst>
              </p14:cNvPr>
              <p14:cNvContentPartPr/>
              <p14:nvPr/>
            </p14:nvContentPartPr>
            <p14:xfrm>
              <a:off x="12915630" y="10590450"/>
              <a:ext cx="1102680" cy="40680"/>
            </p14:xfrm>
          </p:contentPart>
        </mc:Choice>
        <mc:Fallback xmlns="">
          <p:pic>
            <p:nvPicPr>
              <p:cNvPr id="18" name="Ink 17">
                <a:extLst>
                  <a:ext uri="{FF2B5EF4-FFF2-40B4-BE49-F238E27FC236}">
                    <a16:creationId xmlns:a16="http://schemas.microsoft.com/office/drawing/2014/main" id="{2AC50D50-2443-BD13-DF12-DF6C173EB546}"/>
                  </a:ext>
                </a:extLst>
              </p:cNvPr>
              <p:cNvPicPr/>
              <p:nvPr/>
            </p:nvPicPr>
            <p:blipFill>
              <a:blip r:embed="rId16"/>
              <a:stretch>
                <a:fillRect/>
              </a:stretch>
            </p:blipFill>
            <p:spPr>
              <a:xfrm>
                <a:off x="12861630" y="10482810"/>
                <a:ext cx="121032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9" name="Ink 18">
                <a:extLst>
                  <a:ext uri="{FF2B5EF4-FFF2-40B4-BE49-F238E27FC236}">
                    <a16:creationId xmlns:a16="http://schemas.microsoft.com/office/drawing/2014/main" id="{CF73752E-B4C8-E7D5-30B9-460A289FB22F}"/>
                  </a:ext>
                </a:extLst>
              </p14:cNvPr>
              <p14:cNvContentPartPr/>
              <p14:nvPr/>
            </p14:nvContentPartPr>
            <p14:xfrm>
              <a:off x="12905190" y="10742010"/>
              <a:ext cx="1063800" cy="157680"/>
            </p14:xfrm>
          </p:contentPart>
        </mc:Choice>
        <mc:Fallback xmlns="">
          <p:pic>
            <p:nvPicPr>
              <p:cNvPr id="19" name="Ink 18">
                <a:extLst>
                  <a:ext uri="{FF2B5EF4-FFF2-40B4-BE49-F238E27FC236}">
                    <a16:creationId xmlns:a16="http://schemas.microsoft.com/office/drawing/2014/main" id="{CF73752E-B4C8-E7D5-30B9-460A289FB22F}"/>
                  </a:ext>
                </a:extLst>
              </p:cNvPr>
              <p:cNvPicPr/>
              <p:nvPr/>
            </p:nvPicPr>
            <p:blipFill>
              <a:blip r:embed="rId18"/>
              <a:stretch>
                <a:fillRect/>
              </a:stretch>
            </p:blipFill>
            <p:spPr>
              <a:xfrm>
                <a:off x="12851190" y="10634010"/>
                <a:ext cx="1171440" cy="373320"/>
              </a:xfrm>
              <a:prstGeom prst="rect">
                <a:avLst/>
              </a:prstGeom>
            </p:spPr>
          </p:pic>
        </mc:Fallback>
      </mc:AlternateContent>
    </p:spTree>
    <p:extLst>
      <p:ext uri="{BB962C8B-B14F-4D97-AF65-F5344CB8AC3E}">
        <p14:creationId xmlns:p14="http://schemas.microsoft.com/office/powerpoint/2010/main" val="26384040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FD978-A4A9-C132-711A-0275B88BB3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F7FFF9-925B-2738-2AE3-3975CA33987E}"/>
              </a:ext>
            </a:extLst>
          </p:cNvPr>
          <p:cNvSpPr>
            <a:spLocks noGrp="1"/>
          </p:cNvSpPr>
          <p:nvPr>
            <p:ph type="title"/>
          </p:nvPr>
        </p:nvSpPr>
        <p:spPr/>
        <p:txBody>
          <a:bodyPr>
            <a:normAutofit/>
          </a:bodyPr>
          <a:lstStyle/>
          <a:p>
            <a:r>
              <a:rPr lang="en-CA" sz="9600" dirty="0"/>
              <a:t>Complete solution</a:t>
            </a:r>
          </a:p>
        </p:txBody>
      </p:sp>
      <p:pic>
        <p:nvPicPr>
          <p:cNvPr id="7" name="Picture 6">
            <a:extLst>
              <a:ext uri="{FF2B5EF4-FFF2-40B4-BE49-F238E27FC236}">
                <a16:creationId xmlns:a16="http://schemas.microsoft.com/office/drawing/2014/main" id="{32AE4BBA-006E-F2A5-5829-4CF07D312788}"/>
              </a:ext>
            </a:extLst>
          </p:cNvPr>
          <p:cNvPicPr>
            <a:picLocks noChangeAspect="1"/>
          </p:cNvPicPr>
          <p:nvPr/>
        </p:nvPicPr>
        <p:blipFill>
          <a:blip r:embed="rId3"/>
          <a:stretch>
            <a:fillRect/>
          </a:stretch>
        </p:blipFill>
        <p:spPr>
          <a:xfrm>
            <a:off x="1676291" y="4206874"/>
            <a:ext cx="10173071" cy="5965826"/>
          </a:xfrm>
          <a:prstGeom prst="rect">
            <a:avLst/>
          </a:prstGeom>
        </p:spPr>
      </p:pic>
      <p:pic>
        <p:nvPicPr>
          <p:cNvPr id="9" name="Picture 8">
            <a:extLst>
              <a:ext uri="{FF2B5EF4-FFF2-40B4-BE49-F238E27FC236}">
                <a16:creationId xmlns:a16="http://schemas.microsoft.com/office/drawing/2014/main" id="{909CC895-6AE8-14C8-81FA-99FB32729BF4}"/>
              </a:ext>
            </a:extLst>
          </p:cNvPr>
          <p:cNvPicPr>
            <a:picLocks noChangeAspect="1"/>
          </p:cNvPicPr>
          <p:nvPr/>
        </p:nvPicPr>
        <p:blipFill>
          <a:blip r:embed="rId4"/>
          <a:stretch>
            <a:fillRect/>
          </a:stretch>
        </p:blipFill>
        <p:spPr>
          <a:xfrm>
            <a:off x="12191206" y="3236360"/>
            <a:ext cx="9220994" cy="8940918"/>
          </a:xfrm>
          <a:prstGeom prst="rect">
            <a:avLst/>
          </a:prstGeom>
        </p:spPr>
      </p:pic>
      <mc:AlternateContent xmlns:mc="http://schemas.openxmlformats.org/markup-compatibility/2006" xmlns:p14="http://schemas.microsoft.com/office/powerpoint/2010/main">
        <mc:Choice Requires="p14">
          <p:contentPart p14:bwMode="auto" r:id="rId5">
            <p14:nvContentPartPr>
              <p14:cNvPr id="11" name="Ink 10">
                <a:extLst>
                  <a:ext uri="{FF2B5EF4-FFF2-40B4-BE49-F238E27FC236}">
                    <a16:creationId xmlns:a16="http://schemas.microsoft.com/office/drawing/2014/main" id="{B81324FE-5A0B-7A39-6416-CFAB4F2E5B14}"/>
                  </a:ext>
                </a:extLst>
              </p14:cNvPr>
              <p14:cNvContentPartPr/>
              <p14:nvPr/>
            </p14:nvContentPartPr>
            <p14:xfrm>
              <a:off x="1999860" y="4341930"/>
              <a:ext cx="1935000" cy="41040"/>
            </p14:xfrm>
          </p:contentPart>
        </mc:Choice>
        <mc:Fallback xmlns="">
          <p:pic>
            <p:nvPicPr>
              <p:cNvPr id="11" name="Ink 10">
                <a:extLst>
                  <a:ext uri="{FF2B5EF4-FFF2-40B4-BE49-F238E27FC236}">
                    <a16:creationId xmlns:a16="http://schemas.microsoft.com/office/drawing/2014/main" id="{B81324FE-5A0B-7A39-6416-CFAB4F2E5B14}"/>
                  </a:ext>
                </a:extLst>
              </p:cNvPr>
              <p:cNvPicPr/>
              <p:nvPr/>
            </p:nvPicPr>
            <p:blipFill>
              <a:blip r:embed="rId6"/>
              <a:stretch>
                <a:fillRect/>
              </a:stretch>
            </p:blipFill>
            <p:spPr>
              <a:xfrm>
                <a:off x="1945860" y="4234290"/>
                <a:ext cx="2042640"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Ink 11">
                <a:extLst>
                  <a:ext uri="{FF2B5EF4-FFF2-40B4-BE49-F238E27FC236}">
                    <a16:creationId xmlns:a16="http://schemas.microsoft.com/office/drawing/2014/main" id="{51D3E000-3071-3679-2C46-C8A5EEF0C0E9}"/>
                  </a:ext>
                </a:extLst>
              </p14:cNvPr>
              <p14:cNvContentPartPr/>
              <p14:nvPr/>
            </p14:nvContentPartPr>
            <p14:xfrm>
              <a:off x="2076180" y="4552170"/>
              <a:ext cx="1502640" cy="154440"/>
            </p14:xfrm>
          </p:contentPart>
        </mc:Choice>
        <mc:Fallback xmlns="">
          <p:pic>
            <p:nvPicPr>
              <p:cNvPr id="12" name="Ink 11">
                <a:extLst>
                  <a:ext uri="{FF2B5EF4-FFF2-40B4-BE49-F238E27FC236}">
                    <a16:creationId xmlns:a16="http://schemas.microsoft.com/office/drawing/2014/main" id="{51D3E000-3071-3679-2C46-C8A5EEF0C0E9}"/>
                  </a:ext>
                </a:extLst>
              </p:cNvPr>
              <p:cNvPicPr/>
              <p:nvPr/>
            </p:nvPicPr>
            <p:blipFill>
              <a:blip r:embed="rId8"/>
              <a:stretch>
                <a:fillRect/>
              </a:stretch>
            </p:blipFill>
            <p:spPr>
              <a:xfrm>
                <a:off x="2022180" y="4444170"/>
                <a:ext cx="1610280" cy="3700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 name="Ink 12">
                <a:extLst>
                  <a:ext uri="{FF2B5EF4-FFF2-40B4-BE49-F238E27FC236}">
                    <a16:creationId xmlns:a16="http://schemas.microsoft.com/office/drawing/2014/main" id="{F31F63EB-1366-217A-5526-AFCFD11C9E78}"/>
                  </a:ext>
                </a:extLst>
              </p14:cNvPr>
              <p14:cNvContentPartPr/>
              <p14:nvPr/>
            </p14:nvContentPartPr>
            <p14:xfrm>
              <a:off x="12401700" y="11809410"/>
              <a:ext cx="1137240" cy="41040"/>
            </p14:xfrm>
          </p:contentPart>
        </mc:Choice>
        <mc:Fallback xmlns="">
          <p:pic>
            <p:nvPicPr>
              <p:cNvPr id="13" name="Ink 12">
                <a:extLst>
                  <a:ext uri="{FF2B5EF4-FFF2-40B4-BE49-F238E27FC236}">
                    <a16:creationId xmlns:a16="http://schemas.microsoft.com/office/drawing/2014/main" id="{F31F63EB-1366-217A-5526-AFCFD11C9E78}"/>
                  </a:ext>
                </a:extLst>
              </p:cNvPr>
              <p:cNvPicPr/>
              <p:nvPr/>
            </p:nvPicPr>
            <p:blipFill>
              <a:blip r:embed="rId10"/>
              <a:stretch>
                <a:fillRect/>
              </a:stretch>
            </p:blipFill>
            <p:spPr>
              <a:xfrm>
                <a:off x="12347700" y="11701410"/>
                <a:ext cx="1244880"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4" name="Ink 13">
                <a:extLst>
                  <a:ext uri="{FF2B5EF4-FFF2-40B4-BE49-F238E27FC236}">
                    <a16:creationId xmlns:a16="http://schemas.microsoft.com/office/drawing/2014/main" id="{2E32F4AE-0A2D-D6B6-0349-19633DECEFFA}"/>
                  </a:ext>
                </a:extLst>
              </p14:cNvPr>
              <p14:cNvContentPartPr/>
              <p14:nvPr/>
            </p14:nvContentPartPr>
            <p14:xfrm>
              <a:off x="12382260" y="11962770"/>
              <a:ext cx="1126080" cy="77760"/>
            </p14:xfrm>
          </p:contentPart>
        </mc:Choice>
        <mc:Fallback xmlns="">
          <p:pic>
            <p:nvPicPr>
              <p:cNvPr id="14" name="Ink 13">
                <a:extLst>
                  <a:ext uri="{FF2B5EF4-FFF2-40B4-BE49-F238E27FC236}">
                    <a16:creationId xmlns:a16="http://schemas.microsoft.com/office/drawing/2014/main" id="{2E32F4AE-0A2D-D6B6-0349-19633DECEFFA}"/>
                  </a:ext>
                </a:extLst>
              </p:cNvPr>
              <p:cNvPicPr/>
              <p:nvPr/>
            </p:nvPicPr>
            <p:blipFill>
              <a:blip r:embed="rId12"/>
              <a:stretch>
                <a:fillRect/>
              </a:stretch>
            </p:blipFill>
            <p:spPr>
              <a:xfrm>
                <a:off x="12328260" y="11855130"/>
                <a:ext cx="1233720" cy="293400"/>
              </a:xfrm>
              <a:prstGeom prst="rect">
                <a:avLst/>
              </a:prstGeom>
            </p:spPr>
          </p:pic>
        </mc:Fallback>
      </mc:AlternateContent>
    </p:spTree>
    <p:extLst>
      <p:ext uri="{BB962C8B-B14F-4D97-AF65-F5344CB8AC3E}">
        <p14:creationId xmlns:p14="http://schemas.microsoft.com/office/powerpoint/2010/main" val="12819991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04E78-B6F5-751D-46CB-5444E3D4FF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964335-E3B2-7D14-E251-67ECD29E1A29}"/>
              </a:ext>
            </a:extLst>
          </p:cNvPr>
          <p:cNvSpPr>
            <a:spLocks noGrp="1"/>
          </p:cNvSpPr>
          <p:nvPr>
            <p:ph type="title"/>
          </p:nvPr>
        </p:nvSpPr>
        <p:spPr/>
        <p:txBody>
          <a:bodyPr>
            <a:normAutofit/>
          </a:bodyPr>
          <a:lstStyle/>
          <a:p>
            <a:r>
              <a:rPr lang="en-CA" sz="9600" dirty="0"/>
              <a:t>Refactoring</a:t>
            </a:r>
          </a:p>
        </p:txBody>
      </p:sp>
      <p:sp>
        <p:nvSpPr>
          <p:cNvPr id="3" name="Content Placeholder 2">
            <a:extLst>
              <a:ext uri="{FF2B5EF4-FFF2-40B4-BE49-F238E27FC236}">
                <a16:creationId xmlns:a16="http://schemas.microsoft.com/office/drawing/2014/main" id="{5EB48E42-1E6A-0EC6-0553-E9AE3D35D37C}"/>
              </a:ext>
            </a:extLst>
          </p:cNvPr>
          <p:cNvSpPr>
            <a:spLocks noGrp="1"/>
          </p:cNvSpPr>
          <p:nvPr>
            <p:ph idx="1"/>
          </p:nvPr>
        </p:nvSpPr>
        <p:spPr>
          <a:xfrm>
            <a:off x="1452771" y="3651250"/>
            <a:ext cx="21029831" cy="7373801"/>
          </a:xfrm>
        </p:spPr>
        <p:txBody>
          <a:bodyPr>
            <a:normAutofit/>
          </a:bodyPr>
          <a:lstStyle/>
          <a:p>
            <a:pPr marL="0" indent="0">
              <a:buNone/>
            </a:pPr>
            <a:r>
              <a:rPr lang="en-CA" sz="7200" dirty="0"/>
              <a:t>• Time consuming</a:t>
            </a:r>
            <a:br>
              <a:rPr lang="en-CA" sz="7200" dirty="0"/>
            </a:br>
            <a:r>
              <a:rPr lang="en-CA" sz="7200" dirty="0"/>
              <a:t>• Potential to introduce errors</a:t>
            </a:r>
            <a:br>
              <a:rPr lang="en-CA" sz="7200" dirty="0"/>
            </a:br>
            <a:r>
              <a:rPr lang="en-CA" sz="7200" dirty="0"/>
              <a:t>• Partially avoidable if code is written right the first</a:t>
            </a:r>
            <a:br>
              <a:rPr lang="en-CA" sz="7200" dirty="0"/>
            </a:br>
            <a:r>
              <a:rPr lang="en-CA" sz="7200" dirty="0"/>
              <a:t>time</a:t>
            </a:r>
          </a:p>
        </p:txBody>
      </p:sp>
    </p:spTree>
    <p:extLst>
      <p:ext uri="{BB962C8B-B14F-4D97-AF65-F5344CB8AC3E}">
        <p14:creationId xmlns:p14="http://schemas.microsoft.com/office/powerpoint/2010/main" val="2337428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325EE-09CE-D2ED-6A12-65DDDA5D71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E035E9-1603-73FA-A1E2-4C1ECCE850A5}"/>
              </a:ext>
            </a:extLst>
          </p:cNvPr>
          <p:cNvSpPr>
            <a:spLocks noGrp="1"/>
          </p:cNvSpPr>
          <p:nvPr>
            <p:ph type="title"/>
          </p:nvPr>
        </p:nvSpPr>
        <p:spPr/>
        <p:txBody>
          <a:bodyPr>
            <a:normAutofit/>
          </a:bodyPr>
          <a:lstStyle/>
          <a:p>
            <a:r>
              <a:rPr lang="en-CA" sz="9600" dirty="0"/>
              <a:t>Lesson Summary</a:t>
            </a:r>
          </a:p>
        </p:txBody>
      </p:sp>
      <p:sp>
        <p:nvSpPr>
          <p:cNvPr id="3" name="Content Placeholder 2">
            <a:extLst>
              <a:ext uri="{FF2B5EF4-FFF2-40B4-BE49-F238E27FC236}">
                <a16:creationId xmlns:a16="http://schemas.microsoft.com/office/drawing/2014/main" id="{D99953FB-A549-1C49-5AE8-9F97A2C6E49B}"/>
              </a:ext>
            </a:extLst>
          </p:cNvPr>
          <p:cNvSpPr>
            <a:spLocks noGrp="1"/>
          </p:cNvSpPr>
          <p:nvPr>
            <p:ph idx="1"/>
          </p:nvPr>
        </p:nvSpPr>
        <p:spPr>
          <a:xfrm>
            <a:off x="1452771" y="3651250"/>
            <a:ext cx="21029831" cy="7373801"/>
          </a:xfrm>
        </p:spPr>
        <p:txBody>
          <a:bodyPr>
            <a:normAutofit/>
          </a:bodyPr>
          <a:lstStyle/>
          <a:p>
            <a:r>
              <a:rPr lang="en-CA" sz="7200" dirty="0"/>
              <a:t>Introduced and discussed logical errors</a:t>
            </a:r>
          </a:p>
          <a:p>
            <a:r>
              <a:rPr lang="en-CA" sz="7200" dirty="0"/>
              <a:t>Explained debugging</a:t>
            </a:r>
          </a:p>
          <a:p>
            <a:r>
              <a:rPr lang="en-CA" sz="7200" dirty="0"/>
              <a:t>Created a structured approach to debugging</a:t>
            </a:r>
          </a:p>
          <a:p>
            <a:r>
              <a:rPr lang="en-CA" sz="7200" dirty="0"/>
              <a:t>Debugged a program using the </a:t>
            </a:r>
            <a:r>
              <a:rPr lang="en-CA" sz="7200"/>
              <a:t>structured approach</a:t>
            </a:r>
            <a:endParaRPr lang="en-CA" sz="7200" dirty="0"/>
          </a:p>
        </p:txBody>
      </p:sp>
    </p:spTree>
    <p:extLst>
      <p:ext uri="{BB962C8B-B14F-4D97-AF65-F5344CB8AC3E}">
        <p14:creationId xmlns:p14="http://schemas.microsoft.com/office/powerpoint/2010/main" val="3008656411"/>
      </p:ext>
    </p:extLst>
  </p:cSld>
  <p:clrMapOvr>
    <a:masterClrMapping/>
  </p:clrMapOvr>
</p:sld>
</file>

<file path=ppt/theme/theme1.xml><?xml version="1.0" encoding="utf-8"?>
<a:theme xmlns:a="http://schemas.openxmlformats.org/drawingml/2006/main" name="Office Theme">
  <a:themeElements>
    <a:clrScheme name="NAIT 2020">
      <a:dk1>
        <a:sysClr val="windowText" lastClr="000000"/>
      </a:dk1>
      <a:lt1>
        <a:sysClr val="window" lastClr="FFFFFF"/>
      </a:lt1>
      <a:dk2>
        <a:srgbClr val="63666A"/>
      </a:dk2>
      <a:lt2>
        <a:srgbClr val="F2F2F2"/>
      </a:lt2>
      <a:accent1>
        <a:srgbClr val="002D74"/>
      </a:accent1>
      <a:accent2>
        <a:srgbClr val="00A0DF"/>
      </a:accent2>
      <a:accent3>
        <a:srgbClr val="005CB9"/>
      </a:accent3>
      <a:accent4>
        <a:srgbClr val="2AD2C9"/>
      </a:accent4>
      <a:accent5>
        <a:srgbClr val="97D700"/>
      </a:accent5>
      <a:accent6>
        <a:srgbClr val="F2A900"/>
      </a:accent6>
      <a:hlink>
        <a:srgbClr val="00AEFF"/>
      </a:hlink>
      <a:folHlink>
        <a:srgbClr val="981D9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AIT PPT TEMPLATE" id="{48C832B7-36DA-FF42-A033-DC69DF6E754B}" vid="{12E7E523-AC5B-2043-BD48-32C2D6EE822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o21d29a7103b4682935c0630413e6f7b xmlns="a1931c98-6bbb-40b1-967f-8cf7447a3553">
      <Terms xmlns="http://schemas.microsoft.com/office/infopath/2007/PartnerControls">
        <TermInfo xmlns="http://schemas.microsoft.com/office/infopath/2007/PartnerControls">
          <TermName xmlns="http://schemas.microsoft.com/office/infopath/2007/PartnerControls">Brand</TermName>
          <TermId xmlns="http://schemas.microsoft.com/office/infopath/2007/PartnerControls">943f07b5-0abf-4eba-9a92-bb911ec4797c</TermId>
        </TermInfo>
      </Terms>
    </o21d29a7103b4682935c0630413e6f7b>
    <d33d8e452192410897555420ed4061b4 xmlns="a1931c98-6bbb-40b1-967f-8cf7447a3553">
      <Terms xmlns="http://schemas.microsoft.com/office/infopath/2007/PartnerControls"/>
    </d33d8e452192410897555420ed4061b4>
    <_dlc_DocId xmlns="a1931c98-6bbb-40b1-967f-8cf7447a3553">4NUSZQ57DJN7-208515216-20168</_dlc_DocId>
    <TaxCatchAll xmlns="52bb52fc-fb4a-47ec-96af-1ca16eda3341">
      <Value>197</Value>
    </TaxCatchAll>
    <lcf2e7135e8e4d83bebbad48a9a2aeb7 xmlns="a1931c98-6bbb-40b1-967f-8cf7447a3553">
      <Terms xmlns="http://schemas.microsoft.com/office/infopath/2007/PartnerControls"/>
    </lcf2e7135e8e4d83bebbad48a9a2aeb7>
    <ne41efdca82d475388752b2c5f2b8261 xmlns="a1931c98-6bbb-40b1-967f-8cf7447a3553">
      <Terms xmlns="http://schemas.microsoft.com/office/infopath/2007/PartnerControls"/>
    </ne41efdca82d475388752b2c5f2b8261>
    <ofc6ecffa18e4c49a0b3f631c800d01e xmlns="a1931c98-6bbb-40b1-967f-8cf7447a3553">
      <Terms xmlns="http://schemas.microsoft.com/office/infopath/2007/PartnerControls"/>
    </ofc6ecffa18e4c49a0b3f631c800d01e>
    <Public xmlns="82b3bded-9174-49ad-922b-f495aa64e0c3">true</Public>
    <l9eb48deb3b346a6907c77c095a5e1d4 xmlns="a1931c98-6bbb-40b1-967f-8cf7447a3553">
      <Terms xmlns="http://schemas.microsoft.com/office/infopath/2007/PartnerControls"/>
    </l9eb48deb3b346a6907c77c095a5e1d4>
    <_dlc_DocIdUrl xmlns="a1931c98-6bbb-40b1-967f-8cf7447a3553">
      <Url>https://naitca.sharepoint.com/sites/pd/_layouts/15/DocIdRedir.aspx?ID=4NUSZQ57DJN7-208515216-20168</Url>
      <Description>4NUSZQ57DJN7-208515216-20168</Description>
    </_dlc_DocIdUrl>
    <nphl xmlns="82b3bded-9174-49ad-922b-f495aa64e0c3" xsi:nil="true"/>
    <Owner_x0020_-_x0020_Person xmlns="a1931c98-6bbb-40b1-967f-8cf7447a3553">
      <UserInfo>
        <DisplayName>Derek Lue</DisplayName>
        <AccountId>51</AccountId>
        <AccountType/>
      </UserInfo>
    </Owner_x0020_-_x0020_Person>
    <KpiDescription xmlns="http://schemas.microsoft.com/sharepoint/v3"/>
    <Next_x0020_Scheduled_x0020_Review_x0020_Date xmlns="a1931c98-6bbb-40b1-967f-8cf7447a3553"/>
    <Notes1 xmlns="a1931c98-6bbb-40b1-967f-8cf7447a3553" xsi:nil="true"/>
    <Publication_x0020_Date xmlns="a1931c98-6bbb-40b1-967f-8cf7447a3553">2020-02-18T07:00:00+00:00</Publication_x0020_Date>
    <o6up xmlns="82b3bded-9174-49ad-922b-f495aa64e0c3" xsi:nil="true"/>
    <Reviewed_x0020_Date xmlns="a1931c98-6bbb-40b1-967f-8cf7447a3553"/>
  </documentManagement>
</p:properti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Published Document" ma:contentTypeID="0x010100C1BA51318E401F48B5D2093CBA079C8800EE7A27C51231A241A789809547D65198" ma:contentTypeVersion="59" ma:contentTypeDescription="" ma:contentTypeScope="" ma:versionID="31cf26cb3dfcb34d4e33ae176ffac8a7">
  <xsd:schema xmlns:xsd="http://www.w3.org/2001/XMLSchema" xmlns:xs="http://www.w3.org/2001/XMLSchema" xmlns:p="http://schemas.microsoft.com/office/2006/metadata/properties" xmlns:ns1="http://schemas.microsoft.com/sharepoint/v3" xmlns:ns2="a1931c98-6bbb-40b1-967f-8cf7447a3553" xmlns:ns4="52bb52fc-fb4a-47ec-96af-1ca16eda3341" xmlns:ns5="82b3bded-9174-49ad-922b-f495aa64e0c3" targetNamespace="http://schemas.microsoft.com/office/2006/metadata/properties" ma:root="true" ma:fieldsID="b8d29b49f22dd0e82206e93f84c80e94" ns1:_="" ns2:_="" ns4:_="" ns5:_="">
    <xsd:import namespace="http://schemas.microsoft.com/sharepoint/v3"/>
    <xsd:import namespace="a1931c98-6bbb-40b1-967f-8cf7447a3553"/>
    <xsd:import namespace="52bb52fc-fb4a-47ec-96af-1ca16eda3341"/>
    <xsd:import namespace="82b3bded-9174-49ad-922b-f495aa64e0c3"/>
    <xsd:element name="properties">
      <xsd:complexType>
        <xsd:sequence>
          <xsd:element name="documentManagement">
            <xsd:complexType>
              <xsd:all>
                <xsd:element ref="ns1:KpiDescription"/>
                <xsd:element ref="ns2:Owner_x0020_-_x0020_Person"/>
                <xsd:element ref="ns2:Publication_x0020_Date"/>
                <xsd:element ref="ns2:Reviewed_x0020_Date"/>
                <xsd:element ref="ns2:Next_x0020_Scheduled_x0020_Review_x0020_Date"/>
                <xsd:element ref="ns2:Notes1" minOccurs="0"/>
                <xsd:element ref="ns4:TaxCatchAllLabel" minOccurs="0"/>
                <xsd:element ref="ns2:_dlc_DocId" minOccurs="0"/>
                <xsd:element ref="ns2:ofc6ecffa18e4c49a0b3f631c800d01e" minOccurs="0"/>
                <xsd:element ref="ns2:d33d8e452192410897555420ed4061b4" minOccurs="0"/>
                <xsd:element ref="ns2:ne41efdca82d475388752b2c5f2b8261" minOccurs="0"/>
                <xsd:element ref="ns2:o21d29a7103b4682935c0630413e6f7b" minOccurs="0"/>
                <xsd:element ref="ns2:lcf2e7135e8e4d83bebbad48a9a2aeb7" minOccurs="0"/>
                <xsd:element ref="ns2:l9eb48deb3b346a6907c77c095a5e1d4" minOccurs="0"/>
                <xsd:element ref="ns2:_dlc_DocIdPersistId" minOccurs="0"/>
                <xsd:element ref="ns2:_dlc_DocIdUrl" minOccurs="0"/>
                <xsd:element ref="ns4:TaxCatchAll" minOccurs="0"/>
                <xsd:element ref="ns5:Public" minOccurs="0"/>
                <xsd:element ref="ns2:LastSharedByUser" minOccurs="0"/>
                <xsd:element ref="ns2:LastSharedByTime" minOccurs="0"/>
                <xsd:element ref="ns5:MediaServiceMetadata" minOccurs="0"/>
                <xsd:element ref="ns5:MediaServiceFastMetadata" minOccurs="0"/>
                <xsd:element ref="ns5:MediaServiceAutoTags" minOccurs="0"/>
                <xsd:element ref="ns5:MediaServiceDateTaken" minOccurs="0"/>
                <xsd:element ref="ns5:nphl" minOccurs="0"/>
                <xsd:element ref="ns5:o6up" minOccurs="0"/>
                <xsd:element ref="ns5:MediaServiceOCR" minOccurs="0"/>
                <xsd:element ref="ns5:MediaServiceLocation" minOccurs="0"/>
                <xsd:element ref="ns5:MediaServiceGenerationTime" minOccurs="0"/>
                <xsd:element ref="ns5:MediaServiceEventHashCode" minOccurs="0"/>
                <xsd:element ref="ns5:MediaServiceAutoKeyPoints" minOccurs="0"/>
                <xsd:element ref="ns5: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KpiDescription" ma:index="2" ma:displayName="Description" ma:description="The description provides information about the purpose of the goal." ma:internalName="KpiDescription" ma:readOnly="fals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1931c98-6bbb-40b1-967f-8cf7447a3553" elementFormDefault="qualified">
    <xsd:import namespace="http://schemas.microsoft.com/office/2006/documentManagement/types"/>
    <xsd:import namespace="http://schemas.microsoft.com/office/infopath/2007/PartnerControls"/>
    <xsd:element name="Owner_x0020_-_x0020_Person" ma:index="10" ma:displayName="Owner - Person" ma:list="UserInfo" ma:SharePointGroup="0" ma:internalName="Owner_x0020__x002d__x0020_Person"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Publication_x0020_Date" ma:index="11" ma:displayName="Publication Date" ma:format="DateOnly" ma:internalName="Publication_x0020_Date" ma:readOnly="false">
      <xsd:simpleType>
        <xsd:restriction base="dms:DateTime"/>
      </xsd:simpleType>
    </xsd:element>
    <xsd:element name="Reviewed_x0020_Date" ma:index="12" ma:displayName="Reviewed Date" ma:format="DateOnly" ma:internalName="Reviewed_x0020_Date" ma:readOnly="false">
      <xsd:simpleType>
        <xsd:restriction base="dms:DateTime"/>
      </xsd:simpleType>
    </xsd:element>
    <xsd:element name="Next_x0020_Scheduled_x0020_Review_x0020_Date" ma:index="13" ma:displayName="Next Scheduled Review Date" ma:format="DateOnly" ma:internalName="Next_x0020_Scheduled_x0020_Review_x0020_Date" ma:readOnly="false">
      <xsd:simpleType>
        <xsd:restriction base="dms:DateTime"/>
      </xsd:simpleType>
    </xsd:element>
    <xsd:element name="Notes1" ma:index="14" nillable="true" ma:displayName="Notes" ma:internalName="Notes1">
      <xsd:simpleType>
        <xsd:restriction base="dms:Note">
          <xsd:maxLength value="255"/>
        </xsd:restriction>
      </xsd:simpleType>
    </xsd:element>
    <xsd:element name="_dlc_DocId" ma:index="16" nillable="true" ma:displayName="Document ID Value" ma:description="The value of the document ID assigned to this item." ma:internalName="_dlc_DocId" ma:readOnly="true">
      <xsd:simpleType>
        <xsd:restriction base="dms:Text"/>
      </xsd:simpleType>
    </xsd:element>
    <xsd:element name="ofc6ecffa18e4c49a0b3f631c800d01e" ma:index="17" nillable="true" ma:taxonomy="true" ma:internalName="ofc6ecffa18e4c49a0b3f631c800d01e" ma:taxonomyFieldName="Target_x0020_Audience" ma:displayName="Target Audience" ma:readOnly="false" ma:default="" ma:fieldId="{8fc6ecff-a18e-4c49-a0b3-f631c800d01e}" ma:taxonomyMulti="true" ma:sspId="6ce3a7a1-84a7-46f6-b9ea-52be05fcf1b3" ma:termSetId="a86be483-2d11-4286-ad72-7b1ca66988dc" ma:anchorId="00000000-0000-0000-0000-000000000000" ma:open="false" ma:isKeyword="false">
      <xsd:complexType>
        <xsd:sequence>
          <xsd:element ref="pc:Terms" minOccurs="0" maxOccurs="1"/>
        </xsd:sequence>
      </xsd:complexType>
    </xsd:element>
    <xsd:element name="d33d8e452192410897555420ed4061b4" ma:index="19" ma:taxonomy="true" ma:internalName="d33d8e452192410897555420ed4061b4" ma:taxonomyFieldName="Topic" ma:displayName="Topic" ma:readOnly="false" ma:default="" ma:fieldId="{d33d8e45-2192-4108-9755-5420ed4061b4}" ma:taxonomyMulti="true" ma:sspId="6ce3a7a1-84a7-46f6-b9ea-52be05fcf1b3" ma:termSetId="9e5a3ff2-0072-4ca2-8f4f-c92dedc49af2" ma:anchorId="00000000-0000-0000-0000-000000000000" ma:open="false" ma:isKeyword="false">
      <xsd:complexType>
        <xsd:sequence>
          <xsd:element ref="pc:Terms" minOccurs="0" maxOccurs="1"/>
        </xsd:sequence>
      </xsd:complexType>
    </xsd:element>
    <xsd:element name="ne41efdca82d475388752b2c5f2b8261" ma:index="21" nillable="true" ma:taxonomy="true" ma:internalName="ne41efdca82d475388752b2c5f2b8261" ma:taxonomyFieldName="Program" ma:displayName="Program" ma:readOnly="false" ma:default="" ma:fieldId="{7e41efdc-a82d-4753-8875-2b2c5f2b8261}" ma:sspId="6ce3a7a1-84a7-46f6-b9ea-52be05fcf1b3" ma:termSetId="26788ccb-afe5-46e3-9e3f-72afa5b0d3a9" ma:anchorId="00000000-0000-0000-0000-000000000000" ma:open="false" ma:isKeyword="false">
      <xsd:complexType>
        <xsd:sequence>
          <xsd:element ref="pc:Terms" minOccurs="0" maxOccurs="1"/>
        </xsd:sequence>
      </xsd:complexType>
    </xsd:element>
    <xsd:element name="o21d29a7103b4682935c0630413e6f7b" ma:index="23" ma:taxonomy="true" ma:internalName="o21d29a7103b4682935c0630413e6f7b" ma:taxonomyFieldName="Owner_x0020__x002d__x0020_Department" ma:displayName="Owner - Department" ma:readOnly="false" ma:default="" ma:fieldId="{821d29a7-103b-4682-935c-0630413e6f7b}" ma:sspId="6ce3a7a1-84a7-46f6-b9ea-52be05fcf1b3" ma:termSetId="9d12076b-8eb3-404c-93cb-d5439a18ddeb" ma:anchorId="e4022642-7310-4bc7-acea-34492288603e" ma:open="false" ma:isKeyword="false">
      <xsd:complexType>
        <xsd:sequence>
          <xsd:element ref="pc:Terms" minOccurs="0" maxOccurs="1"/>
        </xsd:sequence>
      </xsd:complexType>
    </xsd:element>
    <xsd:element name="lcf2e7135e8e4d83bebbad48a9a2aeb7" ma:index="24" nillable="true" ma:taxonomy="true" ma:internalName="lcf2e7135e8e4d83bebbad48a9a2aeb7" ma:taxonomyFieldName="PublishedDocument_x002e_Location" ma:displayName="Location" ma:readOnly="false" ma:default="" ma:fieldId="{5cf2e713-5e8e-4d83-bebb-ad48a9a2aeb7}" ma:taxonomyMulti="true" ma:sspId="6ce3a7a1-84a7-46f6-b9ea-52be05fcf1b3" ma:termSetId="eca533c3-a35b-4f08-a3c0-c6828e75883d" ma:anchorId="00000000-0000-0000-0000-000000000000" ma:open="false" ma:isKeyword="false">
      <xsd:complexType>
        <xsd:sequence>
          <xsd:element ref="pc:Terms" minOccurs="0" maxOccurs="1"/>
        </xsd:sequence>
      </xsd:complexType>
    </xsd:element>
    <xsd:element name="l9eb48deb3b346a6907c77c095a5e1d4" ma:index="26" nillable="true" ma:taxonomy="true" ma:internalName="l9eb48deb3b346a6907c77c095a5e1d4" ma:taxonomyFieldName="Building" ma:displayName="Building" ma:readOnly="false" ma:default="" ma:fieldId="{59eb48de-b3b3-46a6-907c-77c095a5e1d4}" ma:taxonomyMulti="true" ma:sspId="6ce3a7a1-84a7-46f6-b9ea-52be05fcf1b3" ma:termSetId="b3897f88-c03a-461f-924c-5555116521aa" ma:anchorId="00000000-0000-0000-0000-000000000000" ma:open="false" ma:isKeyword="false">
      <xsd:complexType>
        <xsd:sequence>
          <xsd:element ref="pc:Terms" minOccurs="0" maxOccurs="1"/>
        </xsd:sequence>
      </xsd:complexType>
    </xsd:element>
    <xsd:element name="_dlc_DocIdPersistId" ma:index="28" nillable="true" ma:displayName="Persist ID" ma:description="Keep ID on add." ma:hidden="true" ma:internalName="_dlc_DocIdPersistId" ma:readOnly="true">
      <xsd:simpleType>
        <xsd:restriction base="dms:Boolean"/>
      </xsd:simpleType>
    </xsd:element>
    <xsd:element name="_dlc_DocIdUrl" ma:index="30"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LastSharedByUser" ma:index="33" nillable="true" ma:displayName="Last Shared By User" ma:description="" ma:internalName="LastSharedByUser" ma:readOnly="true">
      <xsd:simpleType>
        <xsd:restriction base="dms:Note">
          <xsd:maxLength value="255"/>
        </xsd:restriction>
      </xsd:simpleType>
    </xsd:element>
    <xsd:element name="LastSharedByTime" ma:index="34"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52bb52fc-fb4a-47ec-96af-1ca16eda3341" elementFormDefault="qualified">
    <xsd:import namespace="http://schemas.microsoft.com/office/2006/documentManagement/types"/>
    <xsd:import namespace="http://schemas.microsoft.com/office/infopath/2007/PartnerControls"/>
    <xsd:element name="TaxCatchAllLabel" ma:index="15" nillable="true" ma:displayName="Taxonomy Catch All Column1" ma:description="" ma:hidden="true" ma:list="{471816bf-0f64-41b8-9201-7477eeda1efa}" ma:internalName="TaxCatchAllLabel" ma:readOnly="true" ma:showField="CatchAllDataLabel" ma:web="a1931c98-6bbb-40b1-967f-8cf7447a3553">
      <xsd:complexType>
        <xsd:complexContent>
          <xsd:extension base="dms:MultiChoiceLookup">
            <xsd:sequence>
              <xsd:element name="Value" type="dms:Lookup" maxOccurs="unbounded" minOccurs="0" nillable="true"/>
            </xsd:sequence>
          </xsd:extension>
        </xsd:complexContent>
      </xsd:complexType>
    </xsd:element>
    <xsd:element name="TaxCatchAll" ma:index="31" nillable="true" ma:displayName="Taxonomy Catch All Column" ma:description="" ma:hidden="true" ma:list="{471816bf-0f64-41b8-9201-7477eeda1efa}" ma:internalName="TaxCatchAll" ma:showField="CatchAllData" ma:web="a1931c98-6bbb-40b1-967f-8cf7447a355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2b3bded-9174-49ad-922b-f495aa64e0c3" elementFormDefault="qualified">
    <xsd:import namespace="http://schemas.microsoft.com/office/2006/documentManagement/types"/>
    <xsd:import namespace="http://schemas.microsoft.com/office/infopath/2007/PartnerControls"/>
    <xsd:element name="Public" ma:index="32" nillable="true" ma:displayName="Public" ma:default="1" ma:format="Dropdown" ma:indexed="true" ma:internalName="Public">
      <xsd:simpleType>
        <xsd:restriction base="dms:Boolean"/>
      </xsd:simpleType>
    </xsd:element>
    <xsd:element name="MediaServiceMetadata" ma:index="35" nillable="true" ma:displayName="MediaServiceMetadata" ma:description="" ma:hidden="true" ma:internalName="MediaServiceMetadata" ma:readOnly="true">
      <xsd:simpleType>
        <xsd:restriction base="dms:Note"/>
      </xsd:simpleType>
    </xsd:element>
    <xsd:element name="MediaServiceFastMetadata" ma:index="36" nillable="true" ma:displayName="MediaServiceFastMetadata" ma:description="" ma:hidden="true" ma:internalName="MediaServiceFastMetadata" ma:readOnly="true">
      <xsd:simpleType>
        <xsd:restriction base="dms:Note"/>
      </xsd:simpleType>
    </xsd:element>
    <xsd:element name="MediaServiceAutoTags" ma:index="37" nillable="true" ma:displayName="MediaServiceAutoTags" ma:description="" ma:internalName="MediaServiceAutoTags" ma:readOnly="true">
      <xsd:simpleType>
        <xsd:restriction base="dms:Text"/>
      </xsd:simpleType>
    </xsd:element>
    <xsd:element name="MediaServiceDateTaken" ma:index="38" nillable="true" ma:displayName="MediaServiceDateTaken" ma:description="" ma:hidden="true" ma:internalName="MediaServiceDateTaken" ma:readOnly="true">
      <xsd:simpleType>
        <xsd:restriction base="dms:Text"/>
      </xsd:simpleType>
    </xsd:element>
    <xsd:element name="nphl" ma:index="39" nillable="true" ma:displayName="Text" ma:internalName="nphl">
      <xsd:simpleType>
        <xsd:restriction base="dms:Text"/>
      </xsd:simpleType>
    </xsd:element>
    <xsd:element name="o6up" ma:index="40" nillable="true" ma:displayName="Text" ma:internalName="o6up">
      <xsd:simpleType>
        <xsd:restriction base="dms:Text"/>
      </xsd:simpleType>
    </xsd:element>
    <xsd:element name="MediaServiceOCR" ma:index="41" nillable="true" ma:displayName="Extracted Text" ma:internalName="MediaServiceOCR" ma:readOnly="true">
      <xsd:simpleType>
        <xsd:restriction base="dms:Note">
          <xsd:maxLength value="255"/>
        </xsd:restriction>
      </xsd:simpleType>
    </xsd:element>
    <xsd:element name="MediaServiceLocation" ma:index="42" nillable="true" ma:displayName="Location" ma:internalName="MediaServiceLocation" ma:readOnly="true">
      <xsd:simpleType>
        <xsd:restriction base="dms:Text"/>
      </xsd:simpleType>
    </xsd:element>
    <xsd:element name="MediaServiceGenerationTime" ma:index="43" nillable="true" ma:displayName="MediaServiceGenerationTime" ma:hidden="true" ma:internalName="MediaServiceGenerationTime" ma:readOnly="true">
      <xsd:simpleType>
        <xsd:restriction base="dms:Text"/>
      </xsd:simpleType>
    </xsd:element>
    <xsd:element name="MediaServiceEventHashCode" ma:index="44" nillable="true" ma:displayName="MediaServiceEventHashCode" ma:hidden="true" ma:internalName="MediaServiceEventHashCode" ma:readOnly="true">
      <xsd:simpleType>
        <xsd:restriction base="dms:Text"/>
      </xsd:simpleType>
    </xsd:element>
    <xsd:element name="MediaServiceAutoKeyPoints" ma:index="45" nillable="true" ma:displayName="MediaServiceAutoKeyPoints" ma:hidden="true" ma:internalName="MediaServiceAutoKeyPoints" ma:readOnly="true">
      <xsd:simpleType>
        <xsd:restriction base="dms:Note"/>
      </xsd:simpleType>
    </xsd:element>
    <xsd:element name="MediaServiceKeyPoints" ma:index="46"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ma:index="8" ma:displayName="Author"/>
        <xsd:element ref="dcterms:created" minOccurs="0" maxOccurs="1"/>
        <xsd:element ref="dc:identifier" minOccurs="0" maxOccurs="1"/>
        <xsd:element name="contentType" minOccurs="0" maxOccurs="1" type="xsd:string" ma:index="29" ma:displayName="Content Type"/>
        <xsd:element ref="dc:title"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77E4845-7472-4B0C-A0C7-BE9A32CE6DC0}">
  <ds:schemaRefs>
    <ds:schemaRef ds:uri="http://schemas.microsoft.com/sharepoint/v3/contenttype/forms"/>
  </ds:schemaRefs>
</ds:datastoreItem>
</file>

<file path=customXml/itemProps2.xml><?xml version="1.0" encoding="utf-8"?>
<ds:datastoreItem xmlns:ds="http://schemas.openxmlformats.org/officeDocument/2006/customXml" ds:itemID="{2856E63F-A8C0-4586-AFCD-69964B5AAAEB}">
  <ds:schemaRefs>
    <ds:schemaRef ds:uri="52bb52fc-fb4a-47ec-96af-1ca16eda3341"/>
    <ds:schemaRef ds:uri="http://purl.org/dc/dcmitype/"/>
    <ds:schemaRef ds:uri="http://schemas.microsoft.com/office/2006/documentManagement/types"/>
    <ds:schemaRef ds:uri="http://schemas.microsoft.com/sharepoint/v3"/>
    <ds:schemaRef ds:uri="http://schemas.microsoft.com/office/infopath/2007/PartnerControls"/>
    <ds:schemaRef ds:uri="http://purl.org/dc/terms/"/>
    <ds:schemaRef ds:uri="http://schemas.openxmlformats.org/package/2006/metadata/core-properties"/>
    <ds:schemaRef ds:uri="http://purl.org/dc/elements/1.1/"/>
    <ds:schemaRef ds:uri="82b3bded-9174-49ad-922b-f495aa64e0c3"/>
    <ds:schemaRef ds:uri="a1931c98-6bbb-40b1-967f-8cf7447a3553"/>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68666264-2430-4543-BB4A-DBA285AA728A}">
  <ds:schemaRefs>
    <ds:schemaRef ds:uri="http://schemas.microsoft.com/sharepoint/events"/>
  </ds:schemaRefs>
</ds:datastoreItem>
</file>

<file path=customXml/itemProps4.xml><?xml version="1.0" encoding="utf-8"?>
<ds:datastoreItem xmlns:ds="http://schemas.openxmlformats.org/officeDocument/2006/customXml" ds:itemID="{435A2319-86B4-4D22-928A-C0D2B37BDC5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a1931c98-6bbb-40b1-967f-8cf7447a3553"/>
    <ds:schemaRef ds:uri="52bb52fc-fb4a-47ec-96af-1ca16eda3341"/>
    <ds:schemaRef ds:uri="82b3bded-9174-49ad-922b-f495aa64e0c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NAIT-Brand-PPT_TEMPLATE_2020</Template>
  <TotalTime>4679</TotalTime>
  <Words>3733</Words>
  <Application>Microsoft Macintosh PowerPoint</Application>
  <PresentationFormat>Custom</PresentationFormat>
  <Paragraphs>311</Paragraphs>
  <Slides>47</Slides>
  <Notes>44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Aptos</vt:lpstr>
      <vt:lpstr>Arial</vt:lpstr>
      <vt:lpstr>Calibri</vt:lpstr>
      <vt:lpstr>Office Theme</vt:lpstr>
      <vt:lpstr>Common logical errors and debugging techniques</vt:lpstr>
      <vt:lpstr>Lesson Objectives</vt:lpstr>
      <vt:lpstr>Logical errors</vt:lpstr>
      <vt:lpstr>Logical Errors</vt:lpstr>
      <vt:lpstr>Program to Count to 10</vt:lpstr>
      <vt:lpstr>Program to Count to 10</vt:lpstr>
      <vt:lpstr>Sum a Series of Numbers</vt:lpstr>
      <vt:lpstr>Sum a Series of Numbers</vt:lpstr>
      <vt:lpstr>Sum a Series of Numbers - Errors</vt:lpstr>
      <vt:lpstr>Sum a Series of Numbers - Fix</vt:lpstr>
      <vt:lpstr>Infinite Loops</vt:lpstr>
      <vt:lpstr>Infinite Loop - Example</vt:lpstr>
      <vt:lpstr>debugging</vt:lpstr>
      <vt:lpstr>Debugging</vt:lpstr>
      <vt:lpstr>Debugging - Steps</vt:lpstr>
      <vt:lpstr>Debugging example</vt:lpstr>
      <vt:lpstr>Generation Calculator</vt:lpstr>
      <vt:lpstr>Generation Calculator</vt:lpstr>
      <vt:lpstr>Solution with errors</vt:lpstr>
      <vt:lpstr>Debugging – Age Input</vt:lpstr>
      <vt:lpstr>Debugging – Age Input Requirements</vt:lpstr>
      <vt:lpstr>Debugging – Age Input</vt:lpstr>
      <vt:lpstr>Debugging – Age Input</vt:lpstr>
      <vt:lpstr>Debugging – Age Input</vt:lpstr>
      <vt:lpstr>Debugging – Age Input</vt:lpstr>
      <vt:lpstr>Debugging – Generation Check</vt:lpstr>
      <vt:lpstr>Debugging – Generation Check Requirements</vt:lpstr>
      <vt:lpstr>Debugging – Generation Check</vt:lpstr>
      <vt:lpstr>Debugging – Baby Boomer Check</vt:lpstr>
      <vt:lpstr>Debugging – Gen X Check</vt:lpstr>
      <vt:lpstr>Debugging – Gen X Check</vt:lpstr>
      <vt:lpstr>Debugging – Millennial Check</vt:lpstr>
      <vt:lpstr>Debugging – Millennial Check</vt:lpstr>
      <vt:lpstr>Debugging – Gen Z Check</vt:lpstr>
      <vt:lpstr>Debugging – Gen Alpha Check</vt:lpstr>
      <vt:lpstr>Debugging – Gen Alpha Check</vt:lpstr>
      <vt:lpstr>Debugging – Generation Check</vt:lpstr>
      <vt:lpstr>Debugging – Generation Check</vt:lpstr>
      <vt:lpstr>Refinement</vt:lpstr>
      <vt:lpstr>Refinement – Age Input</vt:lpstr>
      <vt:lpstr>Refinement – Age Input</vt:lpstr>
      <vt:lpstr>Refinement – Generation Check</vt:lpstr>
      <vt:lpstr>Refinement – Generation Check</vt:lpstr>
      <vt:lpstr>Original Solution with Errors</vt:lpstr>
      <vt:lpstr>Complete solution</vt:lpstr>
      <vt:lpstr>Refactoring</vt:lpstr>
      <vt:lpstr>Lesson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PTE 200 F2F Lesson</dc:title>
  <dc:creator>Michael Cimolini</dc:creator>
  <cp:lastModifiedBy>Rechel Amores</cp:lastModifiedBy>
  <cp:revision>30</cp:revision>
  <cp:lastPrinted>2019-08-01T00:13:24Z</cp:lastPrinted>
  <dcterms:created xsi:type="dcterms:W3CDTF">2024-08-13T01:55:57Z</dcterms:created>
  <dcterms:modified xsi:type="dcterms:W3CDTF">2026-05-12T22:10:46Z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 Department">
    <vt:lpwstr>197;#Brand|943f07b5-0abf-4eba-9a92-bb911ec4797c</vt:lpwstr>
  </property>
  <property fmtid="{D5CDD505-2E9C-101B-9397-08002B2CF9AE}" pid="3" name="Topic">
    <vt:lpwstr/>
  </property>
  <property fmtid="{D5CDD505-2E9C-101B-9397-08002B2CF9AE}" pid="4" name="Building">
    <vt:lpwstr/>
  </property>
  <property fmtid="{D5CDD505-2E9C-101B-9397-08002B2CF9AE}" pid="5" name="ContentTypeId">
    <vt:lpwstr>0x010100C1BA51318E401F48B5D2093CBA079C8800EE7A27C51231A241A789809547D65198</vt:lpwstr>
  </property>
  <property fmtid="{D5CDD505-2E9C-101B-9397-08002B2CF9AE}" pid="6" name="Target Audience">
    <vt:lpwstr/>
  </property>
  <property fmtid="{D5CDD505-2E9C-101B-9397-08002B2CF9AE}" pid="7" name="_dlc_DocIdItemGuid">
    <vt:lpwstr>a4d56298-c866-45f0-a3db-be918181ebef</vt:lpwstr>
  </property>
  <property fmtid="{D5CDD505-2E9C-101B-9397-08002B2CF9AE}" pid="8" name="PublishedDocument.Location">
    <vt:lpwstr/>
  </property>
  <property fmtid="{D5CDD505-2E9C-101B-9397-08002B2CF9AE}" pid="9" name="Program">
    <vt:lpwstr/>
  </property>
  <property fmtid="{D5CDD505-2E9C-101B-9397-08002B2CF9AE}" pid="10" name="MSIP_Label_10877899-02b0-462c-b2a9-b7d15c4f96fe_Enabled">
    <vt:lpwstr>true</vt:lpwstr>
  </property>
  <property fmtid="{D5CDD505-2E9C-101B-9397-08002B2CF9AE}" pid="11" name="MSIP_Label_10877899-02b0-462c-b2a9-b7d15c4f96fe_SetDate">
    <vt:lpwstr>2025-05-12T14:10:22Z</vt:lpwstr>
  </property>
  <property fmtid="{D5CDD505-2E9C-101B-9397-08002B2CF9AE}" pid="12" name="MSIP_Label_10877899-02b0-462c-b2a9-b7d15c4f96fe_Method">
    <vt:lpwstr>Standard</vt:lpwstr>
  </property>
  <property fmtid="{D5CDD505-2E9C-101B-9397-08002B2CF9AE}" pid="13" name="MSIP_Label_10877899-02b0-462c-b2a9-b7d15c4f96fe_Name">
    <vt:lpwstr>Protected [Protected A]</vt:lpwstr>
  </property>
  <property fmtid="{D5CDD505-2E9C-101B-9397-08002B2CF9AE}" pid="14" name="MSIP_Label_10877899-02b0-462c-b2a9-b7d15c4f96fe_SiteId">
    <vt:lpwstr>5c98fb47-d3b9-4649-9d94-f88cbdd9729c</vt:lpwstr>
  </property>
  <property fmtid="{D5CDD505-2E9C-101B-9397-08002B2CF9AE}" pid="15" name="MSIP_Label_10877899-02b0-462c-b2a9-b7d15c4f96fe_ActionId">
    <vt:lpwstr>f1d2ee8b-bfce-462a-b8b5-66a987edd297</vt:lpwstr>
  </property>
  <property fmtid="{D5CDD505-2E9C-101B-9397-08002B2CF9AE}" pid="16" name="MSIP_Label_10877899-02b0-462c-b2a9-b7d15c4f96fe_ContentBits">
    <vt:lpwstr>0</vt:lpwstr>
  </property>
  <property fmtid="{D5CDD505-2E9C-101B-9397-08002B2CF9AE}" pid="17" name="MSIP_Label_10877899-02b0-462c-b2a9-b7d15c4f96fe_Tag">
    <vt:lpwstr>10, 3, 0, 1</vt:lpwstr>
  </property>
</Properties>
</file>