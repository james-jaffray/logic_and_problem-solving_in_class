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5"/>
  </p:sldMasterIdLst>
  <p:notesMasterIdLst>
    <p:notesMasterId r:id="rId32"/>
  </p:notesMasterIdLst>
  <p:handoutMasterIdLst>
    <p:handoutMasterId r:id="rId33"/>
  </p:handoutMasterIdLst>
  <p:sldIdLst>
    <p:sldId id="271" r:id="rId6"/>
    <p:sldId id="364" r:id="rId7"/>
    <p:sldId id="339" r:id="rId8"/>
    <p:sldId id="436" r:id="rId9"/>
    <p:sldId id="514" r:id="rId10"/>
    <p:sldId id="513" r:id="rId11"/>
    <p:sldId id="515" r:id="rId12"/>
    <p:sldId id="516" r:id="rId13"/>
    <p:sldId id="517" r:id="rId14"/>
    <p:sldId id="518" r:id="rId15"/>
    <p:sldId id="519" r:id="rId16"/>
    <p:sldId id="520" r:id="rId17"/>
    <p:sldId id="521" r:id="rId18"/>
    <p:sldId id="522" r:id="rId19"/>
    <p:sldId id="523" r:id="rId20"/>
    <p:sldId id="524" r:id="rId21"/>
    <p:sldId id="534" r:id="rId22"/>
    <p:sldId id="526" r:id="rId23"/>
    <p:sldId id="525" r:id="rId24"/>
    <p:sldId id="529" r:id="rId25"/>
    <p:sldId id="530" r:id="rId26"/>
    <p:sldId id="531" r:id="rId27"/>
    <p:sldId id="532" r:id="rId28"/>
    <p:sldId id="528" r:id="rId29"/>
    <p:sldId id="533" r:id="rId30"/>
    <p:sldId id="363" r:id="rId31"/>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A9B99-2CB2-9049-92A9-FC470E264EFA}" v="2" dt="2026-02-24T03:54:26.0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078" autoAdjust="0"/>
    <p:restoredTop sz="47120" autoAdjust="0"/>
  </p:normalViewPr>
  <p:slideViewPr>
    <p:cSldViewPr snapToGrid="0" snapToObjects="1" showGuides="1">
      <p:cViewPr varScale="1">
        <p:scale>
          <a:sx n="25" d="100"/>
          <a:sy n="25" d="100"/>
        </p:scale>
        <p:origin x="256" y="192"/>
      </p:cViewPr>
      <p:guideLst>
        <p:guide orient="horz" pos="4320"/>
        <p:guide pos="7680"/>
      </p:guideLst>
    </p:cSldViewPr>
  </p:slideViewPr>
  <p:notesTextViewPr>
    <p:cViewPr>
      <p:scale>
        <a:sx n="1" d="1"/>
        <a:sy n="1" d="1"/>
      </p:scale>
      <p:origin x="0" y="0"/>
    </p:cViewPr>
  </p:notesTextViewPr>
  <p:notesViewPr>
    <p:cSldViewPr snapToGrid="0" snapToObjects="1" showGuides="1">
      <p:cViewPr varScale="1">
        <p:scale>
          <a:sx n="97" d="100"/>
          <a:sy n="97" d="100"/>
        </p:scale>
        <p:origin x="312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B3F030-25FA-A543-BFBF-761F02F6E6F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D2FF95-1FB2-5A4B-9A6E-D20FD3F889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D85D7A-CA92-5443-B821-58789E6DAB76}" type="datetimeFigureOut">
              <a:rPr lang="en-US" smtClean="0"/>
              <a:t>5/17/26</a:t>
            </a:fld>
            <a:endParaRPr lang="en-US"/>
          </a:p>
        </p:txBody>
      </p:sp>
      <p:sp>
        <p:nvSpPr>
          <p:cNvPr id="4" name="Footer Placeholder 3">
            <a:extLst>
              <a:ext uri="{FF2B5EF4-FFF2-40B4-BE49-F238E27FC236}">
                <a16:creationId xmlns:a16="http://schemas.microsoft.com/office/drawing/2014/main" id="{E2E767D0-AB74-6C43-A583-F67E29C687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3F816A-9129-4E41-8433-93B18C20AF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C43503-5B3B-BC4A-B035-E280D65815FD}" type="slidenum">
              <a:rPr lang="en-US" smtClean="0"/>
              <a:t>‹#›</a:t>
            </a:fld>
            <a:endParaRPr lang="en-US"/>
          </a:p>
        </p:txBody>
      </p:sp>
    </p:spTree>
    <p:extLst>
      <p:ext uri="{BB962C8B-B14F-4D97-AF65-F5344CB8AC3E}">
        <p14:creationId xmlns:p14="http://schemas.microsoft.com/office/powerpoint/2010/main" val="23295409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A1C7B9-A579-490D-96A9-04D5B7898F72}" type="datetimeFigureOut">
              <a:rPr lang="en-CA" smtClean="0"/>
              <a:t>2026-05-17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641A9-FDE3-4583-B812-65C4064188F6}" type="slidenum">
              <a:rPr lang="en-CA" smtClean="0"/>
              <a:t>‹#›</a:t>
            </a:fld>
            <a:endParaRPr lang="en-CA"/>
          </a:p>
        </p:txBody>
      </p:sp>
    </p:spTree>
    <p:extLst>
      <p:ext uri="{BB962C8B-B14F-4D97-AF65-F5344CB8AC3E}">
        <p14:creationId xmlns:p14="http://schemas.microsoft.com/office/powerpoint/2010/main" val="4123227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before reading week and before you wrote your in-class 02 assignment, we looked at Logical Errors and Debugging Techniques. We also looked at Refinement; how to enhance the quality, readability, and performance….while maintaining the desired logic of your pseudocode.</a:t>
            </a:r>
          </a:p>
          <a:p>
            <a:endParaRPr lang="en-US" dirty="0"/>
          </a:p>
          <a:p>
            <a:r>
              <a:rPr lang="en-US" dirty="0"/>
              <a:t>And of course, the day before reading week, you had your 2</a:t>
            </a:r>
            <a:r>
              <a:rPr lang="en-US" baseline="30000" dirty="0"/>
              <a:t>nd</a:t>
            </a:r>
            <a:r>
              <a:rPr lang="en-US" dirty="0"/>
              <a:t> In-Class Assignment, where you were asked to translate a flowchart and a problem statement into pseudocode. You were also asked to debug and refine a program written in pseudocode.</a:t>
            </a:r>
          </a:p>
          <a:p>
            <a:endParaRPr lang="en-US" dirty="0"/>
          </a:p>
          <a:p>
            <a:r>
              <a:rPr lang="en-US" dirty="0"/>
              <a:t>So today, we will look at Modular Thinking and how it applies to problem solving and programming.</a:t>
            </a:r>
          </a:p>
          <a:p>
            <a:endParaRPr lang="en-US" dirty="0"/>
          </a:p>
          <a:p>
            <a:r>
              <a:rPr lang="en-US" dirty="0"/>
              <a:t>But before we start, are there any questions? I tried to write comments and feedback on your In-Class Assignments, but if we have time, I’d like to go over it, just to make sure we are all on the same page.</a:t>
            </a:r>
            <a:endParaRPr lang="en-CA" dirty="0"/>
          </a:p>
        </p:txBody>
      </p:sp>
      <p:sp>
        <p:nvSpPr>
          <p:cNvPr id="4" name="Slide Number Placeholder 3"/>
          <p:cNvSpPr>
            <a:spLocks noGrp="1"/>
          </p:cNvSpPr>
          <p:nvPr>
            <p:ph type="sldNum" sz="quarter" idx="5"/>
          </p:nvPr>
        </p:nvSpPr>
        <p:spPr/>
        <p:txBody>
          <a:bodyPr/>
          <a:lstStyle/>
          <a:p>
            <a:fld id="{CFE641A9-FDE3-4583-B812-65C4064188F6}" type="slidenum">
              <a:rPr lang="en-CA" smtClean="0"/>
              <a:t>1</a:t>
            </a:fld>
            <a:endParaRPr lang="en-CA"/>
          </a:p>
        </p:txBody>
      </p:sp>
    </p:spTree>
    <p:extLst>
      <p:ext uri="{BB962C8B-B14F-4D97-AF65-F5344CB8AC3E}">
        <p14:creationId xmlns:p14="http://schemas.microsoft.com/office/powerpoint/2010/main" val="1185603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Alright, so our lesson objectives for today are……..</a:t>
            </a:r>
          </a:p>
          <a:p>
            <a:endParaRPr lang="en-US" dirty="0"/>
          </a:p>
        </p:txBody>
      </p:sp>
      <p:sp>
        <p:nvSpPr>
          <p:cNvPr id="4" name="Slide Number Placeholder 3"/>
          <p:cNvSpPr>
            <a:spLocks noGrp="1"/>
          </p:cNvSpPr>
          <p:nvPr>
            <p:ph type="sldNum" sz="quarter" idx="5"/>
          </p:nvPr>
        </p:nvSpPr>
        <p:spPr/>
        <p:txBody>
          <a:bodyPr/>
          <a:lstStyle/>
          <a:p>
            <a:fld id="{CFE641A9-FDE3-4583-B812-65C4064188F6}" type="slidenum">
              <a:rPr lang="en-CA" smtClean="0"/>
              <a:t>2</a:t>
            </a:fld>
            <a:endParaRPr lang="en-CA"/>
          </a:p>
        </p:txBody>
      </p:sp>
    </p:spTree>
    <p:extLst>
      <p:ext uri="{BB962C8B-B14F-4D97-AF65-F5344CB8AC3E}">
        <p14:creationId xmlns:p14="http://schemas.microsoft.com/office/powerpoint/2010/main" val="3283157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1A9FA-7BB8-E0A0-B69A-D664F2C02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50F60-D8C2-45E3-05C7-FA781AF97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1E801-F351-9E64-767E-1B534966BA33}"/>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When it comes to solving complex problems, it is nearly impossible to take one look at the problem and come up with a complete solution without breaking the problem down into small, manageable parts. Smaller problems are much easier to solve than big ones.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These smaller pieces are often known as “modules”, and the ability to look at a complex problem and see the smaller pieces that make it up is known as “modular thinking”.</a:t>
            </a:r>
            <a:endParaRPr lang="en-CA" dirty="0"/>
          </a:p>
        </p:txBody>
      </p:sp>
      <p:sp>
        <p:nvSpPr>
          <p:cNvPr id="4" name="Slide Number Placeholder 3">
            <a:extLst>
              <a:ext uri="{FF2B5EF4-FFF2-40B4-BE49-F238E27FC236}">
                <a16:creationId xmlns:a16="http://schemas.microsoft.com/office/drawing/2014/main" id="{D7097D58-F9B9-395E-2F89-5872FE2C1C5D}"/>
              </a:ext>
            </a:extLst>
          </p:cNvPr>
          <p:cNvSpPr>
            <a:spLocks noGrp="1"/>
          </p:cNvSpPr>
          <p:nvPr>
            <p:ph type="sldNum" sz="quarter" idx="5"/>
          </p:nvPr>
        </p:nvSpPr>
        <p:spPr/>
        <p:txBody>
          <a:bodyPr/>
          <a:lstStyle/>
          <a:p>
            <a:fld id="{CFE641A9-FDE3-4583-B812-65C4064188F6}" type="slidenum">
              <a:rPr lang="en-CA" smtClean="0"/>
              <a:t>4</a:t>
            </a:fld>
            <a:endParaRPr lang="en-CA"/>
          </a:p>
        </p:txBody>
      </p:sp>
    </p:spTree>
    <p:extLst>
      <p:ext uri="{BB962C8B-B14F-4D97-AF65-F5344CB8AC3E}">
        <p14:creationId xmlns:p14="http://schemas.microsoft.com/office/powerpoint/2010/main" val="234581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26C67-CF8B-A563-3A65-863BC42F9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133C8-5077-9F9D-5523-D2FE7C475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9CD5A-B07E-B026-3E64-9D31B0D5F16E}"/>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A modular approach to problem solving is seen everywhere in our society, but it is particularly valuable in software development.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When looking at a problem statement with modular thinking, the first step we should take is decomposition, which means to break a problem down into independent components.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Modularization is the process of taking one of these independent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components and turning it into a smaller piece of the puzzle that can be used in the wider implementation of the solution.</a:t>
            </a:r>
            <a:endParaRPr lang="en-CA" dirty="0"/>
          </a:p>
        </p:txBody>
      </p:sp>
      <p:sp>
        <p:nvSpPr>
          <p:cNvPr id="4" name="Slide Number Placeholder 3">
            <a:extLst>
              <a:ext uri="{FF2B5EF4-FFF2-40B4-BE49-F238E27FC236}">
                <a16:creationId xmlns:a16="http://schemas.microsoft.com/office/drawing/2014/main" id="{2A6211AF-F7AF-58E1-E838-C97E879ACDE4}"/>
              </a:ext>
            </a:extLst>
          </p:cNvPr>
          <p:cNvSpPr>
            <a:spLocks noGrp="1"/>
          </p:cNvSpPr>
          <p:nvPr>
            <p:ph type="sldNum" sz="quarter" idx="5"/>
          </p:nvPr>
        </p:nvSpPr>
        <p:spPr/>
        <p:txBody>
          <a:bodyPr/>
          <a:lstStyle/>
          <a:p>
            <a:fld id="{CFE641A9-FDE3-4583-B812-65C4064188F6}" type="slidenum">
              <a:rPr lang="en-CA" smtClean="0"/>
              <a:t>6</a:t>
            </a:fld>
            <a:endParaRPr lang="en-CA"/>
          </a:p>
        </p:txBody>
      </p:sp>
    </p:spTree>
    <p:extLst>
      <p:ext uri="{BB962C8B-B14F-4D97-AF65-F5344CB8AC3E}">
        <p14:creationId xmlns:p14="http://schemas.microsoft.com/office/powerpoint/2010/main" val="28402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FACDE-58BF-5E47-B3C8-DA17D8A8E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0B45C-0466-A37F-4E64-79CE429D2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4C3A5-DF24-4387-A553-A1F75D868485}"/>
              </a:ext>
            </a:extLst>
          </p:cNvPr>
          <p:cNvSpPr>
            <a:spLocks noGrp="1"/>
          </p:cNvSpPr>
          <p:nvPr>
            <p:ph type="body" idx="1"/>
          </p:nvPr>
        </p:nvSpPr>
        <p:spPr/>
        <p:txBody>
          <a:bodyPr/>
          <a:lstStyle/>
          <a:p>
            <a:pPr rtl="0"/>
            <a:r>
              <a:rPr lang="en-CA" sz="1200" kern="1200" dirty="0">
                <a:solidFill>
                  <a:schemeClr val="tx1"/>
                </a:solidFill>
                <a:effectLst/>
                <a:latin typeface="+mn-lt"/>
                <a:ea typeface="+mn-ea"/>
                <a:cs typeface="+mn-cs"/>
              </a:rPr>
              <a:t>Modularization has many benefits:</a:t>
            </a:r>
          </a:p>
          <a:p>
            <a:pPr rtl="0"/>
            <a:br>
              <a:rPr lang="en-CA" dirty="0">
                <a:effectLst/>
              </a:rPr>
            </a:br>
            <a:r>
              <a:rPr lang="en-CA" sz="1200" kern="1200" dirty="0">
                <a:solidFill>
                  <a:schemeClr val="tx1"/>
                </a:solidFill>
                <a:effectLst/>
                <a:latin typeface="+mn-lt"/>
                <a:ea typeface="+mn-ea"/>
                <a:cs typeface="+mn-cs"/>
              </a:rPr>
              <a:t> Makes development faster because it allows small tasks to be</a:t>
            </a:r>
            <a:br>
              <a:rPr lang="en-CA" dirty="0">
                <a:effectLst/>
              </a:rPr>
            </a:br>
            <a:r>
              <a:rPr lang="en-CA" sz="1200" kern="1200" dirty="0">
                <a:solidFill>
                  <a:schemeClr val="tx1"/>
                </a:solidFill>
                <a:effectLst/>
                <a:latin typeface="+mn-lt"/>
                <a:ea typeface="+mn-ea"/>
                <a:cs typeface="+mn-cs"/>
              </a:rPr>
              <a:t>delegated to multiple people at any given time.</a:t>
            </a:r>
          </a:p>
          <a:p>
            <a:pPr rtl="0"/>
            <a:br>
              <a:rPr lang="en-CA" dirty="0">
                <a:effectLst/>
              </a:rPr>
            </a:br>
            <a:r>
              <a:rPr lang="en-CA" sz="1200" kern="1200" dirty="0">
                <a:solidFill>
                  <a:schemeClr val="tx1"/>
                </a:solidFill>
                <a:effectLst/>
                <a:latin typeface="+mn-lt"/>
                <a:ea typeface="+mn-ea"/>
                <a:cs typeface="+mn-cs"/>
              </a:rPr>
              <a:t> Code is reusable so there is no need to duplicate effort.</a:t>
            </a:r>
          </a:p>
          <a:p>
            <a:pPr rtl="0"/>
            <a:br>
              <a:rPr lang="en-CA" dirty="0">
                <a:effectLst/>
              </a:rPr>
            </a:br>
            <a:r>
              <a:rPr lang="en-CA" sz="1200" kern="1200" dirty="0">
                <a:solidFill>
                  <a:schemeClr val="tx1"/>
                </a:solidFill>
                <a:effectLst/>
                <a:latin typeface="+mn-lt"/>
                <a:ea typeface="+mn-ea"/>
                <a:cs typeface="+mn-cs"/>
              </a:rPr>
              <a:t> Code becomes much more readable, which reduces the time necessary to understand and debug.</a:t>
            </a:r>
          </a:p>
          <a:p>
            <a:pPr rtl="0"/>
            <a:br>
              <a:rPr lang="en-CA" dirty="0">
                <a:effectLst/>
              </a:rPr>
            </a:br>
            <a:r>
              <a:rPr lang="en-CA" sz="1200" kern="1200" dirty="0">
                <a:solidFill>
                  <a:schemeClr val="tx1"/>
                </a:solidFill>
                <a:effectLst/>
                <a:latin typeface="+mn-lt"/>
                <a:ea typeface="+mn-ea"/>
                <a:cs typeface="+mn-cs"/>
              </a:rPr>
              <a:t> Debugging becomes much easier because we can narrow down a problem to a particular module.</a:t>
            </a:r>
          </a:p>
          <a:p>
            <a:pPr rtl="0"/>
            <a:br>
              <a:rPr lang="en-CA" dirty="0">
                <a:effectLst/>
              </a:rPr>
            </a:br>
            <a:r>
              <a:rPr lang="en-CA" sz="1200" kern="1200" dirty="0">
                <a:solidFill>
                  <a:schemeClr val="tx1"/>
                </a:solidFill>
                <a:effectLst/>
                <a:latin typeface="+mn-lt"/>
                <a:ea typeface="+mn-ea"/>
                <a:cs typeface="+mn-cs"/>
              </a:rPr>
              <a:t> Testing is easier because writing automated tests for smaller modules not only means less work in the future, but it also helps keep the application stable as it scales (grows).</a:t>
            </a:r>
            <a:endParaRPr lang="en-CA" dirty="0">
              <a:effectLst/>
            </a:endParaRPr>
          </a:p>
          <a:p>
            <a:pPr rtl="0"/>
            <a:br>
              <a:rPr lang="en-CA" sz="1200" b="0" i="0" kern="1200" dirty="0">
                <a:solidFill>
                  <a:schemeClr val="tx1"/>
                </a:solidFill>
                <a:effectLst/>
                <a:latin typeface="+mn-lt"/>
                <a:ea typeface="+mn-ea"/>
                <a:cs typeface="+mn-cs"/>
              </a:rPr>
            </a:br>
            <a:endParaRPr lang="en-CA" dirty="0">
              <a:effectLst/>
            </a:endParaRPr>
          </a:p>
          <a:p>
            <a:endParaRPr lang="en-CA" dirty="0"/>
          </a:p>
        </p:txBody>
      </p:sp>
      <p:sp>
        <p:nvSpPr>
          <p:cNvPr id="4" name="Slide Number Placeholder 3">
            <a:extLst>
              <a:ext uri="{FF2B5EF4-FFF2-40B4-BE49-F238E27FC236}">
                <a16:creationId xmlns:a16="http://schemas.microsoft.com/office/drawing/2014/main" id="{274B1770-B928-4C4F-A54B-931AA1B70B44}"/>
              </a:ext>
            </a:extLst>
          </p:cNvPr>
          <p:cNvSpPr>
            <a:spLocks noGrp="1"/>
          </p:cNvSpPr>
          <p:nvPr>
            <p:ph type="sldNum" sz="quarter" idx="5"/>
          </p:nvPr>
        </p:nvSpPr>
        <p:spPr/>
        <p:txBody>
          <a:bodyPr/>
          <a:lstStyle/>
          <a:p>
            <a:fld id="{CFE641A9-FDE3-4583-B812-65C4064188F6}" type="slidenum">
              <a:rPr lang="en-CA" smtClean="0"/>
              <a:t>7</a:t>
            </a:fld>
            <a:endParaRPr lang="en-CA"/>
          </a:p>
        </p:txBody>
      </p:sp>
    </p:spTree>
    <p:extLst>
      <p:ext uri="{BB962C8B-B14F-4D97-AF65-F5344CB8AC3E}">
        <p14:creationId xmlns:p14="http://schemas.microsoft.com/office/powerpoint/2010/main" val="200114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41179-F812-C556-3D27-BC6351BB7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A6321-A65E-08CE-038C-6DFA3BE18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34A1A-0B60-35E7-1F1D-439DAEBE96B3}"/>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Despite all these benefits, creating well-structured modules is not always as easy as it sounds. When considering which parts of a problem are suitable for modularization (that is, creating a module for it or not), they must meet the following criteria:</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Be reusable and independent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Have a specific purpose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Be separately testable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Be separately updated</a:t>
            </a:r>
            <a:endParaRPr lang="en-CA" dirty="0"/>
          </a:p>
        </p:txBody>
      </p:sp>
      <p:sp>
        <p:nvSpPr>
          <p:cNvPr id="4" name="Slide Number Placeholder 3">
            <a:extLst>
              <a:ext uri="{FF2B5EF4-FFF2-40B4-BE49-F238E27FC236}">
                <a16:creationId xmlns:a16="http://schemas.microsoft.com/office/drawing/2014/main" id="{03BA4164-A556-D9DC-7F7F-7C31A0570CF6}"/>
              </a:ext>
            </a:extLst>
          </p:cNvPr>
          <p:cNvSpPr>
            <a:spLocks noGrp="1"/>
          </p:cNvSpPr>
          <p:nvPr>
            <p:ph type="sldNum" sz="quarter" idx="5"/>
          </p:nvPr>
        </p:nvSpPr>
        <p:spPr/>
        <p:txBody>
          <a:bodyPr/>
          <a:lstStyle/>
          <a:p>
            <a:fld id="{CFE641A9-FDE3-4583-B812-65C4064188F6}" type="slidenum">
              <a:rPr lang="en-CA" smtClean="0"/>
              <a:t>8</a:t>
            </a:fld>
            <a:endParaRPr lang="en-CA"/>
          </a:p>
        </p:txBody>
      </p:sp>
    </p:spTree>
    <p:extLst>
      <p:ext uri="{BB962C8B-B14F-4D97-AF65-F5344CB8AC3E}">
        <p14:creationId xmlns:p14="http://schemas.microsoft.com/office/powerpoint/2010/main" val="3801217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an example of Building a Birdhouse.</a:t>
            </a:r>
          </a:p>
        </p:txBody>
      </p:sp>
      <p:sp>
        <p:nvSpPr>
          <p:cNvPr id="4" name="Slide Number Placeholder 3"/>
          <p:cNvSpPr>
            <a:spLocks noGrp="1"/>
          </p:cNvSpPr>
          <p:nvPr>
            <p:ph type="sldNum" sz="quarter" idx="5"/>
          </p:nvPr>
        </p:nvSpPr>
        <p:spPr/>
        <p:txBody>
          <a:bodyPr/>
          <a:lstStyle/>
          <a:p>
            <a:fld id="{CFE641A9-FDE3-4583-B812-65C4064188F6}" type="slidenum">
              <a:rPr lang="en-CA" smtClean="0"/>
              <a:t>9</a:t>
            </a:fld>
            <a:endParaRPr lang="en-CA"/>
          </a:p>
        </p:txBody>
      </p:sp>
    </p:spTree>
    <p:extLst>
      <p:ext uri="{BB962C8B-B14F-4D97-AF65-F5344CB8AC3E}">
        <p14:creationId xmlns:p14="http://schemas.microsoft.com/office/powerpoint/2010/main" val="4138489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78B2-719F-B7A1-69CC-80F600B9E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25E0E-8A80-7EDB-8941-1F3721DC1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9C3238-F8A4-DD70-6D55-204D2B17864D}"/>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You are required to build a four-sided birdhouse. It must be 30 cm tall, 20 cm wide and 15 cm deep. It must have 3 cm (in diameter) holes on two of the four sides. You are given a basket of screws and two planks of wood to accomplish this.</a:t>
            </a:r>
            <a:endParaRPr lang="en-CA" dirty="0"/>
          </a:p>
        </p:txBody>
      </p:sp>
      <p:sp>
        <p:nvSpPr>
          <p:cNvPr id="4" name="Slide Number Placeholder 3">
            <a:extLst>
              <a:ext uri="{FF2B5EF4-FFF2-40B4-BE49-F238E27FC236}">
                <a16:creationId xmlns:a16="http://schemas.microsoft.com/office/drawing/2014/main" id="{E61C79E7-8BF2-4748-9758-3E039AF02DE6}"/>
              </a:ext>
            </a:extLst>
          </p:cNvPr>
          <p:cNvSpPr>
            <a:spLocks noGrp="1"/>
          </p:cNvSpPr>
          <p:nvPr>
            <p:ph type="sldNum" sz="quarter" idx="5"/>
          </p:nvPr>
        </p:nvSpPr>
        <p:spPr/>
        <p:txBody>
          <a:bodyPr/>
          <a:lstStyle/>
          <a:p>
            <a:fld id="{CFE641A9-FDE3-4583-B812-65C4064188F6}" type="slidenum">
              <a:rPr lang="en-CA" smtClean="0"/>
              <a:t>10</a:t>
            </a:fld>
            <a:endParaRPr lang="en-CA"/>
          </a:p>
        </p:txBody>
      </p:sp>
    </p:spTree>
    <p:extLst>
      <p:ext uri="{BB962C8B-B14F-4D97-AF65-F5344CB8AC3E}">
        <p14:creationId xmlns:p14="http://schemas.microsoft.com/office/powerpoint/2010/main" val="1450948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AFF0E-056E-B115-4C05-0D46A478B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6206D-5974-2237-5B24-26989F30E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743F5-AD95-9082-0163-0829D84ACA4A}"/>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Let’s list out the requirements and constraints of this problem:</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Must be 30 x 20 x 15 cm</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Two 3 cm holes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We only have screws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We only have two planks of wood</a:t>
            </a:r>
            <a:endParaRPr lang="en-CA" dirty="0"/>
          </a:p>
        </p:txBody>
      </p:sp>
      <p:sp>
        <p:nvSpPr>
          <p:cNvPr id="4" name="Slide Number Placeholder 3">
            <a:extLst>
              <a:ext uri="{FF2B5EF4-FFF2-40B4-BE49-F238E27FC236}">
                <a16:creationId xmlns:a16="http://schemas.microsoft.com/office/drawing/2014/main" id="{DA612D5C-D9FA-63EC-396D-A8374C4A2A94}"/>
              </a:ext>
            </a:extLst>
          </p:cNvPr>
          <p:cNvSpPr>
            <a:spLocks noGrp="1"/>
          </p:cNvSpPr>
          <p:nvPr>
            <p:ph type="sldNum" sz="quarter" idx="5"/>
          </p:nvPr>
        </p:nvSpPr>
        <p:spPr/>
        <p:txBody>
          <a:bodyPr/>
          <a:lstStyle/>
          <a:p>
            <a:fld id="{CFE641A9-FDE3-4583-B812-65C4064188F6}" type="slidenum">
              <a:rPr lang="en-CA" smtClean="0"/>
              <a:t>11</a:t>
            </a:fld>
            <a:endParaRPr lang="en-CA"/>
          </a:p>
        </p:txBody>
      </p:sp>
    </p:spTree>
    <p:extLst>
      <p:ext uri="{BB962C8B-B14F-4D97-AF65-F5344CB8AC3E}">
        <p14:creationId xmlns:p14="http://schemas.microsoft.com/office/powerpoint/2010/main" val="2202017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5F145-3382-7C10-4724-484A9953F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E5233-8217-4555-A959-EBAD77CF0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C7D3F-12DE-3512-AE3E-89FD8D6B4596}"/>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Since it's our job to build this, we will need to figure out the processes necessary to do it. We can use decomposition to break down the problem into smaller parts. </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So each of the following tasks are required to complete the birdhouse.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Measurement - we need to measure the dimensions of the birdhouse and the dimensions of the holes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We need to CUT the wood to make four sides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We need to DRILL holes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We need to USE SCREWS to assemble the birdhouse</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Let’s see how we can take each of these processes and “modularize” them.</a:t>
            </a:r>
            <a:endParaRPr lang="en-CA" dirty="0"/>
          </a:p>
        </p:txBody>
      </p:sp>
      <p:sp>
        <p:nvSpPr>
          <p:cNvPr id="4" name="Slide Number Placeholder 3">
            <a:extLst>
              <a:ext uri="{FF2B5EF4-FFF2-40B4-BE49-F238E27FC236}">
                <a16:creationId xmlns:a16="http://schemas.microsoft.com/office/drawing/2014/main" id="{A497E3B3-DAE4-6F99-2936-FDCFDC83100D}"/>
              </a:ext>
            </a:extLst>
          </p:cNvPr>
          <p:cNvSpPr>
            <a:spLocks noGrp="1"/>
          </p:cNvSpPr>
          <p:nvPr>
            <p:ph type="sldNum" sz="quarter" idx="5"/>
          </p:nvPr>
        </p:nvSpPr>
        <p:spPr/>
        <p:txBody>
          <a:bodyPr/>
          <a:lstStyle/>
          <a:p>
            <a:fld id="{CFE641A9-FDE3-4583-B812-65C4064188F6}" type="slidenum">
              <a:rPr lang="en-CA" smtClean="0"/>
              <a:t>12</a:t>
            </a:fld>
            <a:endParaRPr lang="en-CA"/>
          </a:p>
        </p:txBody>
      </p:sp>
    </p:spTree>
    <p:extLst>
      <p:ext uri="{BB962C8B-B14F-4D97-AF65-F5344CB8AC3E}">
        <p14:creationId xmlns:p14="http://schemas.microsoft.com/office/powerpoint/2010/main" val="629889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C45CA-BCA2-DF1D-E335-54CDBC7DE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71AA2-FEBA-1951-B78F-7C971A64B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7030F-E645-D485-2ACA-CD5637939884}"/>
              </a:ext>
            </a:extLst>
          </p:cNvPr>
          <p:cNvSpPr>
            <a:spLocks noGrp="1"/>
          </p:cNvSpPr>
          <p:nvPr>
            <p:ph type="body" idx="1"/>
          </p:nvPr>
        </p:nvSpPr>
        <p:spPr/>
        <p:txBody>
          <a:bodyPr/>
          <a:lstStyle/>
          <a:p>
            <a:pPr rtl="0"/>
            <a:r>
              <a:rPr lang="en-CA" sz="1200" b="0" i="0" kern="1200" dirty="0">
                <a:solidFill>
                  <a:schemeClr val="tx1"/>
                </a:solidFill>
                <a:effectLst/>
                <a:latin typeface="+mn-lt"/>
                <a:ea typeface="+mn-ea"/>
                <a:cs typeface="+mn-cs"/>
              </a:rPr>
              <a:t>We can take the process of measurement and turn it into a module, or a set of steps to execute to accomplish the task of measuring a piece of wood.</a:t>
            </a: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 Get a ruler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2. Take the piece of wood you wish to measure</a:t>
            </a:r>
          </a:p>
          <a:p>
            <a:pPr rtl="0"/>
            <a:r>
              <a:rPr lang="en-CA" sz="1200" b="0" i="0" kern="1200" dirty="0">
                <a:solidFill>
                  <a:schemeClr val="tx1"/>
                </a:solidFill>
                <a:effectLst/>
                <a:latin typeface="+mn-lt"/>
                <a:ea typeface="+mn-ea"/>
                <a:cs typeface="+mn-cs"/>
              </a:rPr>
              <a:t>3. Place the ruler on the piece of wood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4. Use a pencil to mark the desired length</a:t>
            </a:r>
          </a:p>
          <a:p>
            <a:endParaRPr lang="en-CA" dirty="0"/>
          </a:p>
        </p:txBody>
      </p:sp>
      <p:sp>
        <p:nvSpPr>
          <p:cNvPr id="4" name="Slide Number Placeholder 3">
            <a:extLst>
              <a:ext uri="{FF2B5EF4-FFF2-40B4-BE49-F238E27FC236}">
                <a16:creationId xmlns:a16="http://schemas.microsoft.com/office/drawing/2014/main" id="{8F64F600-633B-100C-FBAA-4BD535423D51}"/>
              </a:ext>
            </a:extLst>
          </p:cNvPr>
          <p:cNvSpPr>
            <a:spLocks noGrp="1"/>
          </p:cNvSpPr>
          <p:nvPr>
            <p:ph type="sldNum" sz="quarter" idx="5"/>
          </p:nvPr>
        </p:nvSpPr>
        <p:spPr/>
        <p:txBody>
          <a:bodyPr/>
          <a:lstStyle/>
          <a:p>
            <a:fld id="{CFE641A9-FDE3-4583-B812-65C4064188F6}" type="slidenum">
              <a:rPr lang="en-CA" smtClean="0"/>
              <a:t>13</a:t>
            </a:fld>
            <a:endParaRPr lang="en-CA"/>
          </a:p>
        </p:txBody>
      </p:sp>
    </p:spTree>
    <p:extLst>
      <p:ext uri="{BB962C8B-B14F-4D97-AF65-F5344CB8AC3E}">
        <p14:creationId xmlns:p14="http://schemas.microsoft.com/office/powerpoint/2010/main" val="2816072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95143-3751-85BD-9AB9-7DF8FA968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9CD881-0E5A-B068-4AE3-FB4C234EE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FABAAB-6B7C-D298-DE49-B2A327F64EDD}"/>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Before moving on, we need to make sure that it is a good module and fits the criteria by asking the following questions: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Is it reusable and independent?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measure any piece of wood using the same set of steps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Does it Have a specific purpose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its purpose is to measure wood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Can it Be separately testable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measure as many pieces of wood as we want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Can it Be separately updated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if necessary, we can add additional steps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So, this will be the “measurement module”, the set of steps required to measure. We will call this the MEASURE module.</a:t>
            </a:r>
            <a:endParaRPr lang="en-CA" dirty="0"/>
          </a:p>
        </p:txBody>
      </p:sp>
      <p:sp>
        <p:nvSpPr>
          <p:cNvPr id="4" name="Slide Number Placeholder 3">
            <a:extLst>
              <a:ext uri="{FF2B5EF4-FFF2-40B4-BE49-F238E27FC236}">
                <a16:creationId xmlns:a16="http://schemas.microsoft.com/office/drawing/2014/main" id="{26E8B1B3-FFB9-9E14-A124-BE868CF87566}"/>
              </a:ext>
            </a:extLst>
          </p:cNvPr>
          <p:cNvSpPr>
            <a:spLocks noGrp="1"/>
          </p:cNvSpPr>
          <p:nvPr>
            <p:ph type="sldNum" sz="quarter" idx="5"/>
          </p:nvPr>
        </p:nvSpPr>
        <p:spPr/>
        <p:txBody>
          <a:bodyPr/>
          <a:lstStyle/>
          <a:p>
            <a:fld id="{CFE641A9-FDE3-4583-B812-65C4064188F6}" type="slidenum">
              <a:rPr lang="en-CA" smtClean="0"/>
              <a:t>14</a:t>
            </a:fld>
            <a:endParaRPr lang="en-CA"/>
          </a:p>
        </p:txBody>
      </p:sp>
    </p:spTree>
    <p:extLst>
      <p:ext uri="{BB962C8B-B14F-4D97-AF65-F5344CB8AC3E}">
        <p14:creationId xmlns:p14="http://schemas.microsoft.com/office/powerpoint/2010/main" val="3298605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D7591-645D-676D-D82F-0BBEA7D1A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64143-994E-D500-74C3-4324510DE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77ECA-8C5D-2ABC-4ECA-75CA7AF6A7B5}"/>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The next task we need to accomplish is how to cut the wood for the birdhouse. What steps do we need to take to accomplish this?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 Get a wood saw</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2. MEASURE the length of the wood you want to cut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3. Place the saw on the marked location of the board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4. Move the saw back and forth with downward pressure until the board is cut</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Here is our first instance of using modularity. We don’t need to write the steps to do the measuring anymore, since that was already done in the MEASURE module. Instead, we just use the MEASURE module here.</a:t>
            </a:r>
            <a:endParaRPr lang="en-CA" dirty="0"/>
          </a:p>
        </p:txBody>
      </p:sp>
      <p:sp>
        <p:nvSpPr>
          <p:cNvPr id="4" name="Slide Number Placeholder 3">
            <a:extLst>
              <a:ext uri="{FF2B5EF4-FFF2-40B4-BE49-F238E27FC236}">
                <a16:creationId xmlns:a16="http://schemas.microsoft.com/office/drawing/2014/main" id="{425B4560-6CBD-BE03-0D1E-182894ED2629}"/>
              </a:ext>
            </a:extLst>
          </p:cNvPr>
          <p:cNvSpPr>
            <a:spLocks noGrp="1"/>
          </p:cNvSpPr>
          <p:nvPr>
            <p:ph type="sldNum" sz="quarter" idx="5"/>
          </p:nvPr>
        </p:nvSpPr>
        <p:spPr/>
        <p:txBody>
          <a:bodyPr/>
          <a:lstStyle/>
          <a:p>
            <a:fld id="{CFE641A9-FDE3-4583-B812-65C4064188F6}" type="slidenum">
              <a:rPr lang="en-CA" smtClean="0"/>
              <a:t>15</a:t>
            </a:fld>
            <a:endParaRPr lang="en-CA"/>
          </a:p>
        </p:txBody>
      </p:sp>
    </p:spTree>
    <p:extLst>
      <p:ext uri="{BB962C8B-B14F-4D97-AF65-F5344CB8AC3E}">
        <p14:creationId xmlns:p14="http://schemas.microsoft.com/office/powerpoint/2010/main" val="2869348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81F8F-4B8B-68B7-DBB9-1D2CC8087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52F16-8BD1-B691-8C62-B3E544BF3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93DA9-77D3-ED4F-C656-02E9F8AFABE2}"/>
              </a:ext>
            </a:extLst>
          </p:cNvPr>
          <p:cNvSpPr>
            <a:spLocks noGrp="1"/>
          </p:cNvSpPr>
          <p:nvPr>
            <p:ph type="body" idx="1"/>
          </p:nvPr>
        </p:nvSpPr>
        <p:spPr/>
        <p:txBody>
          <a:bodyPr/>
          <a:lstStyle/>
          <a:p>
            <a:pPr rtl="0"/>
            <a:r>
              <a:rPr lang="en-CA" sz="1200" b="0" i="0" kern="1200" dirty="0">
                <a:solidFill>
                  <a:schemeClr val="tx1"/>
                </a:solidFill>
                <a:effectLst/>
                <a:latin typeface="+mn-lt"/>
                <a:ea typeface="+mn-ea"/>
                <a:cs typeface="+mn-cs"/>
              </a:rPr>
              <a:t>Once again, we must ask ourselves if this is an appropriate module:</a:t>
            </a: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Is it reusable and independent?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cut any piece of wood using the same 	set of steps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Does it Have a specific purpose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this module cuts wood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Can it Be separately testable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cut as many pieces of wood as we want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Can it Be separately updated</a:t>
            </a:r>
          </a:p>
          <a:p>
            <a:pPr rtl="0"/>
            <a:r>
              <a:rPr lang="en-CA" sz="1200" b="0" i="0" kern="1200" dirty="0">
                <a:solidFill>
                  <a:schemeClr val="tx1"/>
                </a:solidFill>
                <a:effectLst/>
                <a:latin typeface="+mn-lt"/>
                <a:ea typeface="+mn-ea"/>
                <a:cs typeface="+mn-cs"/>
              </a:rPr>
              <a:t>	o Yes, if necessary, we can add additional steps (such 	as safety steps)</a:t>
            </a: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This appears to be a good module. We’ll call this the CUT module.</a:t>
            </a:r>
          </a:p>
          <a:p>
            <a:endParaRPr lang="en-CA" dirty="0"/>
          </a:p>
        </p:txBody>
      </p:sp>
      <p:sp>
        <p:nvSpPr>
          <p:cNvPr id="4" name="Slide Number Placeholder 3">
            <a:extLst>
              <a:ext uri="{FF2B5EF4-FFF2-40B4-BE49-F238E27FC236}">
                <a16:creationId xmlns:a16="http://schemas.microsoft.com/office/drawing/2014/main" id="{34B5ED67-559F-85BB-28E3-540428A38B0F}"/>
              </a:ext>
            </a:extLst>
          </p:cNvPr>
          <p:cNvSpPr>
            <a:spLocks noGrp="1"/>
          </p:cNvSpPr>
          <p:nvPr>
            <p:ph type="sldNum" sz="quarter" idx="5"/>
          </p:nvPr>
        </p:nvSpPr>
        <p:spPr/>
        <p:txBody>
          <a:bodyPr/>
          <a:lstStyle/>
          <a:p>
            <a:fld id="{CFE641A9-FDE3-4583-B812-65C4064188F6}" type="slidenum">
              <a:rPr lang="en-CA" smtClean="0"/>
              <a:t>16</a:t>
            </a:fld>
            <a:endParaRPr lang="en-CA"/>
          </a:p>
        </p:txBody>
      </p:sp>
    </p:spTree>
    <p:extLst>
      <p:ext uri="{BB962C8B-B14F-4D97-AF65-F5344CB8AC3E}">
        <p14:creationId xmlns:p14="http://schemas.microsoft.com/office/powerpoint/2010/main" val="1166900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A2E8-27E5-0E95-ECEC-27089B163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04DC6-358F-7C03-27EE-798E682A3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8958A-42A7-DBB5-63EC-415337788AB7}"/>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The next task to accomplish is drilling the holes into the two pieces of wood that will serve as the entry to the birdhouse.</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 Get a ruler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2. Take the piece of wood you wish to measure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3. Use a pencil to mark the desired length (of where the hole will go)</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4. Grab drill</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5. Drill the hole</a:t>
            </a:r>
            <a:endParaRPr lang="en-CA" dirty="0"/>
          </a:p>
        </p:txBody>
      </p:sp>
      <p:sp>
        <p:nvSpPr>
          <p:cNvPr id="4" name="Slide Number Placeholder 3">
            <a:extLst>
              <a:ext uri="{FF2B5EF4-FFF2-40B4-BE49-F238E27FC236}">
                <a16:creationId xmlns:a16="http://schemas.microsoft.com/office/drawing/2014/main" id="{387DFAAF-04D0-C598-D5E7-4C6FD927D7C6}"/>
              </a:ext>
            </a:extLst>
          </p:cNvPr>
          <p:cNvSpPr>
            <a:spLocks noGrp="1"/>
          </p:cNvSpPr>
          <p:nvPr>
            <p:ph type="sldNum" sz="quarter" idx="5"/>
          </p:nvPr>
        </p:nvSpPr>
        <p:spPr/>
        <p:txBody>
          <a:bodyPr/>
          <a:lstStyle/>
          <a:p>
            <a:fld id="{CFE641A9-FDE3-4583-B812-65C4064188F6}" type="slidenum">
              <a:rPr lang="en-CA" smtClean="0"/>
              <a:t>17</a:t>
            </a:fld>
            <a:endParaRPr lang="en-CA"/>
          </a:p>
        </p:txBody>
      </p:sp>
    </p:spTree>
    <p:extLst>
      <p:ext uri="{BB962C8B-B14F-4D97-AF65-F5344CB8AC3E}">
        <p14:creationId xmlns:p14="http://schemas.microsoft.com/office/powerpoint/2010/main" val="1688834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72F31-FD4F-D30E-59B0-52C41FBB7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64697-7558-FAA4-1F28-9CA74DB3F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482E2-E09D-39F7-66E6-B349F399BA85}"/>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Time to check if it is valid:</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Is it reusable and independent?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drill a hole into any piece of wood using the same set of steps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Does it Have a specific purpose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this module drills holes into wood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Can it Be separately testable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drill holes into as many pieces of wood as we want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Can it Be separately updated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if necessary, we can add additional steps (such as safety steps)</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This is a good module, since it meets those requirements. But can it be improved? Here again is where we can really see the benefit of modularity.</a:t>
            </a:r>
            <a:br>
              <a:rPr lang="en-CA" sz="1200" b="0" i="0" kern="1200" dirty="0">
                <a:solidFill>
                  <a:schemeClr val="tx1"/>
                </a:solidFill>
                <a:effectLst/>
                <a:latin typeface="+mn-lt"/>
                <a:ea typeface="+mn-ea"/>
                <a:cs typeface="+mn-cs"/>
              </a:rPr>
            </a:br>
            <a:endParaRPr lang="en-CA" dirty="0"/>
          </a:p>
        </p:txBody>
      </p:sp>
      <p:sp>
        <p:nvSpPr>
          <p:cNvPr id="4" name="Slide Number Placeholder 3">
            <a:extLst>
              <a:ext uri="{FF2B5EF4-FFF2-40B4-BE49-F238E27FC236}">
                <a16:creationId xmlns:a16="http://schemas.microsoft.com/office/drawing/2014/main" id="{31B68FCD-8572-D5B7-1E55-ED377C1A54AC}"/>
              </a:ext>
            </a:extLst>
          </p:cNvPr>
          <p:cNvSpPr>
            <a:spLocks noGrp="1"/>
          </p:cNvSpPr>
          <p:nvPr>
            <p:ph type="sldNum" sz="quarter" idx="5"/>
          </p:nvPr>
        </p:nvSpPr>
        <p:spPr/>
        <p:txBody>
          <a:bodyPr/>
          <a:lstStyle/>
          <a:p>
            <a:fld id="{CFE641A9-FDE3-4583-B812-65C4064188F6}" type="slidenum">
              <a:rPr lang="en-CA" smtClean="0"/>
              <a:t>18</a:t>
            </a:fld>
            <a:endParaRPr lang="en-CA"/>
          </a:p>
        </p:txBody>
      </p:sp>
    </p:spTree>
    <p:extLst>
      <p:ext uri="{BB962C8B-B14F-4D97-AF65-F5344CB8AC3E}">
        <p14:creationId xmlns:p14="http://schemas.microsoft.com/office/powerpoint/2010/main" val="4016243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9BE3C-16B9-0907-CE11-1AEC7F35A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A795F-AFE0-1388-B26B-B66B06CD7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55D4A-C288-2C5A-4ADF-E21DB1529372}"/>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In the first three steps of this module, we are performing the exact same steps as the MEASURE module. So instead of having the first 3 steps, we will update this to make use of the MEASURE module to reduce the number of steps written.</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 MEASURE the diameter of the hole on the piece of wood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2. Grab a drill</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3. Drill the hole</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This will be the DRILL module.</a:t>
            </a:r>
            <a:endParaRPr lang="en-CA" dirty="0"/>
          </a:p>
        </p:txBody>
      </p:sp>
      <p:sp>
        <p:nvSpPr>
          <p:cNvPr id="4" name="Slide Number Placeholder 3">
            <a:extLst>
              <a:ext uri="{FF2B5EF4-FFF2-40B4-BE49-F238E27FC236}">
                <a16:creationId xmlns:a16="http://schemas.microsoft.com/office/drawing/2014/main" id="{122A3B64-3CBE-2FA4-BB52-E98CF37EF4BE}"/>
              </a:ext>
            </a:extLst>
          </p:cNvPr>
          <p:cNvSpPr>
            <a:spLocks noGrp="1"/>
          </p:cNvSpPr>
          <p:nvPr>
            <p:ph type="sldNum" sz="quarter" idx="5"/>
          </p:nvPr>
        </p:nvSpPr>
        <p:spPr/>
        <p:txBody>
          <a:bodyPr/>
          <a:lstStyle/>
          <a:p>
            <a:fld id="{CFE641A9-FDE3-4583-B812-65C4064188F6}" type="slidenum">
              <a:rPr lang="en-CA" smtClean="0"/>
              <a:t>19</a:t>
            </a:fld>
            <a:endParaRPr lang="en-CA"/>
          </a:p>
        </p:txBody>
      </p:sp>
    </p:spTree>
    <p:extLst>
      <p:ext uri="{BB962C8B-B14F-4D97-AF65-F5344CB8AC3E}">
        <p14:creationId xmlns:p14="http://schemas.microsoft.com/office/powerpoint/2010/main" val="2010652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7AAF1-F996-BEB8-A31E-E0A003FE7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A244C-3212-E2DF-2301-D848C0FCB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C46E5C-86AC-6AB7-537B-603137E0605B}"/>
              </a:ext>
            </a:extLst>
          </p:cNvPr>
          <p:cNvSpPr>
            <a:spLocks noGrp="1"/>
          </p:cNvSpPr>
          <p:nvPr>
            <p:ph type="body" idx="1"/>
          </p:nvPr>
        </p:nvSpPr>
        <p:spPr/>
        <p:txBody>
          <a:bodyPr/>
          <a:lstStyle/>
          <a:p>
            <a:pPr rtl="0"/>
            <a:r>
              <a:rPr lang="en-CA" sz="1200" b="0" i="0" kern="1200" dirty="0">
                <a:solidFill>
                  <a:schemeClr val="tx1"/>
                </a:solidFill>
                <a:effectLst/>
                <a:latin typeface="+mn-lt"/>
                <a:ea typeface="+mn-ea"/>
                <a:cs typeface="+mn-cs"/>
              </a:rPr>
              <a:t>The next module we need to create is the part where we insert one screw into one board to attach it to another board.</a:t>
            </a:r>
          </a:p>
          <a:p>
            <a:pPr rtl="0"/>
            <a:endParaRPr lang="en-CA" sz="1200" b="0" i="0" kern="1200" dirty="0">
              <a:solidFill>
                <a:schemeClr val="tx1"/>
              </a:solidFill>
              <a:effectLst/>
              <a:latin typeface="+mn-lt"/>
              <a:ea typeface="+mn-ea"/>
              <a:cs typeface="+mn-cs"/>
            </a:endParaRPr>
          </a:p>
          <a:p>
            <a:pPr rtl="0"/>
            <a:r>
              <a:rPr lang="en-CA" sz="1200" b="0" i="0" kern="1200" dirty="0">
                <a:solidFill>
                  <a:schemeClr val="tx1"/>
                </a:solidFill>
                <a:effectLst/>
                <a:latin typeface="+mn-lt"/>
                <a:ea typeface="+mn-ea"/>
                <a:cs typeface="+mn-cs"/>
              </a:rPr>
              <a:t>1. Get a ruler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2. Take the first board you wish to measure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3. Use a pencil to mark the desired diameter of the hole (width of the screw)</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4. Grab drill</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5. Drill the hole</a:t>
            </a:r>
          </a:p>
          <a:p>
            <a:endParaRPr lang="en-CA" dirty="0"/>
          </a:p>
        </p:txBody>
      </p:sp>
      <p:sp>
        <p:nvSpPr>
          <p:cNvPr id="4" name="Slide Number Placeholder 3">
            <a:extLst>
              <a:ext uri="{FF2B5EF4-FFF2-40B4-BE49-F238E27FC236}">
                <a16:creationId xmlns:a16="http://schemas.microsoft.com/office/drawing/2014/main" id="{12C3A5B9-9B4B-E0A8-914A-9A6DB6DEA170}"/>
              </a:ext>
            </a:extLst>
          </p:cNvPr>
          <p:cNvSpPr>
            <a:spLocks noGrp="1"/>
          </p:cNvSpPr>
          <p:nvPr>
            <p:ph type="sldNum" sz="quarter" idx="5"/>
          </p:nvPr>
        </p:nvSpPr>
        <p:spPr/>
        <p:txBody>
          <a:bodyPr/>
          <a:lstStyle/>
          <a:p>
            <a:fld id="{CFE641A9-FDE3-4583-B812-65C4064188F6}" type="slidenum">
              <a:rPr lang="en-CA" smtClean="0"/>
              <a:t>20</a:t>
            </a:fld>
            <a:endParaRPr lang="en-CA"/>
          </a:p>
        </p:txBody>
      </p:sp>
    </p:spTree>
    <p:extLst>
      <p:ext uri="{BB962C8B-B14F-4D97-AF65-F5344CB8AC3E}">
        <p14:creationId xmlns:p14="http://schemas.microsoft.com/office/powerpoint/2010/main" val="1317884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656E-E427-4667-33B7-D7B3C13DA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7219E-4D20-C4CB-5F40-40B7869C9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E6CC5-56B1-0F0A-17DD-CA9FB32DF14A}"/>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6. Take the second board you want to measure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7. Use a pencil to mark the desired diameter of the hole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8. Grab drill</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9. Drill the hole</a:t>
            </a:r>
            <a:endParaRPr lang="en-CA" dirty="0"/>
          </a:p>
        </p:txBody>
      </p:sp>
      <p:sp>
        <p:nvSpPr>
          <p:cNvPr id="4" name="Slide Number Placeholder 3">
            <a:extLst>
              <a:ext uri="{FF2B5EF4-FFF2-40B4-BE49-F238E27FC236}">
                <a16:creationId xmlns:a16="http://schemas.microsoft.com/office/drawing/2014/main" id="{B86B9716-42F2-7337-BE3E-13689FE50EE6}"/>
              </a:ext>
            </a:extLst>
          </p:cNvPr>
          <p:cNvSpPr>
            <a:spLocks noGrp="1"/>
          </p:cNvSpPr>
          <p:nvPr>
            <p:ph type="sldNum" sz="quarter" idx="5"/>
          </p:nvPr>
        </p:nvSpPr>
        <p:spPr/>
        <p:txBody>
          <a:bodyPr/>
          <a:lstStyle/>
          <a:p>
            <a:fld id="{CFE641A9-FDE3-4583-B812-65C4064188F6}" type="slidenum">
              <a:rPr lang="en-CA" smtClean="0"/>
              <a:t>21</a:t>
            </a:fld>
            <a:endParaRPr lang="en-CA"/>
          </a:p>
        </p:txBody>
      </p:sp>
    </p:spTree>
    <p:extLst>
      <p:ext uri="{BB962C8B-B14F-4D97-AF65-F5344CB8AC3E}">
        <p14:creationId xmlns:p14="http://schemas.microsoft.com/office/powerpoint/2010/main" val="3348169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53AC6-66B5-ACD2-D2A7-3EC34808E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6048D-B4F7-8F2E-1366-6786BE8DA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C397A-CF1B-DA41-3608-74B32D9B356D}"/>
              </a:ext>
            </a:extLst>
          </p:cNvPr>
          <p:cNvSpPr>
            <a:spLocks noGrp="1"/>
          </p:cNvSpPr>
          <p:nvPr>
            <p:ph type="body" idx="1"/>
          </p:nvPr>
        </p:nvSpPr>
        <p:spPr/>
        <p:txBody>
          <a:bodyPr/>
          <a:lstStyle/>
          <a:p>
            <a:r>
              <a:rPr lang="en-CA" sz="1200" b="0" i="0" kern="1200" dirty="0">
                <a:solidFill>
                  <a:schemeClr val="tx1"/>
                </a:solidFill>
                <a:effectLst/>
                <a:latin typeface="+mn-lt"/>
                <a:ea typeface="+mn-ea"/>
                <a:cs typeface="+mn-cs"/>
              </a:rPr>
              <a:t>10. Align the two boards together along the drilled holes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11. Grab a screwdriver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12. Screw the required screw into the wood</a:t>
            </a:r>
            <a:endParaRPr lang="en-CA" dirty="0"/>
          </a:p>
        </p:txBody>
      </p:sp>
      <p:sp>
        <p:nvSpPr>
          <p:cNvPr id="4" name="Slide Number Placeholder 3">
            <a:extLst>
              <a:ext uri="{FF2B5EF4-FFF2-40B4-BE49-F238E27FC236}">
                <a16:creationId xmlns:a16="http://schemas.microsoft.com/office/drawing/2014/main" id="{CCCAE408-DFBC-5C64-0D41-B8D037C89641}"/>
              </a:ext>
            </a:extLst>
          </p:cNvPr>
          <p:cNvSpPr>
            <a:spLocks noGrp="1"/>
          </p:cNvSpPr>
          <p:nvPr>
            <p:ph type="sldNum" sz="quarter" idx="5"/>
          </p:nvPr>
        </p:nvSpPr>
        <p:spPr/>
        <p:txBody>
          <a:bodyPr/>
          <a:lstStyle/>
          <a:p>
            <a:fld id="{CFE641A9-FDE3-4583-B812-65C4064188F6}" type="slidenum">
              <a:rPr lang="en-CA" smtClean="0"/>
              <a:t>22</a:t>
            </a:fld>
            <a:endParaRPr lang="en-CA"/>
          </a:p>
        </p:txBody>
      </p:sp>
    </p:spTree>
    <p:extLst>
      <p:ext uri="{BB962C8B-B14F-4D97-AF65-F5344CB8AC3E}">
        <p14:creationId xmlns:p14="http://schemas.microsoft.com/office/powerpoint/2010/main" val="12494309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D507-4579-B38C-E57E-8888D1B28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AF918-0EFA-8804-CF15-0EF943A7BD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93847-37A3-C601-1904-0EED0D2CCF38}"/>
              </a:ext>
            </a:extLst>
          </p:cNvPr>
          <p:cNvSpPr>
            <a:spLocks noGrp="1"/>
          </p:cNvSpPr>
          <p:nvPr>
            <p:ph type="body" idx="1"/>
          </p:nvPr>
        </p:nvSpPr>
        <p:spPr/>
        <p:txBody>
          <a:bodyPr/>
          <a:lstStyle/>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Time to check if it is valid:</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Is it reusable and independent?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attach two pieces of wood together using the same set of steps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Have a specific purpose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this module attaches two pieces of wood together</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Be separately testable</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we can repeat this with any two pieces of wood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Be separately updated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	o Yes, if necessary, we can add additional steps (such as safety steps or optimizations)</a:t>
            </a:r>
          </a:p>
          <a:p>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This module is valid; however, we can make use of our drill module to make this more efficient.</a:t>
            </a:r>
            <a:endParaRPr lang="en-CA" dirty="0"/>
          </a:p>
        </p:txBody>
      </p:sp>
      <p:sp>
        <p:nvSpPr>
          <p:cNvPr id="4" name="Slide Number Placeholder 3">
            <a:extLst>
              <a:ext uri="{FF2B5EF4-FFF2-40B4-BE49-F238E27FC236}">
                <a16:creationId xmlns:a16="http://schemas.microsoft.com/office/drawing/2014/main" id="{7C2705F0-A85E-EDCF-FC1F-B149D8D757DB}"/>
              </a:ext>
            </a:extLst>
          </p:cNvPr>
          <p:cNvSpPr>
            <a:spLocks noGrp="1"/>
          </p:cNvSpPr>
          <p:nvPr>
            <p:ph type="sldNum" sz="quarter" idx="5"/>
          </p:nvPr>
        </p:nvSpPr>
        <p:spPr/>
        <p:txBody>
          <a:bodyPr/>
          <a:lstStyle/>
          <a:p>
            <a:fld id="{CFE641A9-FDE3-4583-B812-65C4064188F6}" type="slidenum">
              <a:rPr lang="en-CA" smtClean="0"/>
              <a:t>23</a:t>
            </a:fld>
            <a:endParaRPr lang="en-CA"/>
          </a:p>
        </p:txBody>
      </p:sp>
    </p:spTree>
    <p:extLst>
      <p:ext uri="{BB962C8B-B14F-4D97-AF65-F5344CB8AC3E}">
        <p14:creationId xmlns:p14="http://schemas.microsoft.com/office/powerpoint/2010/main" val="2266147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4D7D-D0EC-F6E4-4119-57CC892D5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C4813-2E6F-76C9-81D3-29D8C7C15B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FDCAE-A495-3D50-147D-8AE1FF48636E}"/>
              </a:ext>
            </a:extLst>
          </p:cNvPr>
          <p:cNvSpPr>
            <a:spLocks noGrp="1"/>
          </p:cNvSpPr>
          <p:nvPr>
            <p:ph type="body" idx="1"/>
          </p:nvPr>
        </p:nvSpPr>
        <p:spPr/>
        <p:txBody>
          <a:bodyPr/>
          <a:lstStyle/>
          <a:p>
            <a:pPr marL="228600" indent="-228600">
              <a:buFont typeface="+mj-lt"/>
              <a:buAutoNum type="arabicPeriod"/>
            </a:pPr>
            <a:r>
              <a:rPr lang="en-CA" sz="1200" b="0" i="0" kern="1200" dirty="0">
                <a:solidFill>
                  <a:schemeClr val="tx1"/>
                </a:solidFill>
                <a:effectLst/>
                <a:latin typeface="+mn-lt"/>
                <a:ea typeface="+mn-ea"/>
                <a:cs typeface="+mn-cs"/>
              </a:rPr>
              <a:t>DRILL a hole the width of the screw in the first board</a:t>
            </a:r>
          </a:p>
          <a:p>
            <a:pPr marL="228600" indent="-228600">
              <a:buFont typeface="+mj-lt"/>
              <a:buAutoNum type="arabicPeriod"/>
            </a:pPr>
            <a:r>
              <a:rPr lang="en-CA" sz="1200" b="0" i="0" kern="1200" dirty="0">
                <a:solidFill>
                  <a:schemeClr val="tx1"/>
                </a:solidFill>
                <a:effectLst/>
                <a:latin typeface="+mn-lt"/>
                <a:ea typeface="+mn-ea"/>
                <a:cs typeface="+mn-cs"/>
              </a:rPr>
              <a:t>DRILL a hole the width of the screw in the second board</a:t>
            </a:r>
          </a:p>
          <a:p>
            <a:pPr marL="228600" indent="-228600">
              <a:buFont typeface="+mj-lt"/>
              <a:buAutoNum type="arabicPeriod"/>
            </a:pPr>
            <a:r>
              <a:rPr lang="en-CA" sz="1200" b="0" i="0" kern="1200" dirty="0">
                <a:solidFill>
                  <a:schemeClr val="tx1"/>
                </a:solidFill>
                <a:effectLst/>
                <a:latin typeface="+mn-lt"/>
                <a:ea typeface="+mn-ea"/>
                <a:cs typeface="+mn-cs"/>
              </a:rPr>
              <a:t>Align the two boards together along the drilled holes</a:t>
            </a:r>
          </a:p>
          <a:p>
            <a:pPr marL="228600" indent="-228600">
              <a:buFont typeface="+mj-lt"/>
              <a:buAutoNum type="arabicPeriod"/>
            </a:pPr>
            <a:r>
              <a:rPr lang="en-CA" sz="1200" b="0" i="0" kern="1200" dirty="0">
                <a:solidFill>
                  <a:schemeClr val="tx1"/>
                </a:solidFill>
                <a:effectLst/>
                <a:latin typeface="+mn-lt"/>
                <a:ea typeface="+mn-ea"/>
                <a:cs typeface="+mn-cs"/>
              </a:rPr>
              <a:t>Grab a screwdriver</a:t>
            </a:r>
          </a:p>
          <a:p>
            <a:pPr marL="228600" indent="-228600">
              <a:buFont typeface="+mj-lt"/>
              <a:buAutoNum type="arabicPeriod"/>
            </a:pPr>
            <a:r>
              <a:rPr lang="en-CA" sz="1200" b="0" i="0" kern="1200" dirty="0">
                <a:solidFill>
                  <a:schemeClr val="tx1"/>
                </a:solidFill>
                <a:effectLst/>
                <a:latin typeface="+mn-lt"/>
                <a:ea typeface="+mn-ea"/>
                <a:cs typeface="+mn-cs"/>
              </a:rPr>
              <a:t>Screw the required screw into the wood where the holes are</a:t>
            </a:r>
          </a:p>
          <a:p>
            <a:pPr marL="0" indent="0">
              <a:buFontTx/>
              <a:buNone/>
            </a:pPr>
            <a:r>
              <a:rPr lang="en-CA" sz="1200" b="0" i="0" kern="1200" dirty="0">
                <a:solidFill>
                  <a:schemeClr val="tx1"/>
                </a:solidFill>
                <a:effectLst/>
                <a:latin typeface="+mn-lt"/>
                <a:ea typeface="+mn-ea"/>
                <a:cs typeface="+mn-cs"/>
              </a:rPr>
              <a:t>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Here again we are using modularity to make everything far more efficient.</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This will be the SCREW module.</a:t>
            </a:r>
            <a:endParaRPr lang="en-CA" dirty="0"/>
          </a:p>
        </p:txBody>
      </p:sp>
      <p:sp>
        <p:nvSpPr>
          <p:cNvPr id="4" name="Slide Number Placeholder 3">
            <a:extLst>
              <a:ext uri="{FF2B5EF4-FFF2-40B4-BE49-F238E27FC236}">
                <a16:creationId xmlns:a16="http://schemas.microsoft.com/office/drawing/2014/main" id="{028C968F-7F6B-7280-B78D-5B907CB85B4C}"/>
              </a:ext>
            </a:extLst>
          </p:cNvPr>
          <p:cNvSpPr>
            <a:spLocks noGrp="1"/>
          </p:cNvSpPr>
          <p:nvPr>
            <p:ph type="sldNum" sz="quarter" idx="5"/>
          </p:nvPr>
        </p:nvSpPr>
        <p:spPr/>
        <p:txBody>
          <a:bodyPr/>
          <a:lstStyle/>
          <a:p>
            <a:fld id="{CFE641A9-FDE3-4583-B812-65C4064188F6}" type="slidenum">
              <a:rPr lang="en-CA" smtClean="0"/>
              <a:t>24</a:t>
            </a:fld>
            <a:endParaRPr lang="en-CA"/>
          </a:p>
        </p:txBody>
      </p:sp>
    </p:spTree>
    <p:extLst>
      <p:ext uri="{BB962C8B-B14F-4D97-AF65-F5344CB8AC3E}">
        <p14:creationId xmlns:p14="http://schemas.microsoft.com/office/powerpoint/2010/main" val="1074319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8192-6B70-B063-626B-CBA788ED8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C4AC7-9062-9227-0660-623A1A47E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149AC-FD6B-6367-07B5-4698FC38B272}"/>
              </a:ext>
            </a:extLst>
          </p:cNvPr>
          <p:cNvSpPr>
            <a:spLocks noGrp="1"/>
          </p:cNvSpPr>
          <p:nvPr>
            <p:ph type="body" idx="1"/>
          </p:nvPr>
        </p:nvSpPr>
        <p:spPr/>
        <p:txBody>
          <a:bodyPr/>
          <a:lstStyle/>
          <a:p>
            <a:pPr rtl="0"/>
            <a:r>
              <a:rPr lang="en-CA" sz="1200" b="0" i="0" kern="1200" dirty="0">
                <a:solidFill>
                  <a:schemeClr val="tx1"/>
                </a:solidFill>
                <a:effectLst/>
                <a:latin typeface="+mn-lt"/>
                <a:ea typeface="+mn-ea"/>
                <a:cs typeface="+mn-cs"/>
              </a:rPr>
              <a:t>Now for putting it all together.</a:t>
            </a: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Now that we have our modules, we can build a complete series of steps to build the birdhouse:</a:t>
            </a: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1. CUT 2 boards of sizes 30cm x 20 cm (boards A and B)</a:t>
            </a:r>
          </a:p>
          <a:p>
            <a:pPr rtl="0"/>
            <a:r>
              <a:rPr lang="en-CA" sz="1200" b="0" i="0" kern="1200" dirty="0">
                <a:solidFill>
                  <a:schemeClr val="tx1"/>
                </a:solidFill>
                <a:effectLst/>
                <a:latin typeface="+mn-lt"/>
                <a:ea typeface="+mn-ea"/>
                <a:cs typeface="+mn-cs"/>
              </a:rPr>
              <a:t>2. CUT 2 boards of sizes 30cm x 15 cm (boards C and D) </a:t>
            </a:r>
          </a:p>
          <a:p>
            <a:pPr rtl="0"/>
            <a:r>
              <a:rPr lang="en-CA" sz="1200" b="0" i="0" kern="1200" dirty="0">
                <a:solidFill>
                  <a:schemeClr val="tx1"/>
                </a:solidFill>
                <a:effectLst/>
                <a:latin typeface="+mn-lt"/>
                <a:ea typeface="+mn-ea"/>
                <a:cs typeface="+mn-cs"/>
              </a:rPr>
              <a:t>3. </a:t>
            </a:r>
            <a:r>
              <a:rPr lang="en-US" sz="1200" b="0" kern="1200" dirty="0">
                <a:solidFill>
                  <a:schemeClr val="tx1"/>
                </a:solidFill>
                <a:effectLst/>
                <a:latin typeface="+mn-lt"/>
                <a:ea typeface="+mn-ea"/>
                <a:cs typeface="+mn-cs"/>
              </a:rPr>
              <a:t>CUT</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2 boards of sizes 20cm x 15 cm (boards E and F)</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4. DRILL a hole with a diameter of 3cm in board C</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5. DRILL a hole with a diameter of 3cm in board 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6. SCREW board A to boards C and D</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7. SCREW board B to boards C and D on the opposite side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8. SCREW boards E and F to the top and bottom of the birdhouse</a:t>
            </a:r>
            <a:endParaRPr lang="en-CA" sz="1200" b="0" kern="1200" dirty="0">
              <a:solidFill>
                <a:schemeClr val="tx1"/>
              </a:solidFill>
              <a:effectLst/>
              <a:latin typeface="+mn-lt"/>
              <a:ea typeface="+mn-ea"/>
              <a:cs typeface="+mn-cs"/>
            </a:endParaRPr>
          </a:p>
          <a:p>
            <a:pPr rtl="0"/>
            <a:endParaRPr lang="en-CA" sz="1200" b="0" i="0" kern="1200" dirty="0">
              <a:solidFill>
                <a:schemeClr val="tx1"/>
              </a:solidFill>
              <a:effectLst/>
              <a:latin typeface="+mn-lt"/>
              <a:ea typeface="+mn-ea"/>
              <a:cs typeface="+mn-cs"/>
            </a:endParaRPr>
          </a:p>
          <a:p>
            <a:pPr rtl="0"/>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This final step by step guide makes use of the modules we created. This is only 8 steps using modularity. If we were to write each step out without modules, it might be over 50 lines by the time we finish, which is difficult to read and easy to get lost in or make mistakes.</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Modularity is a very important concept to grasp. Nearly every programming language relies on modularity in one way or another.</a:t>
            </a:r>
          </a:p>
          <a:p>
            <a:pPr rtl="0"/>
            <a:endParaRPr lang="en-CA" sz="1200" b="0" i="0" kern="1200" dirty="0">
              <a:solidFill>
                <a:schemeClr val="tx1"/>
              </a:solidFill>
              <a:effectLst/>
              <a:latin typeface="+mn-lt"/>
              <a:ea typeface="+mn-ea"/>
              <a:cs typeface="+mn-cs"/>
            </a:endParaRPr>
          </a:p>
          <a:p>
            <a:pPr rtl="0"/>
            <a:endParaRPr lang="en-CA" sz="1200" b="0" i="0" kern="1200" dirty="0">
              <a:solidFill>
                <a:schemeClr val="tx1"/>
              </a:solidFill>
              <a:effectLst/>
              <a:latin typeface="+mn-lt"/>
              <a:ea typeface="+mn-ea"/>
              <a:cs typeface="+mn-cs"/>
            </a:endParaRPr>
          </a:p>
          <a:p>
            <a:endParaRPr lang="en-CA" dirty="0"/>
          </a:p>
        </p:txBody>
      </p:sp>
      <p:sp>
        <p:nvSpPr>
          <p:cNvPr id="4" name="Slide Number Placeholder 3">
            <a:extLst>
              <a:ext uri="{FF2B5EF4-FFF2-40B4-BE49-F238E27FC236}">
                <a16:creationId xmlns:a16="http://schemas.microsoft.com/office/drawing/2014/main" id="{6D00361C-A9D2-EBA6-CFC9-D5A8FD516350}"/>
              </a:ext>
            </a:extLst>
          </p:cNvPr>
          <p:cNvSpPr>
            <a:spLocks noGrp="1"/>
          </p:cNvSpPr>
          <p:nvPr>
            <p:ph type="sldNum" sz="quarter" idx="5"/>
          </p:nvPr>
        </p:nvSpPr>
        <p:spPr/>
        <p:txBody>
          <a:bodyPr/>
          <a:lstStyle/>
          <a:p>
            <a:fld id="{CFE641A9-FDE3-4583-B812-65C4064188F6}" type="slidenum">
              <a:rPr lang="en-CA" smtClean="0"/>
              <a:t>25</a:t>
            </a:fld>
            <a:endParaRPr lang="en-CA"/>
          </a:p>
        </p:txBody>
      </p:sp>
    </p:spTree>
    <p:extLst>
      <p:ext uri="{BB962C8B-B14F-4D97-AF65-F5344CB8AC3E}">
        <p14:creationId xmlns:p14="http://schemas.microsoft.com/office/powerpoint/2010/main" val="2456208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FE641A9-FDE3-4583-B812-65C4064188F6}" type="slidenum">
              <a:rPr lang="en-CA" smtClean="0"/>
              <a:t>26</a:t>
            </a:fld>
            <a:endParaRPr lang="en-CA"/>
          </a:p>
        </p:txBody>
      </p:sp>
    </p:spTree>
    <p:extLst>
      <p:ext uri="{BB962C8B-B14F-4D97-AF65-F5344CB8AC3E}">
        <p14:creationId xmlns:p14="http://schemas.microsoft.com/office/powerpoint/2010/main" val="6336526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5799" y="5078186"/>
            <a:ext cx="21210814" cy="2937782"/>
          </a:xfrm>
        </p:spPr>
        <p:txBody>
          <a:bodyPr anchor="t">
            <a:noAutofit/>
          </a:bodyPr>
          <a:lstStyle>
            <a:lvl1pPr algn="ctr">
              <a:lnSpc>
                <a:spcPct val="100000"/>
              </a:lnSpc>
              <a:defRPr sz="9600" cap="all"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1585799" y="8752114"/>
            <a:ext cx="21210814" cy="2269673"/>
          </a:xfrm>
        </p:spPr>
        <p:txBody>
          <a:bodyPr/>
          <a:lstStyle>
            <a:lvl1pPr marL="0" indent="0" algn="ctr">
              <a:buNone/>
              <a:defRPr sz="4800">
                <a:solidFill>
                  <a:schemeClr val="bg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US"/>
              <a:t>Click to edit Master subtitle style</a:t>
            </a:r>
            <a:endParaRPr lang="en-US" dirty="0"/>
          </a:p>
        </p:txBody>
      </p:sp>
    </p:spTree>
    <p:extLst>
      <p:ext uri="{BB962C8B-B14F-4D97-AF65-F5344CB8AC3E}">
        <p14:creationId xmlns:p14="http://schemas.microsoft.com/office/powerpoint/2010/main" val="301850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72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1676291" y="3651250"/>
            <a:ext cx="21029831" cy="73738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67BAD23F-0E93-DF4A-8F98-CC7CE27E2020}"/>
              </a:ext>
            </a:extLst>
          </p:cNvPr>
          <p:cNvSpPr txBox="1"/>
          <p:nvPr userDrawn="1"/>
        </p:nvSpPr>
        <p:spPr>
          <a:xfrm>
            <a:off x="3962400" y="135987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2597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lvl1pPr>
          </a:lstStyle>
          <a:p>
            <a:r>
              <a:rPr lang="en-US"/>
              <a:t>Click to edit Master title style</a:t>
            </a:r>
            <a:endParaRPr lang="en-US" dirty="0"/>
          </a:p>
        </p:txBody>
      </p:sp>
      <p:sp>
        <p:nvSpPr>
          <p:cNvPr id="3" name="Content Placeholder 2"/>
          <p:cNvSpPr>
            <a:spLocks noGrp="1"/>
          </p:cNvSpPr>
          <p:nvPr>
            <p:ph sz="half" idx="1"/>
          </p:nvPr>
        </p:nvSpPr>
        <p:spPr>
          <a:xfrm>
            <a:off x="1676291" y="3651249"/>
            <a:ext cx="10362526" cy="9101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3596" y="3651250"/>
            <a:ext cx="10362526" cy="7566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9497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ighlight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solidFill>
                  <a:schemeClr val="bg2"/>
                </a:solidFill>
              </a:defRPr>
            </a:lvl1pPr>
          </a:lstStyle>
          <a:p>
            <a:r>
              <a:rPr lang="en-US"/>
              <a:t>Click to edit Master title style</a:t>
            </a:r>
            <a:endParaRPr lang="en-US" dirty="0"/>
          </a:p>
        </p:txBody>
      </p:sp>
      <p:sp>
        <p:nvSpPr>
          <p:cNvPr id="3" name="Content Placeholder 2"/>
          <p:cNvSpPr>
            <a:spLocks noGrp="1"/>
          </p:cNvSpPr>
          <p:nvPr>
            <p:ph idx="1"/>
          </p:nvPr>
        </p:nvSpPr>
        <p:spPr>
          <a:xfrm>
            <a:off x="1676291" y="3651250"/>
            <a:ext cx="21029831" cy="696232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4574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ADA339-B7CC-2B4C-9CB9-A33E03B63410}"/>
              </a:ext>
            </a:extLst>
          </p:cNvPr>
          <p:cNvSpPr>
            <a:spLocks noGrp="1"/>
          </p:cNvSpPr>
          <p:nvPr>
            <p:ph type="ctrTitle"/>
          </p:nvPr>
        </p:nvSpPr>
        <p:spPr>
          <a:xfrm>
            <a:off x="1585799" y="5570555"/>
            <a:ext cx="21210814" cy="2937782"/>
          </a:xfrm>
        </p:spPr>
        <p:txBody>
          <a:bodyPr anchor="t">
            <a:noAutofit/>
          </a:bodyPr>
          <a:lstStyle>
            <a:lvl1pPr algn="ctr">
              <a:lnSpc>
                <a:spcPct val="100000"/>
              </a:lnSpc>
              <a:defRPr sz="8000" cap="all" baseline="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39135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for large charts/images/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87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starbur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5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n-US" dirty="0"/>
              <a:t>CLICK ADD TITLE</a:t>
            </a:r>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b="0" i="0">
                <a:solidFill>
                  <a:schemeClr val="tx1">
                    <a:tint val="75000"/>
                  </a:schemeClr>
                </a:solidFill>
                <a:latin typeface="Arial" panose="020B0604020202020204" pitchFamily="34" charset="0"/>
                <a:cs typeface="Arial" panose="020B0604020202020204" pitchFamily="34" charset="0"/>
              </a:defRPr>
            </a:lvl1pPr>
          </a:lstStyle>
          <a:p>
            <a:fld id="{1D4256BD-EBF6-F04C-B88C-52582AC3F228}" type="datetimeFigureOut">
              <a:rPr lang="en-US" smtClean="0"/>
              <a:pPr/>
              <a:t>5/17/26</a:t>
            </a:fld>
            <a:endParaRPr 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b="0" i="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b="0" i="0">
                <a:solidFill>
                  <a:schemeClr val="tx1">
                    <a:tint val="75000"/>
                  </a:schemeClr>
                </a:solidFill>
                <a:latin typeface="Arial" panose="020B0604020202020204" pitchFamily="34" charset="0"/>
                <a:cs typeface="Arial" panose="020B0604020202020204" pitchFamily="34" charset="0"/>
              </a:defRPr>
            </a:lvl1pPr>
          </a:lstStyle>
          <a:p>
            <a:fld id="{43E0FCCE-2EC3-1049-A592-35D9C6652762}" type="slidenum">
              <a:rPr lang="en-US" smtClean="0"/>
              <a:pPr/>
              <a:t>‹#›</a:t>
            </a:fld>
            <a:endParaRPr lang="en-US"/>
          </a:p>
        </p:txBody>
      </p:sp>
    </p:spTree>
    <p:extLst>
      <p:ext uri="{BB962C8B-B14F-4D97-AF65-F5344CB8AC3E}">
        <p14:creationId xmlns:p14="http://schemas.microsoft.com/office/powerpoint/2010/main" val="2033442270"/>
      </p:ext>
    </p:extLst>
  </p:cSld>
  <p:clrMap bg1="lt1" tx1="dk1" bg2="lt2" tx2="dk2" accent1="accent1" accent2="accent2" accent3="accent3" accent4="accent4" accent5="accent5" accent6="accent6" hlink="hlink" folHlink="folHlink"/>
  <p:sldLayoutIdLst>
    <p:sldLayoutId id="2147483700" r:id="rId1"/>
    <p:sldLayoutId id="2147483698" r:id="rId2"/>
    <p:sldLayoutId id="2147483695" r:id="rId3"/>
    <p:sldLayoutId id="2147483676" r:id="rId4"/>
    <p:sldLayoutId id="2147483703" r:id="rId5"/>
    <p:sldLayoutId id="2147483704" r:id="rId6"/>
    <p:sldLayoutId id="2147483705" r:id="rId7"/>
  </p:sldLayoutIdLst>
  <p:txStyles>
    <p:titleStyle>
      <a:lvl1pPr algn="l" defTabSz="1828709" rtl="0" eaLnBrk="1" latinLnBrk="0" hangingPunct="1">
        <a:lnSpc>
          <a:spcPct val="90000"/>
        </a:lnSpc>
        <a:spcBef>
          <a:spcPct val="0"/>
        </a:spcBef>
        <a:buNone/>
        <a:defRPr sz="7200" b="1" i="0" kern="1200">
          <a:solidFill>
            <a:schemeClr val="accent1"/>
          </a:solidFill>
          <a:latin typeface="Arial" panose="020B0604020202020204" pitchFamily="34" charset="0"/>
          <a:ea typeface="+mj-ea"/>
          <a:cs typeface="Arial" panose="020B0604020202020204" pitchFamily="34" charset="0"/>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b="0" i="0" kern="1200">
          <a:solidFill>
            <a:schemeClr val="tx1"/>
          </a:solidFill>
          <a:latin typeface="Arial" panose="020B0604020202020204" pitchFamily="34" charset="0"/>
          <a:ea typeface="+mn-ea"/>
          <a:cs typeface="Arial" panose="020B0604020202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4800" b="0" i="0" kern="1200">
          <a:solidFill>
            <a:schemeClr val="tx1"/>
          </a:solidFill>
          <a:latin typeface="Arial" panose="020B0604020202020204" pitchFamily="34" charset="0"/>
          <a:ea typeface="+mn-ea"/>
          <a:cs typeface="Arial" panose="020B0604020202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4000" b="0" i="0" kern="1200">
          <a:solidFill>
            <a:schemeClr val="tx1"/>
          </a:solidFill>
          <a:latin typeface="Arial" panose="020B0604020202020204" pitchFamily="34" charset="0"/>
          <a:ea typeface="+mn-ea"/>
          <a:cs typeface="Arial" panose="020B0604020202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4F75-93C1-9D40-86A3-4C13A50E20D0}"/>
              </a:ext>
            </a:extLst>
          </p:cNvPr>
          <p:cNvSpPr>
            <a:spLocks noGrp="1"/>
          </p:cNvSpPr>
          <p:nvPr>
            <p:ph type="ctrTitle"/>
          </p:nvPr>
        </p:nvSpPr>
        <p:spPr/>
        <p:txBody>
          <a:bodyPr/>
          <a:lstStyle/>
          <a:p>
            <a:r>
              <a:rPr lang="en-US" dirty="0"/>
              <a:t>Introduction to modular thinking</a:t>
            </a:r>
          </a:p>
        </p:txBody>
      </p:sp>
    </p:spTree>
    <p:extLst>
      <p:ext uri="{BB962C8B-B14F-4D97-AF65-F5344CB8AC3E}">
        <p14:creationId xmlns:p14="http://schemas.microsoft.com/office/powerpoint/2010/main" val="1088597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C76CB-5933-4F51-D8B5-7E197B2AF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3032F-E78A-AAA9-014D-6139C866B69A}"/>
              </a:ext>
            </a:extLst>
          </p:cNvPr>
          <p:cNvSpPr>
            <a:spLocks noGrp="1"/>
          </p:cNvSpPr>
          <p:nvPr>
            <p:ph type="title"/>
          </p:nvPr>
        </p:nvSpPr>
        <p:spPr/>
        <p:txBody>
          <a:bodyPr>
            <a:normAutofit/>
          </a:bodyPr>
          <a:lstStyle/>
          <a:p>
            <a:r>
              <a:rPr lang="en-CA" sz="9600" dirty="0"/>
              <a:t>Lesson Objectives</a:t>
            </a:r>
          </a:p>
        </p:txBody>
      </p:sp>
      <p:sp>
        <p:nvSpPr>
          <p:cNvPr id="3" name="Content Placeholder 2">
            <a:extLst>
              <a:ext uri="{FF2B5EF4-FFF2-40B4-BE49-F238E27FC236}">
                <a16:creationId xmlns:a16="http://schemas.microsoft.com/office/drawing/2014/main" id="{A4885D3A-655D-86A2-8042-A1D049A6AC98}"/>
              </a:ext>
            </a:extLst>
          </p:cNvPr>
          <p:cNvSpPr>
            <a:spLocks noGrp="1"/>
          </p:cNvSpPr>
          <p:nvPr>
            <p:ph idx="1"/>
          </p:nvPr>
        </p:nvSpPr>
        <p:spPr/>
        <p:txBody>
          <a:bodyPr>
            <a:normAutofit/>
          </a:bodyPr>
          <a:lstStyle/>
          <a:p>
            <a:r>
              <a:rPr lang="en-CA" sz="7200" dirty="0"/>
              <a:t>Define modular thinking and its benefits in problem-solving</a:t>
            </a:r>
          </a:p>
          <a:p>
            <a:r>
              <a:rPr lang="en-CA" sz="7200" dirty="0"/>
              <a:t>Identify logical units within a program that can be modularized</a:t>
            </a:r>
          </a:p>
          <a:p>
            <a:r>
              <a:rPr lang="en-CA" sz="7200" dirty="0"/>
              <a:t>Apply modular thinking to decompose a problem into independent components</a:t>
            </a:r>
          </a:p>
          <a:p>
            <a:pPr marL="0" indent="0">
              <a:buNone/>
            </a:pPr>
            <a:endParaRPr lang="en-CA" sz="7200" dirty="0"/>
          </a:p>
        </p:txBody>
      </p:sp>
    </p:spTree>
    <p:extLst>
      <p:ext uri="{BB962C8B-B14F-4D97-AF65-F5344CB8AC3E}">
        <p14:creationId xmlns:p14="http://schemas.microsoft.com/office/powerpoint/2010/main" val="3254359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32E8B-E711-DDB5-B058-56095930B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26FA7-7F09-9744-0DB0-554BDAEE9D84}"/>
              </a:ext>
            </a:extLst>
          </p:cNvPr>
          <p:cNvSpPr>
            <a:spLocks noGrp="1"/>
          </p:cNvSpPr>
          <p:nvPr>
            <p:ph type="ctrTitle"/>
          </p:nvPr>
        </p:nvSpPr>
        <p:spPr/>
        <p:txBody>
          <a:bodyPr/>
          <a:lstStyle/>
          <a:p>
            <a:r>
              <a:rPr lang="en-US" dirty="0"/>
              <a:t>Modular thinking</a:t>
            </a:r>
          </a:p>
        </p:txBody>
      </p:sp>
    </p:spTree>
    <p:extLst>
      <p:ext uri="{BB962C8B-B14F-4D97-AF65-F5344CB8AC3E}">
        <p14:creationId xmlns:p14="http://schemas.microsoft.com/office/powerpoint/2010/main" val="2126842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63863-BD7A-F737-85C2-C6888041F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57BE3-9ECF-A22A-5A8F-472C15527D6F}"/>
              </a:ext>
            </a:extLst>
          </p:cNvPr>
          <p:cNvSpPr>
            <a:spLocks noGrp="1"/>
          </p:cNvSpPr>
          <p:nvPr>
            <p:ph type="title"/>
          </p:nvPr>
        </p:nvSpPr>
        <p:spPr/>
        <p:txBody>
          <a:bodyPr>
            <a:normAutofit/>
          </a:bodyPr>
          <a:lstStyle/>
          <a:p>
            <a:r>
              <a:rPr lang="en-CA" sz="9600" dirty="0"/>
              <a:t>Modular Thinking</a:t>
            </a:r>
          </a:p>
        </p:txBody>
      </p:sp>
      <p:sp>
        <p:nvSpPr>
          <p:cNvPr id="3" name="Content Placeholder 2">
            <a:extLst>
              <a:ext uri="{FF2B5EF4-FFF2-40B4-BE49-F238E27FC236}">
                <a16:creationId xmlns:a16="http://schemas.microsoft.com/office/drawing/2014/main" id="{9EAEC469-597B-528E-1FE8-C91023BB31B3}"/>
              </a:ext>
            </a:extLst>
          </p:cNvPr>
          <p:cNvSpPr>
            <a:spLocks noGrp="1"/>
          </p:cNvSpPr>
          <p:nvPr>
            <p:ph idx="1"/>
          </p:nvPr>
        </p:nvSpPr>
        <p:spPr>
          <a:xfrm>
            <a:off x="1676291" y="3651250"/>
            <a:ext cx="21029831" cy="7373801"/>
          </a:xfrm>
        </p:spPr>
        <p:txBody>
          <a:bodyPr>
            <a:normAutofit/>
          </a:bodyPr>
          <a:lstStyle/>
          <a:p>
            <a:r>
              <a:rPr lang="en-CA" sz="7200" dirty="0"/>
              <a:t>Break down complex problems</a:t>
            </a:r>
          </a:p>
          <a:p>
            <a:r>
              <a:rPr lang="en-CA" sz="7200" dirty="0"/>
              <a:t>“Modules” are small, independent pieces of logic</a:t>
            </a:r>
          </a:p>
          <a:p>
            <a:r>
              <a:rPr lang="en-CA" sz="7200" dirty="0"/>
              <a:t>Modular thinking takes complex problems and identifies the modules within it</a:t>
            </a:r>
            <a:endParaRPr lang="en-CA" sz="6400" dirty="0"/>
          </a:p>
        </p:txBody>
      </p:sp>
    </p:spTree>
    <p:extLst>
      <p:ext uri="{BB962C8B-B14F-4D97-AF65-F5344CB8AC3E}">
        <p14:creationId xmlns:p14="http://schemas.microsoft.com/office/powerpoint/2010/main" val="404014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63DA0-E2E2-EE3B-1002-CE50BA3D1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2A4F3-31B5-DE96-0DCF-0BCB9340E2D5}"/>
              </a:ext>
            </a:extLst>
          </p:cNvPr>
          <p:cNvSpPr>
            <a:spLocks noGrp="1"/>
          </p:cNvSpPr>
          <p:nvPr>
            <p:ph type="ctrTitle"/>
          </p:nvPr>
        </p:nvSpPr>
        <p:spPr/>
        <p:txBody>
          <a:bodyPr/>
          <a:lstStyle/>
          <a:p>
            <a:r>
              <a:rPr lang="en-US" dirty="0"/>
              <a:t>Modularization</a:t>
            </a:r>
          </a:p>
        </p:txBody>
      </p:sp>
    </p:spTree>
    <p:extLst>
      <p:ext uri="{BB962C8B-B14F-4D97-AF65-F5344CB8AC3E}">
        <p14:creationId xmlns:p14="http://schemas.microsoft.com/office/powerpoint/2010/main" val="1778793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CBBA-49F4-D81F-177D-78DFC023B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C00A6-B2C6-FFB3-BC58-B315710AFD73}"/>
              </a:ext>
            </a:extLst>
          </p:cNvPr>
          <p:cNvSpPr>
            <a:spLocks noGrp="1"/>
          </p:cNvSpPr>
          <p:nvPr>
            <p:ph type="title"/>
          </p:nvPr>
        </p:nvSpPr>
        <p:spPr/>
        <p:txBody>
          <a:bodyPr>
            <a:normAutofit/>
          </a:bodyPr>
          <a:lstStyle/>
          <a:p>
            <a:r>
              <a:rPr lang="en-CA" sz="9600" dirty="0"/>
              <a:t>Decomposition</a:t>
            </a:r>
          </a:p>
        </p:txBody>
      </p:sp>
      <p:sp>
        <p:nvSpPr>
          <p:cNvPr id="3" name="Content Placeholder 2">
            <a:extLst>
              <a:ext uri="{FF2B5EF4-FFF2-40B4-BE49-F238E27FC236}">
                <a16:creationId xmlns:a16="http://schemas.microsoft.com/office/drawing/2014/main" id="{548B3A43-92B3-A93C-13BB-F225B613E823}"/>
              </a:ext>
            </a:extLst>
          </p:cNvPr>
          <p:cNvSpPr>
            <a:spLocks noGrp="1"/>
          </p:cNvSpPr>
          <p:nvPr>
            <p:ph idx="1"/>
          </p:nvPr>
        </p:nvSpPr>
        <p:spPr>
          <a:xfrm>
            <a:off x="1676291" y="3651250"/>
            <a:ext cx="21029831" cy="7373801"/>
          </a:xfrm>
        </p:spPr>
        <p:txBody>
          <a:bodyPr>
            <a:normAutofit/>
          </a:bodyPr>
          <a:lstStyle/>
          <a:p>
            <a:r>
              <a:rPr lang="en-CA" sz="7200" dirty="0"/>
              <a:t>First step of modular thinking</a:t>
            </a:r>
          </a:p>
          <a:p>
            <a:r>
              <a:rPr lang="en-CA" sz="7200" dirty="0"/>
              <a:t>Understand the problem</a:t>
            </a:r>
          </a:p>
          <a:p>
            <a:r>
              <a:rPr lang="en-CA" sz="7200" dirty="0"/>
              <a:t>Identify independent components of a problem</a:t>
            </a:r>
          </a:p>
          <a:p>
            <a:endParaRPr lang="en-CA" sz="6400" dirty="0"/>
          </a:p>
        </p:txBody>
      </p:sp>
    </p:spTree>
    <p:extLst>
      <p:ext uri="{BB962C8B-B14F-4D97-AF65-F5344CB8AC3E}">
        <p14:creationId xmlns:p14="http://schemas.microsoft.com/office/powerpoint/2010/main" val="4165298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582EA-8F32-8504-2375-3CC447824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B1F54-D5D9-EF2B-3DBD-25583B9A10F0}"/>
              </a:ext>
            </a:extLst>
          </p:cNvPr>
          <p:cNvSpPr>
            <a:spLocks noGrp="1"/>
          </p:cNvSpPr>
          <p:nvPr>
            <p:ph type="title"/>
          </p:nvPr>
        </p:nvSpPr>
        <p:spPr/>
        <p:txBody>
          <a:bodyPr>
            <a:normAutofit/>
          </a:bodyPr>
          <a:lstStyle/>
          <a:p>
            <a:r>
              <a:rPr lang="en-CA" sz="9600" dirty="0"/>
              <a:t>Benefits of Modularization</a:t>
            </a:r>
          </a:p>
        </p:txBody>
      </p:sp>
      <p:sp>
        <p:nvSpPr>
          <p:cNvPr id="3" name="Content Placeholder 2">
            <a:extLst>
              <a:ext uri="{FF2B5EF4-FFF2-40B4-BE49-F238E27FC236}">
                <a16:creationId xmlns:a16="http://schemas.microsoft.com/office/drawing/2014/main" id="{622DD681-30D1-7CEB-9600-B6D1AD62CCF0}"/>
              </a:ext>
            </a:extLst>
          </p:cNvPr>
          <p:cNvSpPr>
            <a:spLocks noGrp="1"/>
          </p:cNvSpPr>
          <p:nvPr>
            <p:ph idx="1"/>
          </p:nvPr>
        </p:nvSpPr>
        <p:spPr>
          <a:xfrm>
            <a:off x="1676291" y="3651250"/>
            <a:ext cx="21029831" cy="7373801"/>
          </a:xfrm>
        </p:spPr>
        <p:txBody>
          <a:bodyPr>
            <a:normAutofit/>
          </a:bodyPr>
          <a:lstStyle/>
          <a:p>
            <a:r>
              <a:rPr lang="en-CA" sz="7200" dirty="0"/>
              <a:t>Faster development</a:t>
            </a:r>
          </a:p>
          <a:p>
            <a:r>
              <a:rPr lang="en-CA" sz="7200" dirty="0"/>
              <a:t>Reusability</a:t>
            </a:r>
          </a:p>
          <a:p>
            <a:r>
              <a:rPr lang="en-CA" sz="7200" dirty="0"/>
              <a:t>Readability</a:t>
            </a:r>
          </a:p>
          <a:p>
            <a:r>
              <a:rPr lang="en-CA" sz="7200" dirty="0"/>
              <a:t>Easier debugging</a:t>
            </a:r>
          </a:p>
          <a:p>
            <a:r>
              <a:rPr lang="en-CA" sz="7200" dirty="0"/>
              <a:t>Easier testing</a:t>
            </a:r>
          </a:p>
          <a:p>
            <a:endParaRPr lang="en-CA" sz="6400" dirty="0"/>
          </a:p>
        </p:txBody>
      </p:sp>
    </p:spTree>
    <p:extLst>
      <p:ext uri="{BB962C8B-B14F-4D97-AF65-F5344CB8AC3E}">
        <p14:creationId xmlns:p14="http://schemas.microsoft.com/office/powerpoint/2010/main" val="351419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91E49-3C25-D18E-1B7C-3F25BBC88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47036-B7FD-E868-EA92-009F2A6BCA24}"/>
              </a:ext>
            </a:extLst>
          </p:cNvPr>
          <p:cNvSpPr>
            <a:spLocks noGrp="1"/>
          </p:cNvSpPr>
          <p:nvPr>
            <p:ph type="title"/>
          </p:nvPr>
        </p:nvSpPr>
        <p:spPr/>
        <p:txBody>
          <a:bodyPr>
            <a:normAutofit/>
          </a:bodyPr>
          <a:lstStyle/>
          <a:p>
            <a:r>
              <a:rPr lang="en-CA" sz="9600" dirty="0"/>
              <a:t>Module Design</a:t>
            </a:r>
          </a:p>
        </p:txBody>
      </p:sp>
      <p:sp>
        <p:nvSpPr>
          <p:cNvPr id="3" name="Content Placeholder 2">
            <a:extLst>
              <a:ext uri="{FF2B5EF4-FFF2-40B4-BE49-F238E27FC236}">
                <a16:creationId xmlns:a16="http://schemas.microsoft.com/office/drawing/2014/main" id="{3713500E-A9CF-A212-6B53-F436E2941701}"/>
              </a:ext>
            </a:extLst>
          </p:cNvPr>
          <p:cNvSpPr>
            <a:spLocks noGrp="1"/>
          </p:cNvSpPr>
          <p:nvPr>
            <p:ph idx="1"/>
          </p:nvPr>
        </p:nvSpPr>
        <p:spPr>
          <a:xfrm>
            <a:off x="1676291" y="3651250"/>
            <a:ext cx="21029831" cy="7373801"/>
          </a:xfrm>
        </p:spPr>
        <p:txBody>
          <a:bodyPr>
            <a:normAutofit/>
          </a:bodyPr>
          <a:lstStyle/>
          <a:p>
            <a:r>
              <a:rPr lang="en-CA" sz="7200" dirty="0"/>
              <a:t>Reusable</a:t>
            </a:r>
          </a:p>
          <a:p>
            <a:r>
              <a:rPr lang="en-CA" sz="7200" dirty="0"/>
              <a:t>Independent</a:t>
            </a:r>
          </a:p>
          <a:p>
            <a:r>
              <a:rPr lang="en-CA" sz="7200" dirty="0"/>
              <a:t>Have a specific purpose</a:t>
            </a:r>
          </a:p>
          <a:p>
            <a:r>
              <a:rPr lang="en-CA" sz="7200" dirty="0"/>
              <a:t>Can be separately tested</a:t>
            </a:r>
          </a:p>
          <a:p>
            <a:r>
              <a:rPr lang="en-CA" sz="7200" dirty="0"/>
              <a:t>Can be separately updated</a:t>
            </a:r>
          </a:p>
          <a:p>
            <a:endParaRPr lang="en-CA" sz="6400" dirty="0"/>
          </a:p>
        </p:txBody>
      </p:sp>
    </p:spTree>
    <p:extLst>
      <p:ext uri="{BB962C8B-B14F-4D97-AF65-F5344CB8AC3E}">
        <p14:creationId xmlns:p14="http://schemas.microsoft.com/office/powerpoint/2010/main" val="506044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21E4B-316C-0143-6027-FE927B09D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3A50B-74BD-0D5D-5522-D2D0FF0672AD}"/>
              </a:ext>
            </a:extLst>
          </p:cNvPr>
          <p:cNvSpPr>
            <a:spLocks noGrp="1"/>
          </p:cNvSpPr>
          <p:nvPr>
            <p:ph type="ctrTitle"/>
          </p:nvPr>
        </p:nvSpPr>
        <p:spPr/>
        <p:txBody>
          <a:bodyPr/>
          <a:lstStyle/>
          <a:p>
            <a:r>
              <a:rPr lang="en-US" dirty="0"/>
              <a:t>Build a birdhouse</a:t>
            </a:r>
          </a:p>
        </p:txBody>
      </p:sp>
    </p:spTree>
    <p:extLst>
      <p:ext uri="{BB962C8B-B14F-4D97-AF65-F5344CB8AC3E}">
        <p14:creationId xmlns:p14="http://schemas.microsoft.com/office/powerpoint/2010/main" val="3950136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4A203-F513-8ADA-24FC-24CBA11AD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60771-F8FC-BFB9-E6F4-546846179B6E}"/>
              </a:ext>
            </a:extLst>
          </p:cNvPr>
          <p:cNvSpPr>
            <a:spLocks noGrp="1"/>
          </p:cNvSpPr>
          <p:nvPr>
            <p:ph type="title"/>
          </p:nvPr>
        </p:nvSpPr>
        <p:spPr/>
        <p:txBody>
          <a:bodyPr>
            <a:normAutofit/>
          </a:bodyPr>
          <a:lstStyle/>
          <a:p>
            <a:r>
              <a:rPr lang="en-CA" sz="9600" dirty="0"/>
              <a:t>Birdhouse Problem Statement</a:t>
            </a:r>
          </a:p>
        </p:txBody>
      </p:sp>
      <p:sp>
        <p:nvSpPr>
          <p:cNvPr id="3" name="Content Placeholder 2">
            <a:extLst>
              <a:ext uri="{FF2B5EF4-FFF2-40B4-BE49-F238E27FC236}">
                <a16:creationId xmlns:a16="http://schemas.microsoft.com/office/drawing/2014/main" id="{56C790A2-7BB2-8345-62A3-4DC46D9F9796}"/>
              </a:ext>
            </a:extLst>
          </p:cNvPr>
          <p:cNvSpPr>
            <a:spLocks noGrp="1"/>
          </p:cNvSpPr>
          <p:nvPr>
            <p:ph idx="1"/>
          </p:nvPr>
        </p:nvSpPr>
        <p:spPr>
          <a:xfrm>
            <a:off x="1676291" y="2930814"/>
            <a:ext cx="21029831" cy="9039514"/>
          </a:xfrm>
        </p:spPr>
        <p:txBody>
          <a:bodyPr>
            <a:normAutofit/>
          </a:bodyPr>
          <a:lstStyle/>
          <a:p>
            <a:pPr marL="0" indent="0">
              <a:lnSpc>
                <a:spcPct val="150000"/>
              </a:lnSpc>
              <a:buNone/>
            </a:pPr>
            <a:r>
              <a:rPr lang="en-CA" sz="8000" dirty="0"/>
              <a:t>You are required to build a four-sided birdhouse. It must be 30 cm tall, 20 cm wide, and 15 cm deep. It must have 3 cm holes in two of the four sides. You are given a basket of screws and two planks of wood.</a:t>
            </a:r>
          </a:p>
        </p:txBody>
      </p:sp>
    </p:spTree>
    <p:extLst>
      <p:ext uri="{BB962C8B-B14F-4D97-AF65-F5344CB8AC3E}">
        <p14:creationId xmlns:p14="http://schemas.microsoft.com/office/powerpoint/2010/main" val="3807893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F02D-C3B2-4EA0-541E-CC4338D9D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F5807-721A-C046-227C-FCF0F5FFF304}"/>
              </a:ext>
            </a:extLst>
          </p:cNvPr>
          <p:cNvSpPr>
            <a:spLocks noGrp="1"/>
          </p:cNvSpPr>
          <p:nvPr>
            <p:ph type="title"/>
          </p:nvPr>
        </p:nvSpPr>
        <p:spPr/>
        <p:txBody>
          <a:bodyPr>
            <a:normAutofit/>
          </a:bodyPr>
          <a:lstStyle/>
          <a:p>
            <a:r>
              <a:rPr lang="en-CA" sz="9600" dirty="0"/>
              <a:t>Birdhouse Requirements</a:t>
            </a:r>
          </a:p>
        </p:txBody>
      </p:sp>
      <p:sp>
        <p:nvSpPr>
          <p:cNvPr id="3" name="Content Placeholder 2">
            <a:extLst>
              <a:ext uri="{FF2B5EF4-FFF2-40B4-BE49-F238E27FC236}">
                <a16:creationId xmlns:a16="http://schemas.microsoft.com/office/drawing/2014/main" id="{9D0484A8-766A-DEEB-9B20-12C70A5D6E06}"/>
              </a:ext>
            </a:extLst>
          </p:cNvPr>
          <p:cNvSpPr>
            <a:spLocks noGrp="1"/>
          </p:cNvSpPr>
          <p:nvPr>
            <p:ph idx="1"/>
          </p:nvPr>
        </p:nvSpPr>
        <p:spPr>
          <a:xfrm>
            <a:off x="1676291" y="3651250"/>
            <a:ext cx="21029831" cy="7373801"/>
          </a:xfrm>
        </p:spPr>
        <p:txBody>
          <a:bodyPr>
            <a:normAutofit/>
          </a:bodyPr>
          <a:lstStyle/>
          <a:p>
            <a:r>
              <a:rPr lang="en-CA" sz="7200" dirty="0"/>
              <a:t>30 x 20 x 15 cm</a:t>
            </a:r>
          </a:p>
          <a:p>
            <a:r>
              <a:rPr lang="en-CA" sz="7200" dirty="0"/>
              <a:t>Two 3 cm holes</a:t>
            </a:r>
          </a:p>
          <a:p>
            <a:r>
              <a:rPr lang="en-CA" sz="7200" dirty="0"/>
              <a:t>We only have screws</a:t>
            </a:r>
          </a:p>
          <a:p>
            <a:r>
              <a:rPr lang="en-CA" sz="7200" dirty="0"/>
              <a:t>We only have two planks of wood</a:t>
            </a:r>
          </a:p>
          <a:p>
            <a:endParaRPr lang="en-CA" sz="6400" dirty="0"/>
          </a:p>
        </p:txBody>
      </p:sp>
    </p:spTree>
    <p:extLst>
      <p:ext uri="{BB962C8B-B14F-4D97-AF65-F5344CB8AC3E}">
        <p14:creationId xmlns:p14="http://schemas.microsoft.com/office/powerpoint/2010/main" val="1541175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ECBBA-F324-6FD0-7F1C-44CF5C6FF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CF0A5-CAB7-9D5A-3E90-F7D08B930001}"/>
              </a:ext>
            </a:extLst>
          </p:cNvPr>
          <p:cNvSpPr>
            <a:spLocks noGrp="1"/>
          </p:cNvSpPr>
          <p:nvPr>
            <p:ph type="title"/>
          </p:nvPr>
        </p:nvSpPr>
        <p:spPr/>
        <p:txBody>
          <a:bodyPr>
            <a:normAutofit/>
          </a:bodyPr>
          <a:lstStyle/>
          <a:p>
            <a:r>
              <a:rPr lang="en-CA" sz="9600" dirty="0"/>
              <a:t>Birdhouse Processes</a:t>
            </a:r>
          </a:p>
        </p:txBody>
      </p:sp>
      <p:sp>
        <p:nvSpPr>
          <p:cNvPr id="3" name="Content Placeholder 2">
            <a:extLst>
              <a:ext uri="{FF2B5EF4-FFF2-40B4-BE49-F238E27FC236}">
                <a16:creationId xmlns:a16="http://schemas.microsoft.com/office/drawing/2014/main" id="{6A082BB6-9FB4-4BD3-6E3A-AF3EA056982D}"/>
              </a:ext>
            </a:extLst>
          </p:cNvPr>
          <p:cNvSpPr>
            <a:spLocks noGrp="1"/>
          </p:cNvSpPr>
          <p:nvPr>
            <p:ph idx="1"/>
          </p:nvPr>
        </p:nvSpPr>
        <p:spPr>
          <a:xfrm>
            <a:off x="1676291" y="3651250"/>
            <a:ext cx="21029831" cy="7373801"/>
          </a:xfrm>
        </p:spPr>
        <p:txBody>
          <a:bodyPr>
            <a:normAutofit/>
          </a:bodyPr>
          <a:lstStyle/>
          <a:p>
            <a:r>
              <a:rPr lang="en-CA" sz="7200" dirty="0"/>
              <a:t>Measuring the size of the birdhouse and the holes</a:t>
            </a:r>
          </a:p>
          <a:p>
            <a:r>
              <a:rPr lang="en-CA" sz="7200" dirty="0"/>
              <a:t>Cutting the wood to make four sides</a:t>
            </a:r>
          </a:p>
          <a:p>
            <a:r>
              <a:rPr lang="en-CA" sz="7200" dirty="0"/>
              <a:t>Drilling holes into the wood</a:t>
            </a:r>
          </a:p>
          <a:p>
            <a:r>
              <a:rPr lang="en-CA" sz="7200" dirty="0"/>
              <a:t>Screwing pieces of wood together</a:t>
            </a:r>
          </a:p>
          <a:p>
            <a:endParaRPr lang="en-CA" sz="6400" dirty="0"/>
          </a:p>
        </p:txBody>
      </p:sp>
    </p:spTree>
    <p:extLst>
      <p:ext uri="{BB962C8B-B14F-4D97-AF65-F5344CB8AC3E}">
        <p14:creationId xmlns:p14="http://schemas.microsoft.com/office/powerpoint/2010/main" val="897079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8202C-66A8-E331-ABF7-CCCCCBED9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64EBD-8A25-743A-8748-25D734D58F37}"/>
              </a:ext>
            </a:extLst>
          </p:cNvPr>
          <p:cNvSpPr>
            <a:spLocks noGrp="1"/>
          </p:cNvSpPr>
          <p:nvPr>
            <p:ph type="title"/>
          </p:nvPr>
        </p:nvSpPr>
        <p:spPr/>
        <p:txBody>
          <a:bodyPr>
            <a:normAutofit/>
          </a:bodyPr>
          <a:lstStyle/>
          <a:p>
            <a:r>
              <a:rPr lang="en-CA" sz="9600" dirty="0"/>
              <a:t>MEASURE Module</a:t>
            </a:r>
          </a:p>
        </p:txBody>
      </p:sp>
      <p:sp>
        <p:nvSpPr>
          <p:cNvPr id="3" name="Content Placeholder 2">
            <a:extLst>
              <a:ext uri="{FF2B5EF4-FFF2-40B4-BE49-F238E27FC236}">
                <a16:creationId xmlns:a16="http://schemas.microsoft.com/office/drawing/2014/main" id="{699B84E9-A152-5C52-358C-B0F1A283C7D7}"/>
              </a:ext>
            </a:extLst>
          </p:cNvPr>
          <p:cNvSpPr>
            <a:spLocks noGrp="1"/>
          </p:cNvSpPr>
          <p:nvPr>
            <p:ph idx="1"/>
          </p:nvPr>
        </p:nvSpPr>
        <p:spPr>
          <a:xfrm>
            <a:off x="1676291" y="3651250"/>
            <a:ext cx="21029831" cy="7373801"/>
          </a:xfrm>
        </p:spPr>
        <p:txBody>
          <a:bodyPr>
            <a:normAutofit/>
          </a:bodyPr>
          <a:lstStyle/>
          <a:p>
            <a:pPr marL="1143000" indent="-1143000">
              <a:buAutoNum type="arabicPeriod"/>
            </a:pPr>
            <a:r>
              <a:rPr lang="en-CA" sz="6400" dirty="0"/>
              <a:t>Get a ruler</a:t>
            </a:r>
          </a:p>
          <a:p>
            <a:pPr marL="1143000" indent="-1143000">
              <a:buAutoNum type="arabicPeriod"/>
            </a:pPr>
            <a:r>
              <a:rPr lang="en-CA" sz="6400" dirty="0"/>
              <a:t>Take the piece of wood to measure</a:t>
            </a:r>
          </a:p>
          <a:p>
            <a:pPr marL="1143000" indent="-1143000">
              <a:buAutoNum type="arabicPeriod"/>
            </a:pPr>
            <a:r>
              <a:rPr lang="en-CA" sz="6400" dirty="0"/>
              <a:t>Place the ruler on the piece of wood</a:t>
            </a:r>
          </a:p>
          <a:p>
            <a:pPr marL="1143000" indent="-1143000">
              <a:buAutoNum type="arabicPeriod"/>
            </a:pPr>
            <a:r>
              <a:rPr lang="en-CA" sz="6400" dirty="0"/>
              <a:t>Use a pencil to mark the desired length</a:t>
            </a:r>
          </a:p>
        </p:txBody>
      </p:sp>
    </p:spTree>
    <p:extLst>
      <p:ext uri="{BB962C8B-B14F-4D97-AF65-F5344CB8AC3E}">
        <p14:creationId xmlns:p14="http://schemas.microsoft.com/office/powerpoint/2010/main" val="365960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0A986-A9D3-F609-859F-54DDC265C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1A002-5A4E-872C-3352-0AB08A759FA0}"/>
              </a:ext>
            </a:extLst>
          </p:cNvPr>
          <p:cNvSpPr>
            <a:spLocks noGrp="1"/>
          </p:cNvSpPr>
          <p:nvPr>
            <p:ph type="title"/>
          </p:nvPr>
        </p:nvSpPr>
        <p:spPr/>
        <p:txBody>
          <a:bodyPr>
            <a:normAutofit/>
          </a:bodyPr>
          <a:lstStyle/>
          <a:p>
            <a:r>
              <a:rPr lang="en-CA" sz="9600" dirty="0"/>
              <a:t>MEASURE Module</a:t>
            </a:r>
          </a:p>
        </p:txBody>
      </p:sp>
      <p:sp>
        <p:nvSpPr>
          <p:cNvPr id="3" name="Content Placeholder 2">
            <a:extLst>
              <a:ext uri="{FF2B5EF4-FFF2-40B4-BE49-F238E27FC236}">
                <a16:creationId xmlns:a16="http://schemas.microsoft.com/office/drawing/2014/main" id="{ACFCA2E3-6503-C41B-85FE-584A234E5442}"/>
              </a:ext>
            </a:extLst>
          </p:cNvPr>
          <p:cNvSpPr>
            <a:spLocks noGrp="1"/>
          </p:cNvSpPr>
          <p:nvPr>
            <p:ph idx="1"/>
          </p:nvPr>
        </p:nvSpPr>
        <p:spPr>
          <a:xfrm>
            <a:off x="1676291" y="3651250"/>
            <a:ext cx="21029831" cy="7373801"/>
          </a:xfrm>
        </p:spPr>
        <p:txBody>
          <a:bodyPr>
            <a:normAutofit/>
          </a:bodyPr>
          <a:lstStyle/>
          <a:p>
            <a:r>
              <a:rPr lang="en-CA" sz="6400" dirty="0"/>
              <a:t>Reusable? Yes</a:t>
            </a:r>
          </a:p>
          <a:p>
            <a:r>
              <a:rPr lang="en-CA" sz="6400" dirty="0"/>
              <a:t>Independent? Yes</a:t>
            </a:r>
          </a:p>
          <a:p>
            <a:r>
              <a:rPr lang="en-CA" sz="6400" dirty="0"/>
              <a:t>Specific purpose? Yes</a:t>
            </a:r>
          </a:p>
          <a:p>
            <a:r>
              <a:rPr lang="en-CA" sz="6400" dirty="0"/>
              <a:t>Separately testable? Yes</a:t>
            </a:r>
          </a:p>
          <a:p>
            <a:r>
              <a:rPr lang="en-CA" sz="6400" dirty="0"/>
              <a:t>Separately updated? Yes</a:t>
            </a:r>
          </a:p>
          <a:p>
            <a:endParaRPr lang="en-CA" sz="6400" dirty="0"/>
          </a:p>
        </p:txBody>
      </p:sp>
    </p:spTree>
    <p:extLst>
      <p:ext uri="{BB962C8B-B14F-4D97-AF65-F5344CB8AC3E}">
        <p14:creationId xmlns:p14="http://schemas.microsoft.com/office/powerpoint/2010/main" val="2675468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E35F3-0DAC-BB7D-6A39-2D5EC7214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21105-C733-1DD5-18CE-3DFCE23AD0D4}"/>
              </a:ext>
            </a:extLst>
          </p:cNvPr>
          <p:cNvSpPr>
            <a:spLocks noGrp="1"/>
          </p:cNvSpPr>
          <p:nvPr>
            <p:ph type="title"/>
          </p:nvPr>
        </p:nvSpPr>
        <p:spPr/>
        <p:txBody>
          <a:bodyPr>
            <a:normAutofit/>
          </a:bodyPr>
          <a:lstStyle/>
          <a:p>
            <a:r>
              <a:rPr lang="en-CA" sz="9600" dirty="0"/>
              <a:t>CUT Module</a:t>
            </a:r>
          </a:p>
        </p:txBody>
      </p:sp>
      <p:sp>
        <p:nvSpPr>
          <p:cNvPr id="3" name="Content Placeholder 2">
            <a:extLst>
              <a:ext uri="{FF2B5EF4-FFF2-40B4-BE49-F238E27FC236}">
                <a16:creationId xmlns:a16="http://schemas.microsoft.com/office/drawing/2014/main" id="{F9D51083-CC7B-4819-8A37-FB0AFED9432E}"/>
              </a:ext>
            </a:extLst>
          </p:cNvPr>
          <p:cNvSpPr>
            <a:spLocks noGrp="1"/>
          </p:cNvSpPr>
          <p:nvPr>
            <p:ph idx="1"/>
          </p:nvPr>
        </p:nvSpPr>
        <p:spPr>
          <a:xfrm>
            <a:off x="1676291" y="3651250"/>
            <a:ext cx="21029831" cy="7373801"/>
          </a:xfrm>
        </p:spPr>
        <p:txBody>
          <a:bodyPr>
            <a:normAutofit/>
          </a:bodyPr>
          <a:lstStyle/>
          <a:p>
            <a:pPr marL="1143000" indent="-1143000">
              <a:buAutoNum type="arabicPeriod"/>
            </a:pPr>
            <a:r>
              <a:rPr lang="en-CA" sz="6400" dirty="0"/>
              <a:t>Get a wood saw</a:t>
            </a:r>
          </a:p>
          <a:p>
            <a:pPr marL="1143000" indent="-1143000">
              <a:buAutoNum type="arabicPeriod"/>
            </a:pPr>
            <a:r>
              <a:rPr lang="en-CA" sz="6400" b="1" dirty="0"/>
              <a:t>MEASURE</a:t>
            </a:r>
            <a:r>
              <a:rPr lang="en-CA" sz="6400" dirty="0"/>
              <a:t> the length of wood</a:t>
            </a:r>
          </a:p>
          <a:p>
            <a:pPr marL="1143000" indent="-1143000">
              <a:buAutoNum type="arabicPeriod"/>
            </a:pPr>
            <a:r>
              <a:rPr lang="en-CA" sz="6400" dirty="0"/>
              <a:t>Place the saw on the marked location of the board</a:t>
            </a:r>
          </a:p>
          <a:p>
            <a:pPr marL="1143000" indent="-1143000">
              <a:buAutoNum type="arabicPeriod"/>
            </a:pPr>
            <a:r>
              <a:rPr lang="en-CA" sz="6400" dirty="0"/>
              <a:t>Move the saw back and forth with downward pressure until the board is cut</a:t>
            </a:r>
          </a:p>
        </p:txBody>
      </p:sp>
    </p:spTree>
    <p:extLst>
      <p:ext uri="{BB962C8B-B14F-4D97-AF65-F5344CB8AC3E}">
        <p14:creationId xmlns:p14="http://schemas.microsoft.com/office/powerpoint/2010/main" val="3332022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9E851-92B4-DB2F-A03F-EDA95A1B8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7AC17-ADC6-F087-FE1B-BC034148BBDD}"/>
              </a:ext>
            </a:extLst>
          </p:cNvPr>
          <p:cNvSpPr>
            <a:spLocks noGrp="1"/>
          </p:cNvSpPr>
          <p:nvPr>
            <p:ph type="title"/>
          </p:nvPr>
        </p:nvSpPr>
        <p:spPr/>
        <p:txBody>
          <a:bodyPr>
            <a:normAutofit/>
          </a:bodyPr>
          <a:lstStyle/>
          <a:p>
            <a:r>
              <a:rPr lang="en-CA" sz="9600" dirty="0"/>
              <a:t>CUT Module</a:t>
            </a:r>
          </a:p>
        </p:txBody>
      </p:sp>
      <p:sp>
        <p:nvSpPr>
          <p:cNvPr id="3" name="Content Placeholder 2">
            <a:extLst>
              <a:ext uri="{FF2B5EF4-FFF2-40B4-BE49-F238E27FC236}">
                <a16:creationId xmlns:a16="http://schemas.microsoft.com/office/drawing/2014/main" id="{FCC96A8D-E3E9-0863-13DA-6B956D0FC641}"/>
              </a:ext>
            </a:extLst>
          </p:cNvPr>
          <p:cNvSpPr>
            <a:spLocks noGrp="1"/>
          </p:cNvSpPr>
          <p:nvPr>
            <p:ph idx="1"/>
          </p:nvPr>
        </p:nvSpPr>
        <p:spPr>
          <a:xfrm>
            <a:off x="1676291" y="3651250"/>
            <a:ext cx="21029831" cy="7373801"/>
          </a:xfrm>
        </p:spPr>
        <p:txBody>
          <a:bodyPr>
            <a:normAutofit/>
          </a:bodyPr>
          <a:lstStyle/>
          <a:p>
            <a:r>
              <a:rPr lang="en-CA" sz="6400" dirty="0"/>
              <a:t>Reusable?</a:t>
            </a:r>
          </a:p>
          <a:p>
            <a:r>
              <a:rPr lang="en-CA" sz="6400" dirty="0"/>
              <a:t>Independent?</a:t>
            </a:r>
          </a:p>
          <a:p>
            <a:r>
              <a:rPr lang="en-CA" sz="6400" dirty="0"/>
              <a:t>Specific purpose?</a:t>
            </a:r>
          </a:p>
          <a:p>
            <a:r>
              <a:rPr lang="en-CA" sz="6400" dirty="0"/>
              <a:t>Separately testable?</a:t>
            </a:r>
          </a:p>
          <a:p>
            <a:r>
              <a:rPr lang="en-CA" sz="6400" dirty="0"/>
              <a:t>Separately updated?</a:t>
            </a:r>
          </a:p>
          <a:p>
            <a:endParaRPr lang="en-CA" sz="6400" dirty="0"/>
          </a:p>
        </p:txBody>
      </p:sp>
    </p:spTree>
    <p:extLst>
      <p:ext uri="{BB962C8B-B14F-4D97-AF65-F5344CB8AC3E}">
        <p14:creationId xmlns:p14="http://schemas.microsoft.com/office/powerpoint/2010/main" val="394485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972F-7BCC-0D90-0C05-70FD571E6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BE3F0-BA86-71FA-AF8D-36C594C1BEB8}"/>
              </a:ext>
            </a:extLst>
          </p:cNvPr>
          <p:cNvSpPr>
            <a:spLocks noGrp="1"/>
          </p:cNvSpPr>
          <p:nvPr>
            <p:ph type="title"/>
          </p:nvPr>
        </p:nvSpPr>
        <p:spPr/>
        <p:txBody>
          <a:bodyPr>
            <a:normAutofit/>
          </a:bodyPr>
          <a:lstStyle/>
          <a:p>
            <a:r>
              <a:rPr lang="en-CA" sz="9600" dirty="0"/>
              <a:t>DRILL Module</a:t>
            </a:r>
          </a:p>
        </p:txBody>
      </p:sp>
      <p:sp>
        <p:nvSpPr>
          <p:cNvPr id="3" name="Content Placeholder 2">
            <a:extLst>
              <a:ext uri="{FF2B5EF4-FFF2-40B4-BE49-F238E27FC236}">
                <a16:creationId xmlns:a16="http://schemas.microsoft.com/office/drawing/2014/main" id="{33C81C1A-0089-7CF3-2C90-2442406F553E}"/>
              </a:ext>
            </a:extLst>
          </p:cNvPr>
          <p:cNvSpPr>
            <a:spLocks noGrp="1"/>
          </p:cNvSpPr>
          <p:nvPr>
            <p:ph idx="1"/>
          </p:nvPr>
        </p:nvSpPr>
        <p:spPr>
          <a:xfrm>
            <a:off x="1676291" y="3651250"/>
            <a:ext cx="21029831" cy="7373801"/>
          </a:xfrm>
        </p:spPr>
        <p:txBody>
          <a:bodyPr>
            <a:normAutofit/>
          </a:bodyPr>
          <a:lstStyle/>
          <a:p>
            <a:pPr marL="1143000" indent="-1143000">
              <a:buAutoNum type="arabicPeriod"/>
            </a:pPr>
            <a:r>
              <a:rPr lang="en-CA" sz="6400" dirty="0"/>
              <a:t>Get a ruler</a:t>
            </a:r>
          </a:p>
          <a:p>
            <a:pPr marL="1143000" indent="-1143000">
              <a:buAutoNum type="arabicPeriod"/>
            </a:pPr>
            <a:r>
              <a:rPr lang="en-CA" sz="6600" dirty="0"/>
              <a:t>Take the piece of wood you wish to measure</a:t>
            </a:r>
          </a:p>
          <a:p>
            <a:pPr marL="1143000" indent="-1143000">
              <a:buAutoNum type="arabicPeriod"/>
            </a:pPr>
            <a:r>
              <a:rPr lang="en-CA" sz="6600" dirty="0"/>
              <a:t>Use a pencil to mark the desired length (of where the hole will go)</a:t>
            </a:r>
            <a:endParaRPr lang="en-CA" sz="6400" dirty="0"/>
          </a:p>
          <a:p>
            <a:pPr marL="1143000" indent="-1143000">
              <a:buAutoNum type="arabicPeriod"/>
            </a:pPr>
            <a:r>
              <a:rPr lang="en-CA" sz="6400" dirty="0"/>
              <a:t>Grab a drill</a:t>
            </a:r>
          </a:p>
          <a:p>
            <a:pPr marL="1143000" indent="-1143000">
              <a:buAutoNum type="arabicPeriod"/>
            </a:pPr>
            <a:r>
              <a:rPr lang="en-CA" sz="6400" dirty="0"/>
              <a:t>Drill the hole</a:t>
            </a:r>
          </a:p>
        </p:txBody>
      </p:sp>
    </p:spTree>
    <p:extLst>
      <p:ext uri="{BB962C8B-B14F-4D97-AF65-F5344CB8AC3E}">
        <p14:creationId xmlns:p14="http://schemas.microsoft.com/office/powerpoint/2010/main" val="159588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A2EA-6761-1B13-C1A0-AD2CDFC75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4C560-F873-1022-5617-8D7C93EA843C}"/>
              </a:ext>
            </a:extLst>
          </p:cNvPr>
          <p:cNvSpPr>
            <a:spLocks noGrp="1"/>
          </p:cNvSpPr>
          <p:nvPr>
            <p:ph type="title"/>
          </p:nvPr>
        </p:nvSpPr>
        <p:spPr/>
        <p:txBody>
          <a:bodyPr>
            <a:normAutofit/>
          </a:bodyPr>
          <a:lstStyle/>
          <a:p>
            <a:r>
              <a:rPr lang="en-CA" sz="9600" dirty="0"/>
              <a:t>DRILL Module</a:t>
            </a:r>
          </a:p>
        </p:txBody>
      </p:sp>
      <p:sp>
        <p:nvSpPr>
          <p:cNvPr id="3" name="Content Placeholder 2">
            <a:extLst>
              <a:ext uri="{FF2B5EF4-FFF2-40B4-BE49-F238E27FC236}">
                <a16:creationId xmlns:a16="http://schemas.microsoft.com/office/drawing/2014/main" id="{73D18060-93CC-09BB-35EC-F430BB52F87B}"/>
              </a:ext>
            </a:extLst>
          </p:cNvPr>
          <p:cNvSpPr>
            <a:spLocks noGrp="1"/>
          </p:cNvSpPr>
          <p:nvPr>
            <p:ph idx="1"/>
          </p:nvPr>
        </p:nvSpPr>
        <p:spPr>
          <a:xfrm>
            <a:off x="1676291" y="3651250"/>
            <a:ext cx="21029831" cy="7373801"/>
          </a:xfrm>
        </p:spPr>
        <p:txBody>
          <a:bodyPr>
            <a:normAutofit/>
          </a:bodyPr>
          <a:lstStyle/>
          <a:p>
            <a:r>
              <a:rPr lang="en-CA" sz="6400" dirty="0"/>
              <a:t>Reusable?</a:t>
            </a:r>
          </a:p>
          <a:p>
            <a:r>
              <a:rPr lang="en-CA" sz="6400" dirty="0"/>
              <a:t>Independent?</a:t>
            </a:r>
          </a:p>
          <a:p>
            <a:r>
              <a:rPr lang="en-CA" sz="6400" dirty="0"/>
              <a:t>Specific purpose?</a:t>
            </a:r>
          </a:p>
          <a:p>
            <a:r>
              <a:rPr lang="en-CA" sz="6400" dirty="0"/>
              <a:t>Separately testable?</a:t>
            </a:r>
          </a:p>
          <a:p>
            <a:r>
              <a:rPr lang="en-CA" sz="6400" dirty="0"/>
              <a:t>Separately updated?</a:t>
            </a:r>
          </a:p>
          <a:p>
            <a:endParaRPr lang="en-CA" sz="6400" dirty="0"/>
          </a:p>
        </p:txBody>
      </p:sp>
    </p:spTree>
    <p:extLst>
      <p:ext uri="{BB962C8B-B14F-4D97-AF65-F5344CB8AC3E}">
        <p14:creationId xmlns:p14="http://schemas.microsoft.com/office/powerpoint/2010/main" val="2313819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4D568-58CE-F734-4B13-FB46DB63F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1828E-6120-08E5-2B0B-F4BAAA599AC4}"/>
              </a:ext>
            </a:extLst>
          </p:cNvPr>
          <p:cNvSpPr>
            <a:spLocks noGrp="1"/>
          </p:cNvSpPr>
          <p:nvPr>
            <p:ph type="title"/>
          </p:nvPr>
        </p:nvSpPr>
        <p:spPr/>
        <p:txBody>
          <a:bodyPr>
            <a:normAutofit/>
          </a:bodyPr>
          <a:lstStyle/>
          <a:p>
            <a:r>
              <a:rPr lang="en-CA" sz="9600" dirty="0"/>
              <a:t>DRILL Module</a:t>
            </a:r>
          </a:p>
        </p:txBody>
      </p:sp>
      <p:sp>
        <p:nvSpPr>
          <p:cNvPr id="3" name="Content Placeholder 2">
            <a:extLst>
              <a:ext uri="{FF2B5EF4-FFF2-40B4-BE49-F238E27FC236}">
                <a16:creationId xmlns:a16="http://schemas.microsoft.com/office/drawing/2014/main" id="{B57F6200-E3BD-C21A-7F10-D7FEC6999132}"/>
              </a:ext>
            </a:extLst>
          </p:cNvPr>
          <p:cNvSpPr>
            <a:spLocks noGrp="1"/>
          </p:cNvSpPr>
          <p:nvPr>
            <p:ph idx="1"/>
          </p:nvPr>
        </p:nvSpPr>
        <p:spPr>
          <a:xfrm>
            <a:off x="1676291" y="3651250"/>
            <a:ext cx="21029831" cy="7373801"/>
          </a:xfrm>
        </p:spPr>
        <p:txBody>
          <a:bodyPr>
            <a:normAutofit/>
          </a:bodyPr>
          <a:lstStyle/>
          <a:p>
            <a:pPr marL="1143000" indent="-1143000">
              <a:buAutoNum type="arabicPeriod"/>
            </a:pPr>
            <a:r>
              <a:rPr lang="en-CA" sz="6400" b="1" dirty="0"/>
              <a:t>MEASURE</a:t>
            </a:r>
            <a:r>
              <a:rPr lang="en-CA" sz="6400" dirty="0"/>
              <a:t> the diameter of the hole</a:t>
            </a:r>
          </a:p>
          <a:p>
            <a:pPr marL="1143000" indent="-1143000">
              <a:buAutoNum type="arabicPeriod"/>
            </a:pPr>
            <a:r>
              <a:rPr lang="en-CA" sz="6400" dirty="0"/>
              <a:t>Grab a drill</a:t>
            </a:r>
          </a:p>
          <a:p>
            <a:pPr marL="1143000" indent="-1143000">
              <a:buAutoNum type="arabicPeriod"/>
            </a:pPr>
            <a:r>
              <a:rPr lang="en-CA" sz="6400" dirty="0"/>
              <a:t>Drill the hole</a:t>
            </a:r>
          </a:p>
        </p:txBody>
      </p:sp>
    </p:spTree>
    <p:extLst>
      <p:ext uri="{BB962C8B-B14F-4D97-AF65-F5344CB8AC3E}">
        <p14:creationId xmlns:p14="http://schemas.microsoft.com/office/powerpoint/2010/main" val="60559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A70A9-6471-6F6A-C5E0-2453164B2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B0008-2463-915A-897A-396D58FED99F}"/>
              </a:ext>
            </a:extLst>
          </p:cNvPr>
          <p:cNvSpPr>
            <a:spLocks noGrp="1"/>
          </p:cNvSpPr>
          <p:nvPr>
            <p:ph type="title"/>
          </p:nvPr>
        </p:nvSpPr>
        <p:spPr/>
        <p:txBody>
          <a:bodyPr>
            <a:normAutofit/>
          </a:bodyPr>
          <a:lstStyle/>
          <a:p>
            <a:r>
              <a:rPr lang="en-CA" sz="9600" dirty="0"/>
              <a:t>SCREW Module – Part 1</a:t>
            </a:r>
          </a:p>
        </p:txBody>
      </p:sp>
      <p:sp>
        <p:nvSpPr>
          <p:cNvPr id="3" name="Content Placeholder 2">
            <a:extLst>
              <a:ext uri="{FF2B5EF4-FFF2-40B4-BE49-F238E27FC236}">
                <a16:creationId xmlns:a16="http://schemas.microsoft.com/office/drawing/2014/main" id="{63CFECFC-C9B7-6306-C979-7548EBEF410E}"/>
              </a:ext>
            </a:extLst>
          </p:cNvPr>
          <p:cNvSpPr>
            <a:spLocks noGrp="1"/>
          </p:cNvSpPr>
          <p:nvPr>
            <p:ph idx="1"/>
          </p:nvPr>
        </p:nvSpPr>
        <p:spPr>
          <a:xfrm>
            <a:off x="1676291" y="3651250"/>
            <a:ext cx="21029831" cy="7373801"/>
          </a:xfrm>
        </p:spPr>
        <p:txBody>
          <a:bodyPr>
            <a:normAutofit/>
          </a:bodyPr>
          <a:lstStyle/>
          <a:p>
            <a:pPr marL="1143000" indent="-1143000">
              <a:buAutoNum type="arabicPeriod"/>
            </a:pPr>
            <a:r>
              <a:rPr lang="en-CA" sz="6400" dirty="0"/>
              <a:t>Get a ruler</a:t>
            </a:r>
          </a:p>
          <a:p>
            <a:pPr marL="1143000" indent="-1143000">
              <a:buAutoNum type="arabicPeriod"/>
            </a:pPr>
            <a:r>
              <a:rPr lang="en-CA" sz="6400" dirty="0"/>
              <a:t>Take the first board you wish to measure</a:t>
            </a:r>
          </a:p>
          <a:p>
            <a:pPr marL="1143000" indent="-1143000">
              <a:buAutoNum type="arabicPeriod"/>
            </a:pPr>
            <a:r>
              <a:rPr lang="en-CA" sz="6400" dirty="0"/>
              <a:t>Use a pencil to mark the desired diameter of the hole (width of screw)</a:t>
            </a:r>
          </a:p>
          <a:p>
            <a:pPr marL="1143000" indent="-1143000">
              <a:buAutoNum type="arabicPeriod"/>
            </a:pPr>
            <a:r>
              <a:rPr lang="en-CA" sz="6400" dirty="0"/>
              <a:t>Grab drill</a:t>
            </a:r>
          </a:p>
          <a:p>
            <a:pPr marL="1143000" indent="-1143000">
              <a:buAutoNum type="arabicPeriod"/>
            </a:pPr>
            <a:r>
              <a:rPr lang="en-CA" sz="6400" dirty="0"/>
              <a:t>Drill the hole</a:t>
            </a:r>
          </a:p>
        </p:txBody>
      </p:sp>
    </p:spTree>
    <p:extLst>
      <p:ext uri="{BB962C8B-B14F-4D97-AF65-F5344CB8AC3E}">
        <p14:creationId xmlns:p14="http://schemas.microsoft.com/office/powerpoint/2010/main" val="2470428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1D96E-DC28-5B1D-5C2B-0EA853180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8667A-AF49-4416-6F01-0CD19B31D43E}"/>
              </a:ext>
            </a:extLst>
          </p:cNvPr>
          <p:cNvSpPr>
            <a:spLocks noGrp="1"/>
          </p:cNvSpPr>
          <p:nvPr>
            <p:ph type="title"/>
          </p:nvPr>
        </p:nvSpPr>
        <p:spPr/>
        <p:txBody>
          <a:bodyPr>
            <a:normAutofit/>
          </a:bodyPr>
          <a:lstStyle/>
          <a:p>
            <a:r>
              <a:rPr lang="en-CA" sz="9600" dirty="0"/>
              <a:t>SCREW Module – Part 2</a:t>
            </a:r>
          </a:p>
        </p:txBody>
      </p:sp>
      <p:sp>
        <p:nvSpPr>
          <p:cNvPr id="3" name="Content Placeholder 2">
            <a:extLst>
              <a:ext uri="{FF2B5EF4-FFF2-40B4-BE49-F238E27FC236}">
                <a16:creationId xmlns:a16="http://schemas.microsoft.com/office/drawing/2014/main" id="{0CBFB738-9736-C81D-F56A-23731ECEE290}"/>
              </a:ext>
            </a:extLst>
          </p:cNvPr>
          <p:cNvSpPr>
            <a:spLocks noGrp="1"/>
          </p:cNvSpPr>
          <p:nvPr>
            <p:ph idx="1"/>
          </p:nvPr>
        </p:nvSpPr>
        <p:spPr>
          <a:xfrm>
            <a:off x="1676291" y="3651250"/>
            <a:ext cx="21029831" cy="7373801"/>
          </a:xfrm>
        </p:spPr>
        <p:txBody>
          <a:bodyPr>
            <a:normAutofit/>
          </a:bodyPr>
          <a:lstStyle/>
          <a:p>
            <a:pPr marL="0" indent="0">
              <a:buNone/>
            </a:pPr>
            <a:r>
              <a:rPr lang="en-CA" sz="6400" dirty="0"/>
              <a:t>6.  Take the second board you wish to measure</a:t>
            </a:r>
          </a:p>
          <a:p>
            <a:pPr marL="0" indent="0">
              <a:buNone/>
            </a:pPr>
            <a:r>
              <a:rPr lang="en-CA" sz="6400" dirty="0"/>
              <a:t>7.  Use a pencil to mark the desired diameter of the hole          (width of screw)</a:t>
            </a:r>
          </a:p>
          <a:p>
            <a:pPr marL="0" indent="0">
              <a:buNone/>
            </a:pPr>
            <a:r>
              <a:rPr lang="en-CA" sz="6400" dirty="0"/>
              <a:t>8.  Grab drill</a:t>
            </a:r>
          </a:p>
          <a:p>
            <a:pPr marL="0" indent="0">
              <a:buNone/>
            </a:pPr>
            <a:r>
              <a:rPr lang="en-CA" sz="6400" dirty="0"/>
              <a:t>9.  Drill the hole</a:t>
            </a:r>
          </a:p>
        </p:txBody>
      </p:sp>
    </p:spTree>
    <p:extLst>
      <p:ext uri="{BB962C8B-B14F-4D97-AF65-F5344CB8AC3E}">
        <p14:creationId xmlns:p14="http://schemas.microsoft.com/office/powerpoint/2010/main" val="1415231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89351-DB73-AD28-C652-F440C0A73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D7B34-C0CD-F721-E03B-B658F42EAD09}"/>
              </a:ext>
            </a:extLst>
          </p:cNvPr>
          <p:cNvSpPr>
            <a:spLocks noGrp="1"/>
          </p:cNvSpPr>
          <p:nvPr>
            <p:ph type="title"/>
          </p:nvPr>
        </p:nvSpPr>
        <p:spPr/>
        <p:txBody>
          <a:bodyPr>
            <a:normAutofit/>
          </a:bodyPr>
          <a:lstStyle/>
          <a:p>
            <a:r>
              <a:rPr lang="en-CA" sz="9600" dirty="0"/>
              <a:t>SCREW Module – Part 3</a:t>
            </a:r>
          </a:p>
        </p:txBody>
      </p:sp>
      <p:sp>
        <p:nvSpPr>
          <p:cNvPr id="3" name="Content Placeholder 2">
            <a:extLst>
              <a:ext uri="{FF2B5EF4-FFF2-40B4-BE49-F238E27FC236}">
                <a16:creationId xmlns:a16="http://schemas.microsoft.com/office/drawing/2014/main" id="{B7525985-551A-E5AC-56D2-3A387B961DFC}"/>
              </a:ext>
            </a:extLst>
          </p:cNvPr>
          <p:cNvSpPr>
            <a:spLocks noGrp="1"/>
          </p:cNvSpPr>
          <p:nvPr>
            <p:ph idx="1"/>
          </p:nvPr>
        </p:nvSpPr>
        <p:spPr>
          <a:xfrm>
            <a:off x="1676291" y="3651250"/>
            <a:ext cx="21029831" cy="7373801"/>
          </a:xfrm>
        </p:spPr>
        <p:txBody>
          <a:bodyPr>
            <a:normAutofit/>
          </a:bodyPr>
          <a:lstStyle/>
          <a:p>
            <a:pPr marL="0" indent="0">
              <a:buNone/>
            </a:pPr>
            <a:r>
              <a:rPr lang="en-CA" sz="6400" dirty="0"/>
              <a:t>10.  Align the two boards together along the drilled holes</a:t>
            </a:r>
          </a:p>
          <a:p>
            <a:pPr marL="1143000" indent="-1143000">
              <a:buAutoNum type="arabicPeriod" startAt="11"/>
            </a:pPr>
            <a:r>
              <a:rPr lang="en-CA" sz="6400" dirty="0"/>
              <a:t>  Grab a screwdriver</a:t>
            </a:r>
          </a:p>
          <a:p>
            <a:pPr marL="1143000" indent="-1143000">
              <a:buAutoNum type="arabicPeriod" startAt="11"/>
            </a:pPr>
            <a:r>
              <a:rPr lang="en-CA" sz="6400" dirty="0"/>
              <a:t>  Screw the required screws into the wood to attach   the boards</a:t>
            </a:r>
          </a:p>
        </p:txBody>
      </p:sp>
    </p:spTree>
    <p:extLst>
      <p:ext uri="{BB962C8B-B14F-4D97-AF65-F5344CB8AC3E}">
        <p14:creationId xmlns:p14="http://schemas.microsoft.com/office/powerpoint/2010/main" val="415453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C2086-36CB-B36C-C8AE-ABA2A0B93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4F6B6-DA31-EF8E-15C5-76AC8814815B}"/>
              </a:ext>
            </a:extLst>
          </p:cNvPr>
          <p:cNvSpPr>
            <a:spLocks noGrp="1"/>
          </p:cNvSpPr>
          <p:nvPr>
            <p:ph type="title"/>
          </p:nvPr>
        </p:nvSpPr>
        <p:spPr/>
        <p:txBody>
          <a:bodyPr>
            <a:normAutofit/>
          </a:bodyPr>
          <a:lstStyle/>
          <a:p>
            <a:r>
              <a:rPr lang="en-CA" sz="9600" dirty="0"/>
              <a:t>SCREW Module</a:t>
            </a:r>
          </a:p>
        </p:txBody>
      </p:sp>
      <p:sp>
        <p:nvSpPr>
          <p:cNvPr id="3" name="Content Placeholder 2">
            <a:extLst>
              <a:ext uri="{FF2B5EF4-FFF2-40B4-BE49-F238E27FC236}">
                <a16:creationId xmlns:a16="http://schemas.microsoft.com/office/drawing/2014/main" id="{00A56AF1-B5F1-BB59-F757-518BA06ACF9E}"/>
              </a:ext>
            </a:extLst>
          </p:cNvPr>
          <p:cNvSpPr>
            <a:spLocks noGrp="1"/>
          </p:cNvSpPr>
          <p:nvPr>
            <p:ph idx="1"/>
          </p:nvPr>
        </p:nvSpPr>
        <p:spPr>
          <a:xfrm>
            <a:off x="1676291" y="3651250"/>
            <a:ext cx="21029831" cy="7373801"/>
          </a:xfrm>
        </p:spPr>
        <p:txBody>
          <a:bodyPr>
            <a:normAutofit/>
          </a:bodyPr>
          <a:lstStyle/>
          <a:p>
            <a:r>
              <a:rPr lang="en-CA" sz="6400" dirty="0"/>
              <a:t>Reusable?</a:t>
            </a:r>
          </a:p>
          <a:p>
            <a:r>
              <a:rPr lang="en-CA" sz="6400" dirty="0"/>
              <a:t>Independent?</a:t>
            </a:r>
          </a:p>
          <a:p>
            <a:r>
              <a:rPr lang="en-CA" sz="6400" dirty="0"/>
              <a:t>Specific purpose?</a:t>
            </a:r>
          </a:p>
          <a:p>
            <a:r>
              <a:rPr lang="en-CA" sz="6400" dirty="0"/>
              <a:t>Separately testable?</a:t>
            </a:r>
          </a:p>
          <a:p>
            <a:r>
              <a:rPr lang="en-CA" sz="6400" dirty="0"/>
              <a:t>Separately updated?</a:t>
            </a:r>
          </a:p>
          <a:p>
            <a:endParaRPr lang="en-CA" sz="6400" dirty="0"/>
          </a:p>
        </p:txBody>
      </p:sp>
    </p:spTree>
    <p:extLst>
      <p:ext uri="{BB962C8B-B14F-4D97-AF65-F5344CB8AC3E}">
        <p14:creationId xmlns:p14="http://schemas.microsoft.com/office/powerpoint/2010/main" val="1655438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E203-FEBD-E459-2F66-D353FAF7A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9E221-DA43-2B42-6849-8B2DACC9C6FA}"/>
              </a:ext>
            </a:extLst>
          </p:cNvPr>
          <p:cNvSpPr>
            <a:spLocks noGrp="1"/>
          </p:cNvSpPr>
          <p:nvPr>
            <p:ph type="title"/>
          </p:nvPr>
        </p:nvSpPr>
        <p:spPr/>
        <p:txBody>
          <a:bodyPr>
            <a:normAutofit/>
          </a:bodyPr>
          <a:lstStyle/>
          <a:p>
            <a:r>
              <a:rPr lang="en-CA" sz="9600" dirty="0"/>
              <a:t>SCREW Module</a:t>
            </a:r>
          </a:p>
        </p:txBody>
      </p:sp>
      <p:sp>
        <p:nvSpPr>
          <p:cNvPr id="3" name="Content Placeholder 2">
            <a:extLst>
              <a:ext uri="{FF2B5EF4-FFF2-40B4-BE49-F238E27FC236}">
                <a16:creationId xmlns:a16="http://schemas.microsoft.com/office/drawing/2014/main" id="{BAACA5A0-EBAA-F561-C27B-AFE2D9CCEBBE}"/>
              </a:ext>
            </a:extLst>
          </p:cNvPr>
          <p:cNvSpPr>
            <a:spLocks noGrp="1"/>
          </p:cNvSpPr>
          <p:nvPr>
            <p:ph idx="1"/>
          </p:nvPr>
        </p:nvSpPr>
        <p:spPr>
          <a:xfrm>
            <a:off x="1676291" y="3651250"/>
            <a:ext cx="21029831" cy="7373801"/>
          </a:xfrm>
        </p:spPr>
        <p:txBody>
          <a:bodyPr>
            <a:normAutofit/>
          </a:bodyPr>
          <a:lstStyle/>
          <a:p>
            <a:pPr marL="1143000" indent="-1143000">
              <a:buAutoNum type="arabicPeriod"/>
            </a:pPr>
            <a:r>
              <a:rPr lang="en-CA" sz="6400" b="1" dirty="0"/>
              <a:t>DRILL</a:t>
            </a:r>
            <a:r>
              <a:rPr lang="en-CA" sz="6400" dirty="0"/>
              <a:t> a hole the width of the screw into the first board</a:t>
            </a:r>
          </a:p>
          <a:p>
            <a:pPr marL="1143000" indent="-1143000">
              <a:buAutoNum type="arabicPeriod"/>
            </a:pPr>
            <a:r>
              <a:rPr lang="en-CA" sz="6400" b="1" dirty="0"/>
              <a:t>DRILL </a:t>
            </a:r>
            <a:r>
              <a:rPr lang="en-CA" sz="6400" dirty="0"/>
              <a:t>a hole the width of the screw into the second board</a:t>
            </a:r>
          </a:p>
          <a:p>
            <a:pPr marL="1143000" indent="-1143000">
              <a:buAutoNum type="arabicPeriod"/>
            </a:pPr>
            <a:r>
              <a:rPr lang="en-CA" sz="6400" dirty="0"/>
              <a:t>Align the two boards together along the holes</a:t>
            </a:r>
          </a:p>
          <a:p>
            <a:pPr marL="1143000" indent="-1143000">
              <a:buAutoNum type="arabicPeriod"/>
            </a:pPr>
            <a:r>
              <a:rPr lang="en-CA" sz="6400" dirty="0"/>
              <a:t>Grab a screwdriver</a:t>
            </a:r>
          </a:p>
          <a:p>
            <a:pPr marL="1143000" indent="-1143000">
              <a:buAutoNum type="arabicPeriod"/>
            </a:pPr>
            <a:r>
              <a:rPr lang="en-CA" sz="6400" dirty="0"/>
              <a:t>Screw the required screw into the wood</a:t>
            </a:r>
          </a:p>
        </p:txBody>
      </p:sp>
    </p:spTree>
    <p:extLst>
      <p:ext uri="{BB962C8B-B14F-4D97-AF65-F5344CB8AC3E}">
        <p14:creationId xmlns:p14="http://schemas.microsoft.com/office/powerpoint/2010/main" val="673104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CABA6-B7F7-8A3A-8AD8-74A3201BF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C6378-99B3-80A4-EBED-62EB9AF6FA1D}"/>
              </a:ext>
            </a:extLst>
          </p:cNvPr>
          <p:cNvSpPr>
            <a:spLocks noGrp="1"/>
          </p:cNvSpPr>
          <p:nvPr>
            <p:ph type="title"/>
          </p:nvPr>
        </p:nvSpPr>
        <p:spPr/>
        <p:txBody>
          <a:bodyPr>
            <a:normAutofit/>
          </a:bodyPr>
          <a:lstStyle/>
          <a:p>
            <a:r>
              <a:rPr lang="en-CA" sz="9600" dirty="0"/>
              <a:t>Build the Birdhouse</a:t>
            </a:r>
          </a:p>
        </p:txBody>
      </p:sp>
      <p:sp>
        <p:nvSpPr>
          <p:cNvPr id="3" name="Content Placeholder 2">
            <a:extLst>
              <a:ext uri="{FF2B5EF4-FFF2-40B4-BE49-F238E27FC236}">
                <a16:creationId xmlns:a16="http://schemas.microsoft.com/office/drawing/2014/main" id="{6888BF36-6DC6-F8DB-125C-86D471D91574}"/>
              </a:ext>
            </a:extLst>
          </p:cNvPr>
          <p:cNvSpPr>
            <a:spLocks noGrp="1"/>
          </p:cNvSpPr>
          <p:nvPr>
            <p:ph idx="1"/>
          </p:nvPr>
        </p:nvSpPr>
        <p:spPr>
          <a:xfrm>
            <a:off x="1676291" y="3381377"/>
            <a:ext cx="21029831" cy="9604372"/>
          </a:xfrm>
        </p:spPr>
        <p:txBody>
          <a:bodyPr>
            <a:noAutofit/>
          </a:bodyPr>
          <a:lstStyle/>
          <a:p>
            <a:pPr marL="1143000" indent="-1143000">
              <a:buAutoNum type="arabicPeriod"/>
            </a:pPr>
            <a:r>
              <a:rPr lang="en-CA" sz="6000" b="1" dirty="0"/>
              <a:t>CUT</a:t>
            </a:r>
            <a:r>
              <a:rPr lang="en-CA" sz="6000" dirty="0"/>
              <a:t> two boards of sizes 30cm x 20cm (boards A and B)</a:t>
            </a:r>
          </a:p>
          <a:p>
            <a:pPr marL="1143000" indent="-1143000">
              <a:buAutoNum type="arabicPeriod"/>
            </a:pPr>
            <a:r>
              <a:rPr lang="en-CA" sz="6000" b="1" dirty="0"/>
              <a:t>CUT</a:t>
            </a:r>
            <a:r>
              <a:rPr lang="en-CA" sz="6000" dirty="0"/>
              <a:t> two boards of sizes 30cm x 15cm (boards C and D)</a:t>
            </a:r>
          </a:p>
          <a:p>
            <a:pPr marL="1143000" indent="-1143000">
              <a:buFont typeface="Arial" panose="020B0604020202020204" pitchFamily="34" charset="0"/>
              <a:buAutoNum type="arabicPeriod"/>
            </a:pPr>
            <a:r>
              <a:rPr lang="en-US" sz="6000" b="1" dirty="0"/>
              <a:t>CUT </a:t>
            </a:r>
            <a:r>
              <a:rPr lang="en-US" sz="6000" dirty="0"/>
              <a:t>2 boards of sizes 20cm x 15 cm (boards E and F)</a:t>
            </a:r>
            <a:endParaRPr lang="en-CA" sz="6000" dirty="0"/>
          </a:p>
          <a:p>
            <a:pPr marL="1143000" indent="-1143000">
              <a:buAutoNum type="arabicPeriod"/>
            </a:pPr>
            <a:r>
              <a:rPr lang="en-CA" sz="6000" b="1" dirty="0"/>
              <a:t>DRILL</a:t>
            </a:r>
            <a:r>
              <a:rPr lang="en-CA" sz="6000" dirty="0"/>
              <a:t> a hole with a diameter of 3cm in board C</a:t>
            </a:r>
          </a:p>
          <a:p>
            <a:pPr marL="1143000" indent="-1143000">
              <a:buFont typeface="Arial" panose="020B0604020202020204" pitchFamily="34" charset="0"/>
              <a:buAutoNum type="arabicPeriod"/>
            </a:pPr>
            <a:r>
              <a:rPr lang="en-CA" sz="6000" b="1" dirty="0"/>
              <a:t>DRILL</a:t>
            </a:r>
            <a:r>
              <a:rPr lang="en-CA" sz="6000" dirty="0"/>
              <a:t> a hole with a diameter of 3cm in board D</a:t>
            </a:r>
            <a:endParaRPr lang="en-CA" sz="6000" b="1" dirty="0"/>
          </a:p>
          <a:p>
            <a:pPr marL="1143000" indent="-1143000">
              <a:buAutoNum type="arabicPeriod"/>
            </a:pPr>
            <a:r>
              <a:rPr lang="en-CA" sz="6000" b="1" dirty="0"/>
              <a:t>SCREW</a:t>
            </a:r>
            <a:r>
              <a:rPr lang="en-CA" sz="6000" dirty="0"/>
              <a:t> board A to boards C and D</a:t>
            </a:r>
          </a:p>
          <a:p>
            <a:pPr marL="1143000" indent="-1143000">
              <a:buAutoNum type="arabicPeriod"/>
            </a:pPr>
            <a:r>
              <a:rPr lang="en-CA" sz="6000" b="1" dirty="0"/>
              <a:t>SCREW </a:t>
            </a:r>
            <a:r>
              <a:rPr lang="en-CA" sz="6000" dirty="0"/>
              <a:t>board B to boards C and D on the opposite side</a:t>
            </a:r>
          </a:p>
          <a:p>
            <a:pPr marL="1143000" indent="-1143000">
              <a:buFont typeface="Arial" panose="020B0604020202020204" pitchFamily="34" charset="0"/>
              <a:buAutoNum type="arabicPeriod"/>
            </a:pPr>
            <a:r>
              <a:rPr lang="en-US" sz="6000" b="1" dirty="0"/>
              <a:t>SCREW </a:t>
            </a:r>
            <a:r>
              <a:rPr lang="en-US" sz="6000" dirty="0"/>
              <a:t>boards E and F to the top and bottom of the birdhouse</a:t>
            </a:r>
            <a:endParaRPr lang="en-CA" sz="6000" dirty="0"/>
          </a:p>
          <a:p>
            <a:pPr marL="1143000" indent="-1143000">
              <a:buAutoNum type="arabicPeriod"/>
            </a:pPr>
            <a:endParaRPr lang="en-CA" sz="4400" b="1" dirty="0"/>
          </a:p>
        </p:txBody>
      </p:sp>
    </p:spTree>
    <p:extLst>
      <p:ext uri="{BB962C8B-B14F-4D97-AF65-F5344CB8AC3E}">
        <p14:creationId xmlns:p14="http://schemas.microsoft.com/office/powerpoint/2010/main" val="4089712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4E78-B6F5-751D-46CB-5444E3D4F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64335-E3B2-7D14-E251-67ECD29E1A29}"/>
              </a:ext>
            </a:extLst>
          </p:cNvPr>
          <p:cNvSpPr>
            <a:spLocks noGrp="1"/>
          </p:cNvSpPr>
          <p:nvPr>
            <p:ph type="title"/>
          </p:nvPr>
        </p:nvSpPr>
        <p:spPr/>
        <p:txBody>
          <a:bodyPr>
            <a:normAutofit/>
          </a:bodyPr>
          <a:lstStyle/>
          <a:p>
            <a:r>
              <a:rPr lang="en-CA" sz="9600" dirty="0"/>
              <a:t>Lesson Summary</a:t>
            </a:r>
          </a:p>
        </p:txBody>
      </p:sp>
      <p:sp>
        <p:nvSpPr>
          <p:cNvPr id="3" name="Content Placeholder 2">
            <a:extLst>
              <a:ext uri="{FF2B5EF4-FFF2-40B4-BE49-F238E27FC236}">
                <a16:creationId xmlns:a16="http://schemas.microsoft.com/office/drawing/2014/main" id="{5EB48E42-1E6A-0EC6-0553-E9AE3D35D37C}"/>
              </a:ext>
            </a:extLst>
          </p:cNvPr>
          <p:cNvSpPr>
            <a:spLocks noGrp="1"/>
          </p:cNvSpPr>
          <p:nvPr>
            <p:ph idx="1"/>
          </p:nvPr>
        </p:nvSpPr>
        <p:spPr>
          <a:xfrm>
            <a:off x="1452771" y="3651250"/>
            <a:ext cx="21029831" cy="7373801"/>
          </a:xfrm>
        </p:spPr>
        <p:txBody>
          <a:bodyPr>
            <a:normAutofit/>
          </a:bodyPr>
          <a:lstStyle/>
          <a:p>
            <a:r>
              <a:rPr lang="en-CA" sz="7200" dirty="0"/>
              <a:t>Introduced Modular Thinking</a:t>
            </a:r>
          </a:p>
          <a:p>
            <a:r>
              <a:rPr lang="en-CA" sz="7200" dirty="0"/>
              <a:t>Explained benefits of modularization</a:t>
            </a:r>
          </a:p>
          <a:p>
            <a:r>
              <a:rPr lang="en-CA" sz="7200" dirty="0"/>
              <a:t>Modularized the steps of building </a:t>
            </a:r>
            <a:r>
              <a:rPr lang="en-CA" sz="7200"/>
              <a:t>a birdhouse</a:t>
            </a:r>
            <a:endParaRPr lang="en-CA" sz="7200" dirty="0"/>
          </a:p>
        </p:txBody>
      </p:sp>
    </p:spTree>
    <p:extLst>
      <p:ext uri="{BB962C8B-B14F-4D97-AF65-F5344CB8AC3E}">
        <p14:creationId xmlns:p14="http://schemas.microsoft.com/office/powerpoint/2010/main" val="233742890"/>
      </p:ext>
    </p:extLst>
  </p:cSld>
  <p:clrMapOvr>
    <a:masterClrMapping/>
  </p:clrMapOvr>
</p:sld>
</file>

<file path=ppt/theme/theme1.xml><?xml version="1.0" encoding="utf-8"?>
<a:theme xmlns:a="http://schemas.openxmlformats.org/drawingml/2006/main" name="Office Theme">
  <a:themeElements>
    <a:clrScheme name="NAIT 2020">
      <a:dk1>
        <a:sysClr val="windowText" lastClr="000000"/>
      </a:dk1>
      <a:lt1>
        <a:sysClr val="window" lastClr="FFFFFF"/>
      </a:lt1>
      <a:dk2>
        <a:srgbClr val="63666A"/>
      </a:dk2>
      <a:lt2>
        <a:srgbClr val="F2F2F2"/>
      </a:lt2>
      <a:accent1>
        <a:srgbClr val="002D74"/>
      </a:accent1>
      <a:accent2>
        <a:srgbClr val="00A0DF"/>
      </a:accent2>
      <a:accent3>
        <a:srgbClr val="005CB9"/>
      </a:accent3>
      <a:accent4>
        <a:srgbClr val="2AD2C9"/>
      </a:accent4>
      <a:accent5>
        <a:srgbClr val="97D700"/>
      </a:accent5>
      <a:accent6>
        <a:srgbClr val="F2A900"/>
      </a:accent6>
      <a:hlink>
        <a:srgbClr val="00AEFF"/>
      </a:hlink>
      <a:folHlink>
        <a:srgbClr val="981D9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PPT TEMPLATE" id="{48C832B7-36DA-FF42-A033-DC69DF6E754B}" vid="{12E7E523-AC5B-2043-BD48-32C2D6EE82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21d29a7103b4682935c0630413e6f7b xmlns="a1931c98-6bbb-40b1-967f-8cf7447a3553">
      <Terms xmlns="http://schemas.microsoft.com/office/infopath/2007/PartnerControls">
        <TermInfo xmlns="http://schemas.microsoft.com/office/infopath/2007/PartnerControls">
          <TermName xmlns="http://schemas.microsoft.com/office/infopath/2007/PartnerControls">Brand</TermName>
          <TermId xmlns="http://schemas.microsoft.com/office/infopath/2007/PartnerControls">943f07b5-0abf-4eba-9a92-bb911ec4797c</TermId>
        </TermInfo>
      </Terms>
    </o21d29a7103b4682935c0630413e6f7b>
    <d33d8e452192410897555420ed4061b4 xmlns="a1931c98-6bbb-40b1-967f-8cf7447a3553">
      <Terms xmlns="http://schemas.microsoft.com/office/infopath/2007/PartnerControls"/>
    </d33d8e452192410897555420ed4061b4>
    <_dlc_DocId xmlns="a1931c98-6bbb-40b1-967f-8cf7447a3553">4NUSZQ57DJN7-208515216-20168</_dlc_DocId>
    <TaxCatchAll xmlns="52bb52fc-fb4a-47ec-96af-1ca16eda3341">
      <Value>197</Value>
    </TaxCatchAll>
    <lcf2e7135e8e4d83bebbad48a9a2aeb7 xmlns="a1931c98-6bbb-40b1-967f-8cf7447a3553">
      <Terms xmlns="http://schemas.microsoft.com/office/infopath/2007/PartnerControls"/>
    </lcf2e7135e8e4d83bebbad48a9a2aeb7>
    <ne41efdca82d475388752b2c5f2b8261 xmlns="a1931c98-6bbb-40b1-967f-8cf7447a3553">
      <Terms xmlns="http://schemas.microsoft.com/office/infopath/2007/PartnerControls"/>
    </ne41efdca82d475388752b2c5f2b8261>
    <ofc6ecffa18e4c49a0b3f631c800d01e xmlns="a1931c98-6bbb-40b1-967f-8cf7447a3553">
      <Terms xmlns="http://schemas.microsoft.com/office/infopath/2007/PartnerControls"/>
    </ofc6ecffa18e4c49a0b3f631c800d01e>
    <Public xmlns="82b3bded-9174-49ad-922b-f495aa64e0c3">true</Public>
    <l9eb48deb3b346a6907c77c095a5e1d4 xmlns="a1931c98-6bbb-40b1-967f-8cf7447a3553">
      <Terms xmlns="http://schemas.microsoft.com/office/infopath/2007/PartnerControls"/>
    </l9eb48deb3b346a6907c77c095a5e1d4>
    <_dlc_DocIdUrl xmlns="a1931c98-6bbb-40b1-967f-8cf7447a3553">
      <Url>https://naitca.sharepoint.com/sites/pd/_layouts/15/DocIdRedir.aspx?ID=4NUSZQ57DJN7-208515216-20168</Url>
      <Description>4NUSZQ57DJN7-208515216-20168</Description>
    </_dlc_DocIdUrl>
    <nphl xmlns="82b3bded-9174-49ad-922b-f495aa64e0c3" xsi:nil="true"/>
    <Owner_x0020_-_x0020_Person xmlns="a1931c98-6bbb-40b1-967f-8cf7447a3553">
      <UserInfo>
        <DisplayName>Derek Lue</DisplayName>
        <AccountId>51</AccountId>
        <AccountType/>
      </UserInfo>
    </Owner_x0020_-_x0020_Person>
    <KpiDescription xmlns="http://schemas.microsoft.com/sharepoint/v3"/>
    <Next_x0020_Scheduled_x0020_Review_x0020_Date xmlns="a1931c98-6bbb-40b1-967f-8cf7447a3553"/>
    <Notes1 xmlns="a1931c98-6bbb-40b1-967f-8cf7447a3553" xsi:nil="true"/>
    <Publication_x0020_Date xmlns="a1931c98-6bbb-40b1-967f-8cf7447a3553">2020-02-18T07:00:00+00:00</Publication_x0020_Date>
    <o6up xmlns="82b3bded-9174-49ad-922b-f495aa64e0c3" xsi:nil="true"/>
    <Reviewed_x0020_Date xmlns="a1931c98-6bbb-40b1-967f-8cf7447a3553"/>
  </documentManagement>
</p:properties>
</file>

<file path=customXml/item4.xml><?xml version="1.0" encoding="utf-8"?>
<ct:contentTypeSchema xmlns:ct="http://schemas.microsoft.com/office/2006/metadata/contentType" xmlns:ma="http://schemas.microsoft.com/office/2006/metadata/properties/metaAttributes" ct:_="" ma:_="" ma:contentTypeName="Published Document" ma:contentTypeID="0x010100C1BA51318E401F48B5D2093CBA079C8800EE7A27C51231A241A789809547D65198" ma:contentTypeVersion="59" ma:contentTypeDescription="" ma:contentTypeScope="" ma:versionID="31cf26cb3dfcb34d4e33ae176ffac8a7">
  <xsd:schema xmlns:xsd="http://www.w3.org/2001/XMLSchema" xmlns:xs="http://www.w3.org/2001/XMLSchema" xmlns:p="http://schemas.microsoft.com/office/2006/metadata/properties" xmlns:ns1="http://schemas.microsoft.com/sharepoint/v3" xmlns:ns2="a1931c98-6bbb-40b1-967f-8cf7447a3553" xmlns:ns4="52bb52fc-fb4a-47ec-96af-1ca16eda3341" xmlns:ns5="82b3bded-9174-49ad-922b-f495aa64e0c3" targetNamespace="http://schemas.microsoft.com/office/2006/metadata/properties" ma:root="true" ma:fieldsID="b8d29b49f22dd0e82206e93f84c80e94" ns1:_="" ns2:_="" ns4:_="" ns5:_="">
    <xsd:import namespace="http://schemas.microsoft.com/sharepoint/v3"/>
    <xsd:import namespace="a1931c98-6bbb-40b1-967f-8cf7447a3553"/>
    <xsd:import namespace="52bb52fc-fb4a-47ec-96af-1ca16eda3341"/>
    <xsd:import namespace="82b3bded-9174-49ad-922b-f495aa64e0c3"/>
    <xsd:element name="properties">
      <xsd:complexType>
        <xsd:sequence>
          <xsd:element name="documentManagement">
            <xsd:complexType>
              <xsd:all>
                <xsd:element ref="ns1:KpiDescription"/>
                <xsd:element ref="ns2:Owner_x0020_-_x0020_Person"/>
                <xsd:element ref="ns2:Publication_x0020_Date"/>
                <xsd:element ref="ns2:Reviewed_x0020_Date"/>
                <xsd:element ref="ns2:Next_x0020_Scheduled_x0020_Review_x0020_Date"/>
                <xsd:element ref="ns2:Notes1" minOccurs="0"/>
                <xsd:element ref="ns4:TaxCatchAllLabel" minOccurs="0"/>
                <xsd:element ref="ns2:_dlc_DocId" minOccurs="0"/>
                <xsd:element ref="ns2:ofc6ecffa18e4c49a0b3f631c800d01e" minOccurs="0"/>
                <xsd:element ref="ns2:d33d8e452192410897555420ed4061b4" minOccurs="0"/>
                <xsd:element ref="ns2:ne41efdca82d475388752b2c5f2b8261" minOccurs="0"/>
                <xsd:element ref="ns2:o21d29a7103b4682935c0630413e6f7b" minOccurs="0"/>
                <xsd:element ref="ns2:lcf2e7135e8e4d83bebbad48a9a2aeb7" minOccurs="0"/>
                <xsd:element ref="ns2:l9eb48deb3b346a6907c77c095a5e1d4" minOccurs="0"/>
                <xsd:element ref="ns2:_dlc_DocIdPersistId" minOccurs="0"/>
                <xsd:element ref="ns2:_dlc_DocIdUrl" minOccurs="0"/>
                <xsd:element ref="ns4:TaxCatchAll" minOccurs="0"/>
                <xsd:element ref="ns5:Public" minOccurs="0"/>
                <xsd:element ref="ns2:LastSharedByUser" minOccurs="0"/>
                <xsd:element ref="ns2:LastSharedByTime" minOccurs="0"/>
                <xsd:element ref="ns5:MediaServiceMetadata" minOccurs="0"/>
                <xsd:element ref="ns5:MediaServiceFastMetadata" minOccurs="0"/>
                <xsd:element ref="ns5:MediaServiceAutoTags" minOccurs="0"/>
                <xsd:element ref="ns5:MediaServiceDateTaken" minOccurs="0"/>
                <xsd:element ref="ns5:nphl" minOccurs="0"/>
                <xsd:element ref="ns5:o6up" minOccurs="0"/>
                <xsd:element ref="ns5:MediaServiceOCR" minOccurs="0"/>
                <xsd:element ref="ns5:MediaServiceLocation" minOccurs="0"/>
                <xsd:element ref="ns5:MediaServiceGenerationTime" minOccurs="0"/>
                <xsd:element ref="ns5:MediaServiceEventHashCode" minOccurs="0"/>
                <xsd:element ref="ns5:MediaServiceAutoKeyPoints" minOccurs="0"/>
                <xsd:element ref="ns5: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KpiDescription" ma:index="2" ma:displayName="Description" ma:description="The description provides information about the purpose of the goal." ma:internalName="KpiDescription"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931c98-6bbb-40b1-967f-8cf7447a3553" elementFormDefault="qualified">
    <xsd:import namespace="http://schemas.microsoft.com/office/2006/documentManagement/types"/>
    <xsd:import namespace="http://schemas.microsoft.com/office/infopath/2007/PartnerControls"/>
    <xsd:element name="Owner_x0020_-_x0020_Person" ma:index="10" ma:displayName="Owner - Person" ma:list="UserInfo" ma:SharePointGroup="0" ma:internalName="Owner_x0020__x002d__x0020_Person"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Publication_x0020_Date" ma:index="11" ma:displayName="Publication Date" ma:format="DateOnly" ma:internalName="Publication_x0020_Date" ma:readOnly="false">
      <xsd:simpleType>
        <xsd:restriction base="dms:DateTime"/>
      </xsd:simpleType>
    </xsd:element>
    <xsd:element name="Reviewed_x0020_Date" ma:index="12" ma:displayName="Reviewed Date" ma:format="DateOnly" ma:internalName="Reviewed_x0020_Date" ma:readOnly="false">
      <xsd:simpleType>
        <xsd:restriction base="dms:DateTime"/>
      </xsd:simpleType>
    </xsd:element>
    <xsd:element name="Next_x0020_Scheduled_x0020_Review_x0020_Date" ma:index="13" ma:displayName="Next Scheduled Review Date" ma:format="DateOnly" ma:internalName="Next_x0020_Scheduled_x0020_Review_x0020_Date" ma:readOnly="false">
      <xsd:simpleType>
        <xsd:restriction base="dms:DateTime"/>
      </xsd:simpleType>
    </xsd:element>
    <xsd:element name="Notes1" ma:index="14" nillable="true" ma:displayName="Notes" ma:internalName="Notes1">
      <xsd:simpleType>
        <xsd:restriction base="dms:Note">
          <xsd:maxLength value="255"/>
        </xsd:restriction>
      </xsd:simpleType>
    </xsd:element>
    <xsd:element name="_dlc_DocId" ma:index="16" nillable="true" ma:displayName="Document ID Value" ma:description="The value of the document ID assigned to this item." ma:internalName="_dlc_DocId" ma:readOnly="true">
      <xsd:simpleType>
        <xsd:restriction base="dms:Text"/>
      </xsd:simpleType>
    </xsd:element>
    <xsd:element name="ofc6ecffa18e4c49a0b3f631c800d01e" ma:index="17" nillable="true" ma:taxonomy="true" ma:internalName="ofc6ecffa18e4c49a0b3f631c800d01e" ma:taxonomyFieldName="Target_x0020_Audience" ma:displayName="Target Audience" ma:readOnly="false" ma:default="" ma:fieldId="{8fc6ecff-a18e-4c49-a0b3-f631c800d01e}" ma:taxonomyMulti="true" ma:sspId="6ce3a7a1-84a7-46f6-b9ea-52be05fcf1b3" ma:termSetId="a86be483-2d11-4286-ad72-7b1ca66988dc" ma:anchorId="00000000-0000-0000-0000-000000000000" ma:open="false" ma:isKeyword="false">
      <xsd:complexType>
        <xsd:sequence>
          <xsd:element ref="pc:Terms" minOccurs="0" maxOccurs="1"/>
        </xsd:sequence>
      </xsd:complexType>
    </xsd:element>
    <xsd:element name="d33d8e452192410897555420ed4061b4" ma:index="19" ma:taxonomy="true" ma:internalName="d33d8e452192410897555420ed4061b4" ma:taxonomyFieldName="Topic" ma:displayName="Topic" ma:readOnly="false" ma:default="" ma:fieldId="{d33d8e45-2192-4108-9755-5420ed4061b4}" ma:taxonomyMulti="true" ma:sspId="6ce3a7a1-84a7-46f6-b9ea-52be05fcf1b3" ma:termSetId="9e5a3ff2-0072-4ca2-8f4f-c92dedc49af2" ma:anchorId="00000000-0000-0000-0000-000000000000" ma:open="false" ma:isKeyword="false">
      <xsd:complexType>
        <xsd:sequence>
          <xsd:element ref="pc:Terms" minOccurs="0" maxOccurs="1"/>
        </xsd:sequence>
      </xsd:complexType>
    </xsd:element>
    <xsd:element name="ne41efdca82d475388752b2c5f2b8261" ma:index="21" nillable="true" ma:taxonomy="true" ma:internalName="ne41efdca82d475388752b2c5f2b8261" ma:taxonomyFieldName="Program" ma:displayName="Program" ma:readOnly="false" ma:default="" ma:fieldId="{7e41efdc-a82d-4753-8875-2b2c5f2b8261}" ma:sspId="6ce3a7a1-84a7-46f6-b9ea-52be05fcf1b3" ma:termSetId="26788ccb-afe5-46e3-9e3f-72afa5b0d3a9" ma:anchorId="00000000-0000-0000-0000-000000000000" ma:open="false" ma:isKeyword="false">
      <xsd:complexType>
        <xsd:sequence>
          <xsd:element ref="pc:Terms" minOccurs="0" maxOccurs="1"/>
        </xsd:sequence>
      </xsd:complexType>
    </xsd:element>
    <xsd:element name="o21d29a7103b4682935c0630413e6f7b" ma:index="23" ma:taxonomy="true" ma:internalName="o21d29a7103b4682935c0630413e6f7b" ma:taxonomyFieldName="Owner_x0020__x002d__x0020_Department" ma:displayName="Owner - Department" ma:readOnly="false" ma:default="" ma:fieldId="{821d29a7-103b-4682-935c-0630413e6f7b}" ma:sspId="6ce3a7a1-84a7-46f6-b9ea-52be05fcf1b3" ma:termSetId="9d12076b-8eb3-404c-93cb-d5439a18ddeb" ma:anchorId="e4022642-7310-4bc7-acea-34492288603e" ma:open="false" ma:isKeyword="false">
      <xsd:complexType>
        <xsd:sequence>
          <xsd:element ref="pc:Terms" minOccurs="0" maxOccurs="1"/>
        </xsd:sequence>
      </xsd:complexType>
    </xsd:element>
    <xsd:element name="lcf2e7135e8e4d83bebbad48a9a2aeb7" ma:index="24" nillable="true" ma:taxonomy="true" ma:internalName="lcf2e7135e8e4d83bebbad48a9a2aeb7" ma:taxonomyFieldName="PublishedDocument_x002e_Location" ma:displayName="Location" ma:readOnly="false" ma:default="" ma:fieldId="{5cf2e713-5e8e-4d83-bebb-ad48a9a2aeb7}" ma:taxonomyMulti="true" ma:sspId="6ce3a7a1-84a7-46f6-b9ea-52be05fcf1b3" ma:termSetId="eca533c3-a35b-4f08-a3c0-c6828e75883d" ma:anchorId="00000000-0000-0000-0000-000000000000" ma:open="false" ma:isKeyword="false">
      <xsd:complexType>
        <xsd:sequence>
          <xsd:element ref="pc:Terms" minOccurs="0" maxOccurs="1"/>
        </xsd:sequence>
      </xsd:complexType>
    </xsd:element>
    <xsd:element name="l9eb48deb3b346a6907c77c095a5e1d4" ma:index="26" nillable="true" ma:taxonomy="true" ma:internalName="l9eb48deb3b346a6907c77c095a5e1d4" ma:taxonomyFieldName="Building" ma:displayName="Building" ma:readOnly="false" ma:default="" ma:fieldId="{59eb48de-b3b3-46a6-907c-77c095a5e1d4}" ma:taxonomyMulti="true" ma:sspId="6ce3a7a1-84a7-46f6-b9ea-52be05fcf1b3" ma:termSetId="b3897f88-c03a-461f-924c-5555116521aa" ma:anchorId="00000000-0000-0000-0000-000000000000" ma:open="false" ma:isKeyword="false">
      <xsd:complexType>
        <xsd:sequence>
          <xsd:element ref="pc:Terms" minOccurs="0" maxOccurs="1"/>
        </xsd:sequence>
      </xsd:complexType>
    </xsd:element>
    <xsd:element name="_dlc_DocIdPersistId" ma:index="28" nillable="true" ma:displayName="Persist ID" ma:description="Keep ID on add." ma:hidden="true" ma:internalName="_dlc_DocIdPersistId" ma:readOnly="true">
      <xsd:simpleType>
        <xsd:restriction base="dms:Boolean"/>
      </xsd:simpleType>
    </xsd:element>
    <xsd:element name="_dlc_DocIdUrl" ma:index="3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LastSharedByUser" ma:index="33" nillable="true" ma:displayName="Last Shared By User" ma:description="" ma:internalName="LastSharedByUser" ma:readOnly="true">
      <xsd:simpleType>
        <xsd:restriction base="dms:Note">
          <xsd:maxLength value="255"/>
        </xsd:restriction>
      </xsd:simpleType>
    </xsd:element>
    <xsd:element name="LastSharedByTime" ma:index="34"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2bb52fc-fb4a-47ec-96af-1ca16eda3341" elementFormDefault="qualified">
    <xsd:import namespace="http://schemas.microsoft.com/office/2006/documentManagement/types"/>
    <xsd:import namespace="http://schemas.microsoft.com/office/infopath/2007/PartnerControls"/>
    <xsd:element name="TaxCatchAllLabel" ma:index="15" nillable="true" ma:displayName="Taxonomy Catch All Column1" ma:description="" ma:hidden="true" ma:list="{471816bf-0f64-41b8-9201-7477eeda1efa}" ma:internalName="TaxCatchAllLabel" ma:readOnly="true" ma:showField="CatchAllDataLabel" ma:web="a1931c98-6bbb-40b1-967f-8cf7447a3553">
      <xsd:complexType>
        <xsd:complexContent>
          <xsd:extension base="dms:MultiChoiceLookup">
            <xsd:sequence>
              <xsd:element name="Value" type="dms:Lookup" maxOccurs="unbounded" minOccurs="0" nillable="true"/>
            </xsd:sequence>
          </xsd:extension>
        </xsd:complexContent>
      </xsd:complexType>
    </xsd:element>
    <xsd:element name="TaxCatchAll" ma:index="31" nillable="true" ma:displayName="Taxonomy Catch All Column" ma:description="" ma:hidden="true" ma:list="{471816bf-0f64-41b8-9201-7477eeda1efa}" ma:internalName="TaxCatchAll" ma:showField="CatchAllData" ma:web="a1931c98-6bbb-40b1-967f-8cf7447a355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2b3bded-9174-49ad-922b-f495aa64e0c3" elementFormDefault="qualified">
    <xsd:import namespace="http://schemas.microsoft.com/office/2006/documentManagement/types"/>
    <xsd:import namespace="http://schemas.microsoft.com/office/infopath/2007/PartnerControls"/>
    <xsd:element name="Public" ma:index="32" nillable="true" ma:displayName="Public" ma:default="1" ma:format="Dropdown" ma:indexed="true" ma:internalName="Public">
      <xsd:simpleType>
        <xsd:restriction base="dms:Boolean"/>
      </xsd:simpleType>
    </xsd:element>
    <xsd:element name="MediaServiceMetadata" ma:index="35" nillable="true" ma:displayName="MediaServiceMetadata" ma:description="" ma:hidden="true" ma:internalName="MediaServiceMetadata" ma:readOnly="true">
      <xsd:simpleType>
        <xsd:restriction base="dms:Note"/>
      </xsd:simpleType>
    </xsd:element>
    <xsd:element name="MediaServiceFastMetadata" ma:index="36" nillable="true" ma:displayName="MediaServiceFastMetadata" ma:description="" ma:hidden="true" ma:internalName="MediaServiceFastMetadata" ma:readOnly="true">
      <xsd:simpleType>
        <xsd:restriction base="dms:Note"/>
      </xsd:simpleType>
    </xsd:element>
    <xsd:element name="MediaServiceAutoTags" ma:index="37" nillable="true" ma:displayName="MediaServiceAutoTags" ma:description="" ma:internalName="MediaServiceAutoTags" ma:readOnly="true">
      <xsd:simpleType>
        <xsd:restriction base="dms:Text"/>
      </xsd:simpleType>
    </xsd:element>
    <xsd:element name="MediaServiceDateTaken" ma:index="38" nillable="true" ma:displayName="MediaServiceDateTaken" ma:description="" ma:hidden="true" ma:internalName="MediaServiceDateTaken" ma:readOnly="true">
      <xsd:simpleType>
        <xsd:restriction base="dms:Text"/>
      </xsd:simpleType>
    </xsd:element>
    <xsd:element name="nphl" ma:index="39" nillable="true" ma:displayName="Text" ma:internalName="nphl">
      <xsd:simpleType>
        <xsd:restriction base="dms:Text"/>
      </xsd:simpleType>
    </xsd:element>
    <xsd:element name="o6up" ma:index="40" nillable="true" ma:displayName="Text" ma:internalName="o6up">
      <xsd:simpleType>
        <xsd:restriction base="dms:Text"/>
      </xsd:simpleType>
    </xsd:element>
    <xsd:element name="MediaServiceOCR" ma:index="41" nillable="true" ma:displayName="Extracted Text" ma:internalName="MediaServiceOCR" ma:readOnly="true">
      <xsd:simpleType>
        <xsd:restriction base="dms:Note">
          <xsd:maxLength value="255"/>
        </xsd:restriction>
      </xsd:simpleType>
    </xsd:element>
    <xsd:element name="MediaServiceLocation" ma:index="42" nillable="true" ma:displayName="Location" ma:internalName="MediaServiceLocation" ma:readOnly="true">
      <xsd:simpleType>
        <xsd:restriction base="dms:Text"/>
      </xsd:simpleType>
    </xsd:element>
    <xsd:element name="MediaServiceGenerationTime" ma:index="43" nillable="true" ma:displayName="MediaServiceGenerationTime" ma:hidden="true" ma:internalName="MediaServiceGenerationTime" ma:readOnly="true">
      <xsd:simpleType>
        <xsd:restriction base="dms:Text"/>
      </xsd:simpleType>
    </xsd:element>
    <xsd:element name="MediaServiceEventHashCode" ma:index="44" nillable="true" ma:displayName="MediaServiceEventHashCode" ma:hidden="true" ma:internalName="MediaServiceEventHashCode" ma:readOnly="true">
      <xsd:simpleType>
        <xsd:restriction base="dms:Text"/>
      </xsd:simpleType>
    </xsd:element>
    <xsd:element name="MediaServiceAutoKeyPoints" ma:index="45" nillable="true" ma:displayName="MediaServiceAutoKeyPoints" ma:hidden="true" ma:internalName="MediaServiceAutoKeyPoints" ma:readOnly="true">
      <xsd:simpleType>
        <xsd:restriction base="dms:Note"/>
      </xsd:simpleType>
    </xsd:element>
    <xsd:element name="MediaServiceKeyPoints" ma:index="4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8" ma:displayName="Author"/>
        <xsd:element ref="dcterms:created" minOccurs="0" maxOccurs="1"/>
        <xsd:element ref="dc:identifier" minOccurs="0" maxOccurs="1"/>
        <xsd:element name="contentType" minOccurs="0" maxOccurs="1" type="xsd:string" ma:index="29" ma:displayName="Content Type"/>
        <xsd:element ref="dc:title"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666264-2430-4543-BB4A-DBA285AA728A}">
  <ds:schemaRefs>
    <ds:schemaRef ds:uri="http://schemas.microsoft.com/sharepoint/events"/>
  </ds:schemaRefs>
</ds:datastoreItem>
</file>

<file path=customXml/itemProps2.xml><?xml version="1.0" encoding="utf-8"?>
<ds:datastoreItem xmlns:ds="http://schemas.openxmlformats.org/officeDocument/2006/customXml" ds:itemID="{177E4845-7472-4B0C-A0C7-BE9A32CE6DC0}">
  <ds:schemaRefs>
    <ds:schemaRef ds:uri="http://schemas.microsoft.com/sharepoint/v3/contenttype/forms"/>
  </ds:schemaRefs>
</ds:datastoreItem>
</file>

<file path=customXml/itemProps3.xml><?xml version="1.0" encoding="utf-8"?>
<ds:datastoreItem xmlns:ds="http://schemas.openxmlformats.org/officeDocument/2006/customXml" ds:itemID="{2856E63F-A8C0-4586-AFCD-69964B5AAAEB}">
  <ds:schemaRefs>
    <ds:schemaRef ds:uri="http://schemas.microsoft.com/office/2006/documentManagement/types"/>
    <ds:schemaRef ds:uri="http://purl.org/dc/terms/"/>
    <ds:schemaRef ds:uri="http://schemas.microsoft.com/sharepoint/v3"/>
    <ds:schemaRef ds:uri="http://purl.org/dc/dcmitype/"/>
    <ds:schemaRef ds:uri="http://schemas.microsoft.com/office/2006/metadata/properties"/>
    <ds:schemaRef ds:uri="http://purl.org/dc/elements/1.1/"/>
    <ds:schemaRef ds:uri="52bb52fc-fb4a-47ec-96af-1ca16eda3341"/>
    <ds:schemaRef ds:uri="http://schemas.microsoft.com/office/infopath/2007/PartnerControls"/>
    <ds:schemaRef ds:uri="http://www.w3.org/XML/1998/namespace"/>
    <ds:schemaRef ds:uri="http://schemas.openxmlformats.org/package/2006/metadata/core-properties"/>
    <ds:schemaRef ds:uri="82b3bded-9174-49ad-922b-f495aa64e0c3"/>
    <ds:schemaRef ds:uri="a1931c98-6bbb-40b1-967f-8cf7447a3553"/>
  </ds:schemaRefs>
</ds:datastoreItem>
</file>

<file path=customXml/itemProps4.xml><?xml version="1.0" encoding="utf-8"?>
<ds:datastoreItem xmlns:ds="http://schemas.openxmlformats.org/officeDocument/2006/customXml" ds:itemID="{435A2319-86B4-4D22-928A-C0D2B37BDC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1931c98-6bbb-40b1-967f-8cf7447a3553"/>
    <ds:schemaRef ds:uri="52bb52fc-fb4a-47ec-96af-1ca16eda3341"/>
    <ds:schemaRef ds:uri="82b3bded-9174-49ad-922b-f495aa64e0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NAIT-Brand-PPT_TEMPLATE_2020</Template>
  <TotalTime>9632</TotalTime>
  <Words>2745</Words>
  <Application>Microsoft Macintosh PowerPoint</Application>
  <PresentationFormat>Custom</PresentationFormat>
  <Paragraphs>216</Paragraphs>
  <Slides>26</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Arial</vt:lpstr>
      <vt:lpstr>Calibri</vt:lpstr>
      <vt:lpstr>Office Theme</vt:lpstr>
      <vt:lpstr>Introduction to modular thinking</vt:lpstr>
      <vt:lpstr>Lesson Objectives</vt:lpstr>
      <vt:lpstr>Modular thinking</vt:lpstr>
      <vt:lpstr>Modular Thinking</vt:lpstr>
      <vt:lpstr>Modularization</vt:lpstr>
      <vt:lpstr>Decomposition</vt:lpstr>
      <vt:lpstr>Benefits of Modularization</vt:lpstr>
      <vt:lpstr>Module Design</vt:lpstr>
      <vt:lpstr>Build a birdhouse</vt:lpstr>
      <vt:lpstr>Birdhouse Problem Statement</vt:lpstr>
      <vt:lpstr>Birdhouse Requirements</vt:lpstr>
      <vt:lpstr>Birdhouse Processes</vt:lpstr>
      <vt:lpstr>MEASURE Module</vt:lpstr>
      <vt:lpstr>MEASURE Module</vt:lpstr>
      <vt:lpstr>CUT Module</vt:lpstr>
      <vt:lpstr>CUT Module</vt:lpstr>
      <vt:lpstr>DRILL Module</vt:lpstr>
      <vt:lpstr>DRILL Module</vt:lpstr>
      <vt:lpstr>DRILL Module</vt:lpstr>
      <vt:lpstr>SCREW Module – Part 1</vt:lpstr>
      <vt:lpstr>SCREW Module – Part 2</vt:lpstr>
      <vt:lpstr>SCREW Module – Part 3</vt:lpstr>
      <vt:lpstr>SCREW Module</vt:lpstr>
      <vt:lpstr>SCREW Module</vt:lpstr>
      <vt:lpstr>Build the Birdhouse</vt:lpstr>
      <vt:lpstr>Lesson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PTE 200 F2F Lesson</dc:title>
  <dc:creator>Michael Cimolini</dc:creator>
  <cp:lastModifiedBy>Rechel Amores</cp:lastModifiedBy>
  <cp:revision>30</cp:revision>
  <cp:lastPrinted>2019-08-01T00:13:24Z</cp:lastPrinted>
  <dcterms:created xsi:type="dcterms:W3CDTF">2024-08-13T01:55:57Z</dcterms:created>
  <dcterms:modified xsi:type="dcterms:W3CDTF">2026-05-17T21:40:03Z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 Department">
    <vt:lpwstr>197;#Brand|943f07b5-0abf-4eba-9a92-bb911ec4797c</vt:lpwstr>
  </property>
  <property fmtid="{D5CDD505-2E9C-101B-9397-08002B2CF9AE}" pid="3" name="Topic">
    <vt:lpwstr/>
  </property>
  <property fmtid="{D5CDD505-2E9C-101B-9397-08002B2CF9AE}" pid="4" name="Building">
    <vt:lpwstr/>
  </property>
  <property fmtid="{D5CDD505-2E9C-101B-9397-08002B2CF9AE}" pid="5" name="ContentTypeId">
    <vt:lpwstr>0x010100C1BA51318E401F48B5D2093CBA079C8800EE7A27C51231A241A789809547D65198</vt:lpwstr>
  </property>
  <property fmtid="{D5CDD505-2E9C-101B-9397-08002B2CF9AE}" pid="6" name="Target Audience">
    <vt:lpwstr/>
  </property>
  <property fmtid="{D5CDD505-2E9C-101B-9397-08002B2CF9AE}" pid="7" name="_dlc_DocIdItemGuid">
    <vt:lpwstr>a4d56298-c866-45f0-a3db-be918181ebef</vt:lpwstr>
  </property>
  <property fmtid="{D5CDD505-2E9C-101B-9397-08002B2CF9AE}" pid="8" name="PublishedDocument.Location">
    <vt:lpwstr/>
  </property>
  <property fmtid="{D5CDD505-2E9C-101B-9397-08002B2CF9AE}" pid="9" name="Program">
    <vt:lpwstr/>
  </property>
  <property fmtid="{D5CDD505-2E9C-101B-9397-08002B2CF9AE}" pid="10" name="MSIP_Label_10877899-02b0-462c-b2a9-b7d15c4f96fe_Enabled">
    <vt:lpwstr>true</vt:lpwstr>
  </property>
  <property fmtid="{D5CDD505-2E9C-101B-9397-08002B2CF9AE}" pid="11" name="MSIP_Label_10877899-02b0-462c-b2a9-b7d15c4f96fe_SetDate">
    <vt:lpwstr>2025-05-12T14:10:22Z</vt:lpwstr>
  </property>
  <property fmtid="{D5CDD505-2E9C-101B-9397-08002B2CF9AE}" pid="12" name="MSIP_Label_10877899-02b0-462c-b2a9-b7d15c4f96fe_Method">
    <vt:lpwstr>Standard</vt:lpwstr>
  </property>
  <property fmtid="{D5CDD505-2E9C-101B-9397-08002B2CF9AE}" pid="13" name="MSIP_Label_10877899-02b0-462c-b2a9-b7d15c4f96fe_Name">
    <vt:lpwstr>Protected [Protected A]</vt:lpwstr>
  </property>
  <property fmtid="{D5CDD505-2E9C-101B-9397-08002B2CF9AE}" pid="14" name="MSIP_Label_10877899-02b0-462c-b2a9-b7d15c4f96fe_SiteId">
    <vt:lpwstr>5c98fb47-d3b9-4649-9d94-f88cbdd9729c</vt:lpwstr>
  </property>
  <property fmtid="{D5CDD505-2E9C-101B-9397-08002B2CF9AE}" pid="15" name="MSIP_Label_10877899-02b0-462c-b2a9-b7d15c4f96fe_ActionId">
    <vt:lpwstr>f1d2ee8b-bfce-462a-b8b5-66a987edd297</vt:lpwstr>
  </property>
  <property fmtid="{D5CDD505-2E9C-101B-9397-08002B2CF9AE}" pid="16" name="MSIP_Label_10877899-02b0-462c-b2a9-b7d15c4f96fe_ContentBits">
    <vt:lpwstr>0</vt:lpwstr>
  </property>
  <property fmtid="{D5CDD505-2E9C-101B-9397-08002B2CF9AE}" pid="17" name="MSIP_Label_10877899-02b0-462c-b2a9-b7d15c4f96fe_Tag">
    <vt:lpwstr>10, 3, 0, 1</vt:lpwstr>
  </property>
</Properties>
</file>